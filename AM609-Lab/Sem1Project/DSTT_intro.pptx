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56" r:id="rId2"/>
    <p:sldId id="257" r:id="rId3"/>
    <p:sldId id="258" r:id="rId4"/>
    <p:sldId id="262" r:id="rId5"/>
    <p:sldId id="263" r:id="rId6"/>
    <p:sldId id="260" r:id="rId7"/>
    <p:sldId id="259" r:id="rId8"/>
    <p:sldId id="267" r:id="rId9"/>
    <p:sldId id="261" r:id="rId10"/>
    <p:sldId id="266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97E0D-25A1-8782-DC9D-1829B6CDD813}" v="186" dt="2025-11-06T14:42:17.199"/>
    <p1510:client id="{176E6779-93CB-9315-E2BB-A1037E6D6882}" v="78" dt="2025-11-06T14:19:43.554"/>
    <p1510:client id="{5E2BCC2A-D09C-4DC6-978D-8D0AD6101477}" v="261" dt="2025-11-06T12:31:32.378"/>
    <p1510:client id="{810C9D7A-1AED-EE3C-88BB-8A05992FDDCB}" v="167" dt="2025-11-06T16:59:26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0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9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7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58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3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275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6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9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0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1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57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24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3241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53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49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7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86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203251"/>
            <a:ext cx="8385162" cy="18332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+mj-lt"/>
                <a:cs typeface="+mj-lt"/>
              </a:rPr>
              <a:t>Shining light on the Black Box Image classifier for MNIST dataset using Occlusion Sensitivity Maps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36456"/>
            <a:ext cx="8227011" cy="2318974"/>
          </a:xfrm>
        </p:spPr>
        <p:txBody>
          <a:bodyPr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Members</a:t>
            </a:r>
            <a:r>
              <a:rPr lang="en-US" dirty="0">
                <a:ea typeface="+mn-lt"/>
                <a:cs typeface="+mn-lt"/>
              </a:rPr>
              <a:t>'</a:t>
            </a:r>
          </a:p>
          <a:p>
            <a:r>
              <a:rPr lang="en-US" dirty="0"/>
              <a:t>25-27-05 Saurabh Kumar Singh</a:t>
            </a:r>
          </a:p>
          <a:p>
            <a:r>
              <a:rPr lang="en-US" dirty="0"/>
              <a:t>25-27-14 Singh Yash Mane</a:t>
            </a:r>
          </a:p>
          <a:p>
            <a:r>
              <a:rPr lang="en-US" dirty="0"/>
              <a:t>25-14-10 Aditya Manish </a:t>
            </a:r>
            <a:r>
              <a:rPr lang="en-US" dirty="0">
                <a:ea typeface="+mn-lt"/>
                <a:cs typeface="+mn-lt"/>
              </a:rPr>
              <a:t>Shrikhande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6738-CEB6-6138-9B5C-DEE70012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pic>
        <p:nvPicPr>
          <p:cNvPr id="4" name="Content Placeholder 3" descr="A diagram of a machine learning process&#10;&#10;AI-generated content may be incorrect.">
            <a:extLst>
              <a:ext uri="{FF2B5EF4-FFF2-40B4-BE49-F238E27FC236}">
                <a16:creationId xmlns:a16="http://schemas.microsoft.com/office/drawing/2014/main" id="{8D5B9237-AB58-F385-C42F-698021201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950" y="1931326"/>
            <a:ext cx="9758190" cy="49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02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71E03-5B57-9108-FB28-7444AF71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xAI ? 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9EA7BEC9-1337-BA1F-1066-E7AB1603F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7232" y="3803"/>
            <a:ext cx="6860845" cy="3800475"/>
          </a:xfrm>
          <a:prstGeom prst="rect">
            <a:avLst/>
          </a:prstGeom>
        </p:spPr>
      </p:pic>
      <p:pic>
        <p:nvPicPr>
          <p:cNvPr id="3" name="Picture 2" descr="Use Scam Detection - Phone app Help">
            <a:extLst>
              <a:ext uri="{FF2B5EF4-FFF2-40B4-BE49-F238E27FC236}">
                <a16:creationId xmlns:a16="http://schemas.microsoft.com/office/drawing/2014/main" id="{8A3F6F0A-00A8-EC79-7016-6EC20D71B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04" y="1482792"/>
            <a:ext cx="2743199" cy="1438182"/>
          </a:xfrm>
          <a:prstGeom prst="rect">
            <a:avLst/>
          </a:prstGeom>
        </p:spPr>
      </p:pic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DDDFF51-D5DB-67E8-2483-EAA42809C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3" y="3684877"/>
            <a:ext cx="4487884" cy="2694586"/>
          </a:xfrm>
          <a:prstGeom prst="rect">
            <a:avLst/>
          </a:prstGeom>
        </p:spPr>
      </p:pic>
      <p:pic>
        <p:nvPicPr>
          <p:cNvPr id="7" name="Picture 6" descr="ADAS sensors - RGB Cameras for Autonomous Vehicles">
            <a:extLst>
              <a:ext uri="{FF2B5EF4-FFF2-40B4-BE49-F238E27FC236}">
                <a16:creationId xmlns:a16="http://schemas.microsoft.com/office/drawing/2014/main" id="{455B9574-E235-0C0C-CAA7-94F297609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959" y="3802491"/>
            <a:ext cx="4564082" cy="269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8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4986-080F-2F8C-4F63-C320944C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In Medicine</a:t>
            </a:r>
          </a:p>
        </p:txBody>
      </p:sp>
      <p:pic>
        <p:nvPicPr>
          <p:cNvPr id="4" name="Content Placeholder 3" descr="A collage of x-ray images&#10;&#10;AI-generated content may be incorrect.">
            <a:extLst>
              <a:ext uri="{FF2B5EF4-FFF2-40B4-BE49-F238E27FC236}">
                <a16:creationId xmlns:a16="http://schemas.microsoft.com/office/drawing/2014/main" id="{8E0842F5-139A-17B7-C093-0EDC4AAEF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121" y="1269940"/>
            <a:ext cx="6411952" cy="38807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BD60A1-93B6-D20F-5563-4FBD2D1180F2}"/>
              </a:ext>
            </a:extLst>
          </p:cNvPr>
          <p:cNvSpPr txBox="1"/>
          <p:nvPr/>
        </p:nvSpPr>
        <p:spPr>
          <a:xfrm>
            <a:off x="679657" y="5542285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_d0_f7"/>
                <a:ea typeface="g_d0_f7"/>
                <a:cs typeface="g_d0_f7"/>
              </a:rPr>
              <a:t>AI for radiographic COVID-19 detection </a:t>
            </a:r>
            <a:endParaRPr lang="en-US" dirty="0">
              <a:latin typeface="Trebuchet MS" panose="020B0603020202020204"/>
              <a:ea typeface="g_d0_f7"/>
              <a:cs typeface="g_d0_f7"/>
            </a:endParaRPr>
          </a:p>
          <a:p>
            <a:r>
              <a:rPr lang="en-US" dirty="0">
                <a:latin typeface="g_d0_f7"/>
                <a:ea typeface="g_d0_f7"/>
                <a:cs typeface="g_d0_f7"/>
              </a:rPr>
              <a:t> J. DeGrave , Joseph D. </a:t>
            </a:r>
            <a:r>
              <a:rPr lang="en-US" dirty="0" err="1">
                <a:latin typeface="g_d0_f7"/>
                <a:ea typeface="g_d0_f7"/>
                <a:cs typeface="g_d0_f7"/>
              </a:rPr>
              <a:t>Janizek</a:t>
            </a:r>
            <a:r>
              <a:rPr lang="en-US" dirty="0">
                <a:latin typeface="g_d0_f7"/>
                <a:ea typeface="g_d0_f7"/>
                <a:cs typeface="g_d0_f7"/>
              </a:rPr>
              <a:t>  and Su-In Lee </a:t>
            </a:r>
            <a:endParaRPr lang="en-US" dirty="0">
              <a:latin typeface="g_d0_f4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86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5173-1D16-3E9F-B8AE-88DF6117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in Finance</a:t>
            </a:r>
          </a:p>
        </p:txBody>
      </p:sp>
      <p:pic>
        <p:nvPicPr>
          <p:cNvPr id="4" name="Content Placeholder 3" descr="A diagram of a bank&#10;&#10;AI-generated content may be incorrect.">
            <a:extLst>
              <a:ext uri="{FF2B5EF4-FFF2-40B4-BE49-F238E27FC236}">
                <a16:creationId xmlns:a16="http://schemas.microsoft.com/office/drawing/2014/main" id="{66876004-9D42-3AA1-505B-033A19AE3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402" y="1267512"/>
            <a:ext cx="8249643" cy="38807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A6AB94-5DC7-76B5-E83C-7A62B1BD6941}"/>
              </a:ext>
            </a:extLst>
          </p:cNvPr>
          <p:cNvSpPr txBox="1"/>
          <p:nvPr/>
        </p:nvSpPr>
        <p:spPr>
          <a:xfrm>
            <a:off x="934528" y="5149989"/>
            <a:ext cx="76199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 Explainable AI framework for credit evaluation and analysis </a:t>
            </a:r>
            <a:endParaRPr lang="en-US"/>
          </a:p>
          <a:p>
            <a:r>
              <a:rPr lang="en-US" dirty="0"/>
              <a:t>M.K. </a:t>
            </a:r>
            <a:r>
              <a:rPr lang="en-US" dirty="0" err="1"/>
              <a:t>Nallakaruppan</a:t>
            </a:r>
            <a:r>
              <a:rPr lang="en-US" dirty="0"/>
              <a:t> , Balamurugan Balusamy , M. </a:t>
            </a:r>
            <a:r>
              <a:rPr lang="en-US" dirty="0" err="1"/>
              <a:t>Lawanya</a:t>
            </a:r>
            <a:r>
              <a:rPr lang="en-US" dirty="0"/>
              <a:t> Shri , V. Malathi c, Siddhartha Bhattacharyya </a:t>
            </a:r>
            <a:r>
              <a:rPr lang="en-US" dirty="0" err="1"/>
              <a:t>d,e</a:t>
            </a:r>
            <a:r>
              <a:rPr lang="en-US" dirty="0"/>
              <a:t>,∗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FC066-7C30-5375-D516-6614B94827A9}"/>
              </a:ext>
            </a:extLst>
          </p:cNvPr>
          <p:cNvSpPr txBox="1"/>
          <p:nvPr/>
        </p:nvSpPr>
        <p:spPr>
          <a:xfrm>
            <a:off x="9292441" y="193963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7" name="Picture 6" descr="Common Reasons for Home Loan Application Rejection | SBI Realty">
            <a:extLst>
              <a:ext uri="{FF2B5EF4-FFF2-40B4-BE49-F238E27FC236}">
                <a16:creationId xmlns:a16="http://schemas.microsoft.com/office/drawing/2014/main" id="{EEC5DC9D-5021-FD6D-9642-A7BF46E3B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932" y="1687286"/>
            <a:ext cx="2743200" cy="1524000"/>
          </a:xfrm>
          <a:prstGeom prst="rect">
            <a:avLst/>
          </a:prstGeom>
        </p:spPr>
      </p:pic>
      <p:pic>
        <p:nvPicPr>
          <p:cNvPr id="9" name="Picture 8" descr="Reducing false positives in credit card fraud detection - TyN Magazine">
            <a:extLst>
              <a:ext uri="{FF2B5EF4-FFF2-40B4-BE49-F238E27FC236}">
                <a16:creationId xmlns:a16="http://schemas.microsoft.com/office/drawing/2014/main" id="{372BEF3E-97CB-37BB-9F2F-C0A26615A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933" y="4072618"/>
            <a:ext cx="27432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1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558B-E526-D37D-528B-22C9A1E76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MNIST – Handwritten Digits </a:t>
            </a:r>
          </a:p>
        </p:txBody>
      </p:sp>
      <p:pic>
        <p:nvPicPr>
          <p:cNvPr id="4" name="Content Placeholder 3" descr="A number on a black background&#10;&#10;AI-generated content may be incorrect.">
            <a:extLst>
              <a:ext uri="{FF2B5EF4-FFF2-40B4-BE49-F238E27FC236}">
                <a16:creationId xmlns:a16="http://schemas.microsoft.com/office/drawing/2014/main" id="{4E6558BC-1B09-7E0F-5AD1-0DA712BEF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72" y="1266669"/>
            <a:ext cx="6248400" cy="3095625"/>
          </a:xfrm>
          <a:prstGeom prst="rect">
            <a:avLst/>
          </a:prstGeom>
        </p:spPr>
      </p:pic>
      <p:pic>
        <p:nvPicPr>
          <p:cNvPr id="5" name="Picture 4" descr="A diagram of a person&amp;#39;s face&#10;&#10;AI-generated content may be incorrect.">
            <a:extLst>
              <a:ext uri="{FF2B5EF4-FFF2-40B4-BE49-F238E27FC236}">
                <a16:creationId xmlns:a16="http://schemas.microsoft.com/office/drawing/2014/main" id="{AF055FE2-BB5A-8E56-DE7D-28EFD62C9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116" y="1477787"/>
            <a:ext cx="5531923" cy="2566453"/>
          </a:xfrm>
          <a:prstGeom prst="rect">
            <a:avLst/>
          </a:prstGeom>
        </p:spPr>
      </p:pic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C4F5D3D6-3649-75C8-A4C8-85EDC974F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59" y="4695020"/>
            <a:ext cx="6795159" cy="1842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1A4C3-53B4-1005-EA33-09D36F0D3F6C}"/>
              </a:ext>
            </a:extLst>
          </p:cNvPr>
          <p:cNvSpPr txBox="1"/>
          <p:nvPr/>
        </p:nvSpPr>
        <p:spPr>
          <a:xfrm>
            <a:off x="7768441" y="4839194"/>
            <a:ext cx="3940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70K images, 60k+10k split</a:t>
            </a:r>
          </a:p>
          <a:p>
            <a:r>
              <a:rPr lang="en-US" dirty="0"/>
              <a:t>28x28, single channel, grey scale</a:t>
            </a:r>
          </a:p>
        </p:txBody>
      </p:sp>
    </p:spTree>
    <p:extLst>
      <p:ext uri="{BB962C8B-B14F-4D97-AF65-F5344CB8AC3E}">
        <p14:creationId xmlns:p14="http://schemas.microsoft.com/office/powerpoint/2010/main" val="232651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3B6C-929A-7725-34EA-4B27B5A6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 Sensitivity</a:t>
            </a:r>
          </a:p>
        </p:txBody>
      </p:sp>
      <p:pic>
        <p:nvPicPr>
          <p:cNvPr id="4" name="Content Placeholder 3" descr="A collage of images of a dog&#10;&#10;AI-generated content may be incorrect.">
            <a:extLst>
              <a:ext uri="{FF2B5EF4-FFF2-40B4-BE49-F238E27FC236}">
                <a16:creationId xmlns:a16="http://schemas.microsoft.com/office/drawing/2014/main" id="{47B809C0-1CCA-9B28-C2DD-BD9E6AF45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592" y="1843914"/>
            <a:ext cx="8235126" cy="46328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3F599B-0C46-ED6B-2A23-74B6E24E182F}"/>
              </a:ext>
            </a:extLst>
          </p:cNvPr>
          <p:cNvSpPr txBox="1"/>
          <p:nvPr/>
        </p:nvSpPr>
        <p:spPr>
          <a:xfrm>
            <a:off x="9170388" y="2420422"/>
            <a:ext cx="239485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SOTA : 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SHAP – Shapley Additive Explanations</a:t>
            </a:r>
          </a:p>
          <a:p>
            <a:endParaRPr lang="en-US" dirty="0"/>
          </a:p>
          <a:p>
            <a:r>
              <a:rPr lang="en-US" dirty="0"/>
              <a:t>LIME – Local Interpretable Model Agnostic Explanations</a:t>
            </a:r>
          </a:p>
          <a:p>
            <a:endParaRPr lang="en-US" dirty="0"/>
          </a:p>
          <a:p>
            <a:r>
              <a:rPr lang="en-US" dirty="0" err="1"/>
              <a:t>GradCAM</a:t>
            </a:r>
            <a:r>
              <a:rPr lang="en-US" dirty="0"/>
              <a:t> – Gradient Weighted Class Activation Mapping 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3F08C-C4B7-90FD-4F3D-FEA55D93AF6E}"/>
              </a:ext>
            </a:extLst>
          </p:cNvPr>
          <p:cNvSpPr txBox="1"/>
          <p:nvPr/>
        </p:nvSpPr>
        <p:spPr>
          <a:xfrm>
            <a:off x="5560786" y="60778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“How much does the </a:t>
            </a:r>
            <a:r>
              <a:rPr lang="en-US" sz="1800" b="0" i="1" u="none" strike="noStrike" baseline="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model’s confidence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 in its predicted class drop when I hide this region?”</a:t>
            </a:r>
            <a:r>
              <a:rPr sz="1800" b="0" i="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4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9916B-F58B-DF06-3F23-A143A2BAA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548" y="1462089"/>
            <a:ext cx="6537453" cy="58583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“For each test image, we slide a small window (4×4) across it.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We occlude that region — turn it black or white — and re-run the model.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If the model’s confidence in its predicted class drops significantly,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we mark that region as important.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Doing this for every position gives us a </a:t>
            </a:r>
            <a:r>
              <a:rPr lang="en-US" i="1" dirty="0">
                <a:ea typeface="+mn-lt"/>
                <a:cs typeface="+mn-lt"/>
              </a:rPr>
              <a:t>heatmap of importance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In this way, we visualize </a:t>
            </a:r>
            <a:r>
              <a:rPr lang="en-US" i="1">
                <a:ea typeface="+mn-lt"/>
                <a:cs typeface="+mn-lt"/>
              </a:rPr>
              <a:t>which parts of the image the model actually relied on</a:t>
            </a:r>
            <a:r>
              <a:rPr lang="en-US">
                <a:ea typeface="+mn-lt"/>
                <a:cs typeface="+mn-lt"/>
              </a:rPr>
              <a:t> to make its decision.”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Grad-CAM and Integrated Gradients are faster but only work for CNNs.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LIME and SHAP are more sophisticated but slower for images.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So for a fair comparison across CNN, MLP, KNN, and </a:t>
            </a:r>
            <a:r>
              <a:rPr lang="en-US" dirty="0" err="1">
                <a:ea typeface="+mn-lt"/>
                <a:cs typeface="+mn-lt"/>
              </a:rPr>
              <a:t>DecisionTree</a:t>
            </a:r>
            <a:r>
              <a:rPr lang="en-US" dirty="0">
                <a:ea typeface="+mn-lt"/>
                <a:cs typeface="+mn-lt"/>
              </a:rPr>
              <a:t>, occlusion sensitivity is ideal.”</a:t>
            </a:r>
            <a:endParaRPr lang="en-US" dirty="0"/>
          </a:p>
        </p:txBody>
      </p:sp>
      <p:pic>
        <p:nvPicPr>
          <p:cNvPr id="4" name="Picture 3" descr="A technical illustration of a sliding window heatmap analysis on a grayscale image, showing model confidence changes.">
            <a:extLst>
              <a:ext uri="{FF2B5EF4-FFF2-40B4-BE49-F238E27FC236}">
                <a16:creationId xmlns:a16="http://schemas.microsoft.com/office/drawing/2014/main" id="{680D446E-D6FC-910E-66C5-9CA79B4F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6" y="0"/>
            <a:ext cx="4603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6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9F9F-ACF4-DEC2-9AE4-7F0D35AB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81" y="490847"/>
            <a:ext cx="8596668" cy="1320800"/>
          </a:xfrm>
        </p:spPr>
        <p:txBody>
          <a:bodyPr/>
          <a:lstStyle/>
          <a:p>
            <a:r>
              <a:rPr lang="en-US" dirty="0"/>
              <a:t>ML Workflow</a:t>
            </a:r>
          </a:p>
        </p:txBody>
      </p:sp>
      <p:pic>
        <p:nvPicPr>
          <p:cNvPr id="4" name="Content Placeholder 3" descr="A diagram of a workflow&#10;&#10;AI-generated content may be incorrect.">
            <a:extLst>
              <a:ext uri="{FF2B5EF4-FFF2-40B4-BE49-F238E27FC236}">
                <a16:creationId xmlns:a16="http://schemas.microsoft.com/office/drawing/2014/main" id="{0CEC402B-CCDB-F4E4-FD3A-3C14996CA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581" y="1459550"/>
            <a:ext cx="11083951" cy="393156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07EEB1-9F82-D1D5-73A2-A73D16C4AAD3}"/>
              </a:ext>
            </a:extLst>
          </p:cNvPr>
          <p:cNvSpPr/>
          <p:nvPr/>
        </p:nvSpPr>
        <p:spPr>
          <a:xfrm>
            <a:off x="6096001" y="1989117"/>
            <a:ext cx="3681348" cy="2068285"/>
          </a:xfrm>
          <a:custGeom>
            <a:avLst/>
            <a:gdLst>
              <a:gd name="csX0" fmla="*/ 0 w 3681348"/>
              <a:gd name="csY0" fmla="*/ 344721 h 2068285"/>
              <a:gd name="csX1" fmla="*/ 344721 w 3681348"/>
              <a:gd name="csY1" fmla="*/ 0 h 2068285"/>
              <a:gd name="csX2" fmla="*/ 3336627 w 3681348"/>
              <a:gd name="csY2" fmla="*/ 0 h 2068285"/>
              <a:gd name="csX3" fmla="*/ 3681348 w 3681348"/>
              <a:gd name="csY3" fmla="*/ 344721 h 2068285"/>
              <a:gd name="csX4" fmla="*/ 3681348 w 3681348"/>
              <a:gd name="csY4" fmla="*/ 1723564 h 2068285"/>
              <a:gd name="csX5" fmla="*/ 3336627 w 3681348"/>
              <a:gd name="csY5" fmla="*/ 2068285 h 2068285"/>
              <a:gd name="csX6" fmla="*/ 344721 w 3681348"/>
              <a:gd name="csY6" fmla="*/ 2068285 h 2068285"/>
              <a:gd name="csX7" fmla="*/ 0 w 3681348"/>
              <a:gd name="csY7" fmla="*/ 1723564 h 2068285"/>
              <a:gd name="csX8" fmla="*/ 0 w 3681348"/>
              <a:gd name="csY8" fmla="*/ 344721 h 206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681348" h="2068285" extrusionOk="0">
                <a:moveTo>
                  <a:pt x="0" y="344721"/>
                </a:moveTo>
                <a:cubicBezTo>
                  <a:pt x="-1799" y="148690"/>
                  <a:pt x="130899" y="2018"/>
                  <a:pt x="344721" y="0"/>
                </a:cubicBezTo>
                <a:cubicBezTo>
                  <a:pt x="1825173" y="52825"/>
                  <a:pt x="2625907" y="-123174"/>
                  <a:pt x="3336627" y="0"/>
                </a:cubicBezTo>
                <a:cubicBezTo>
                  <a:pt x="3543424" y="27745"/>
                  <a:pt x="3686962" y="155850"/>
                  <a:pt x="3681348" y="344721"/>
                </a:cubicBezTo>
                <a:cubicBezTo>
                  <a:pt x="3718411" y="1011780"/>
                  <a:pt x="3581803" y="1297122"/>
                  <a:pt x="3681348" y="1723564"/>
                </a:cubicBezTo>
                <a:cubicBezTo>
                  <a:pt x="3661353" y="1888248"/>
                  <a:pt x="3512315" y="2055122"/>
                  <a:pt x="3336627" y="2068285"/>
                </a:cubicBezTo>
                <a:cubicBezTo>
                  <a:pt x="2809057" y="2237696"/>
                  <a:pt x="666222" y="2153839"/>
                  <a:pt x="344721" y="2068285"/>
                </a:cubicBezTo>
                <a:cubicBezTo>
                  <a:pt x="144773" y="2072258"/>
                  <a:pt x="6167" y="1901649"/>
                  <a:pt x="0" y="1723564"/>
                </a:cubicBezTo>
                <a:cubicBezTo>
                  <a:pt x="-109036" y="1454142"/>
                  <a:pt x="-57299" y="686915"/>
                  <a:pt x="0" y="344721"/>
                </a:cubicBezTo>
                <a:close/>
              </a:path>
            </a:pathLst>
          </a:custGeom>
          <a:noFill/>
          <a:ln w="28575"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1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CFBA9B-F954-E4E3-05F2-3A12F835D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538" y="291875"/>
            <a:ext cx="11747974" cy="603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63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erson pointing at the camera&#10;&#10;AI-generated content may be incorrect.">
            <a:extLst>
              <a:ext uri="{FF2B5EF4-FFF2-40B4-BE49-F238E27FC236}">
                <a16:creationId xmlns:a16="http://schemas.microsoft.com/office/drawing/2014/main" id="{A0D218DD-9072-630B-2D02-C5759F12A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9" y="3986"/>
            <a:ext cx="12186046" cy="6856885"/>
          </a:xfrm>
          <a:prstGeom prst="rect">
            <a:avLst/>
          </a:prstGeom>
        </p:spPr>
      </p:pic>
      <p:pic>
        <p:nvPicPr>
          <p:cNvPr id="5" name="Picture 4" descr="A blue and red question mark&#10;&#10;AI-generated content may be incorrect.">
            <a:extLst>
              <a:ext uri="{FF2B5EF4-FFF2-40B4-BE49-F238E27FC236}">
                <a16:creationId xmlns:a16="http://schemas.microsoft.com/office/drawing/2014/main" id="{4871FCCD-056D-06CA-4A52-0B5E9EAFC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463" y="380371"/>
            <a:ext cx="86010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4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FDA4-81E7-005C-DD51-C94770FF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pic>
        <p:nvPicPr>
          <p:cNvPr id="4" name="Content Placeholder 3" descr="A cartoon character standing next to a red question mark&#10;&#10;AI-generated content may be incorrect.">
            <a:extLst>
              <a:ext uri="{FF2B5EF4-FFF2-40B4-BE49-F238E27FC236}">
                <a16:creationId xmlns:a16="http://schemas.microsoft.com/office/drawing/2014/main" id="{E181ABE0-41DF-20E3-AE48-7D0EA359A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6035" y="2181646"/>
            <a:ext cx="3880773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924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Facet</vt:lpstr>
      <vt:lpstr>Shining light on the Black Box Image classifier for MNIST dataset using Occlusion Sensitivity Maps</vt:lpstr>
      <vt:lpstr>Introduction </vt:lpstr>
      <vt:lpstr>Why xAI ? </vt:lpstr>
      <vt:lpstr>xAI In Medicine</vt:lpstr>
      <vt:lpstr>xAI in Finance</vt:lpstr>
      <vt:lpstr>MNIST – Handwritten Digits </vt:lpstr>
      <vt:lpstr>Occlusion Sensitivity</vt:lpstr>
      <vt:lpstr>PowerPoint Presentation</vt:lpstr>
      <vt:lpstr>ML Workflow</vt:lpstr>
      <vt:lpstr>PowerPoint Presentation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2025-11-06T08:41:43Z</dcterms:created>
  <dcterms:modified xsi:type="dcterms:W3CDTF">2025-11-06T17:16:05Z</dcterms:modified>
</cp:coreProperties>
</file>