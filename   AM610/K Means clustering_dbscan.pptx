
<file path=[Content_Types].xml><?xml version="1.0" encoding="utf-8"?>
<Types xmlns="http://schemas.openxmlformats.org/package/2006/content-types">
  <Default Extension="emf" ContentType="image/x-emf"/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8"/>
  </p:notesMasterIdLst>
  <p:sldIdLst>
    <p:sldId id="256" r:id="rId5"/>
    <p:sldId id="460" r:id="rId6"/>
    <p:sldId id="549" r:id="rId7"/>
    <p:sldId id="521" r:id="rId8"/>
    <p:sldId id="596" r:id="rId9"/>
    <p:sldId id="597" r:id="rId10"/>
    <p:sldId id="598" r:id="rId11"/>
    <p:sldId id="599" r:id="rId12"/>
    <p:sldId id="600" r:id="rId13"/>
    <p:sldId id="601" r:id="rId14"/>
    <p:sldId id="602" r:id="rId15"/>
    <p:sldId id="603" r:id="rId16"/>
    <p:sldId id="604" r:id="rId17"/>
    <p:sldId id="576" r:id="rId18"/>
    <p:sldId id="610" r:id="rId19"/>
    <p:sldId id="616" r:id="rId20"/>
    <p:sldId id="615" r:id="rId21"/>
    <p:sldId id="614" r:id="rId22"/>
    <p:sldId id="612" r:id="rId23"/>
    <p:sldId id="608" r:id="rId24"/>
    <p:sldId id="613" r:id="rId25"/>
    <p:sldId id="605" r:id="rId26"/>
    <p:sldId id="606" r:id="rId27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6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94139" autoAdjust="0"/>
  </p:normalViewPr>
  <p:slideViewPr>
    <p:cSldViewPr>
      <p:cViewPr varScale="1">
        <p:scale>
          <a:sx n="88" d="100"/>
          <a:sy n="88" d="100"/>
        </p:scale>
        <p:origin x="592" y="44"/>
      </p:cViewPr>
      <p:guideLst>
        <p:guide orient="horz" pos="2676"/>
        <p:guide pos="4224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  <c:extLst>
              <c:ext xmlns:c16="http://schemas.microsoft.com/office/drawing/2014/chart" uri="{C3380CC4-5D6E-409C-BE32-E72D297353CC}">
                <c16:uniqueId val="{00000000-156B-4384-A4F6-1278F36E0D57}"/>
              </c:ext>
            </c:extLst>
          </c:dPt>
          <c:dPt>
            <c:idx val="1"/>
            <c:bubble3D val="0"/>
            <c:explosion val="20"/>
            <c:extLst>
              <c:ext xmlns:c16="http://schemas.microsoft.com/office/drawing/2014/chart" uri="{C3380CC4-5D6E-409C-BE32-E72D297353CC}">
                <c16:uniqueId val="{00000001-156B-4384-A4F6-1278F36E0D57}"/>
              </c:ext>
            </c:extLst>
          </c:dPt>
          <c:dPt>
            <c:idx val="2"/>
            <c:bubble3D val="0"/>
            <c:explosion val="11"/>
            <c:extLst>
              <c:ext xmlns:c16="http://schemas.microsoft.com/office/drawing/2014/chart" uri="{C3380CC4-5D6E-409C-BE32-E72D297353CC}">
                <c16:uniqueId val="{00000002-156B-4384-A4F6-1278F36E0D57}"/>
              </c:ext>
            </c:extLst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6B-4384-A4F6-1278F36E0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7:25.06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8703 2466,'0'20'2851,"0"-20"-1698,0 0 448,0 0-127,20 20 31,-20-20-256,0 0-160,0 0-96,0 0 256,0 0-96,0 0-224,0 0-64,0 0-32,0 0-609,-20 0-128,1 0-64,-21 0-64,-1 0 0,3 0 0,-23 0 32,2 0 96,-20 0-64,0-20 0,-2 20 32,2-20 64,21 20-31,-23-19-33,2-2 32,20 2 96,-20-2-64,18 2-64,23 19-32,-3-20 32,1 20-64,21-20 0,-1 20 32,0 0 0,20-20 0,-20 20-32,20 0 32,0 0-224,-20-20-32,20 20-128,0 0-97,0 0-159,0 0-289,0 0-128,-19 0-321,19 0 97,-20 20-352,20-20-1602,-20 0-4004</inkml:trace>
  <inkml:trace contextRef="#ctx0" brushRef="#br0" timeOffset="382.02">12981 8365 10313,'20'0'1057,"-20"-20"-320,0 20 320,-20 0-480,20 0-257,-19 0-96,-21 0-160,20 0-32,-19 20 0,-1-20 0,0 21-96,-19-21 0,18 19 128,3-19-64,-3 20 64,21-20 32,0 20 161,1-20-1,19 19-96,19 2 256,21 18 97,1-19-257,17 20-160,1-1-96,-18-18 0,19 19-128,-21-21-160,-19 21-161,0-20-512,0 0-736,-20 0-2884</inkml:trace>
  <inkml:trace contextRef="#ctx0" brushRef="#br1" timeOffset="1962.11">9190 4609 6918,'-20'-19'3235,"0"19"-961,0-20-576,20 20-385,0 0-256,-20-20-96,20 20-192,0 0-257,20 0-223,0 20 319,0 0-95,19 20-1,21-1-192,-1 21-192,20-21-95,-18 22-1,18-22-32,0 1 128,2 0-577,-2-1 609,-20-19-256,1 0 0,-21 0 32,1 0 128,-20-20-192,-1 0-128,-19 20-96,20-20-193,-20 0-512,-20 0-929,20 0-1858,-19 0-3907</inkml:trace>
  <inkml:trace contextRef="#ctx0" brushRef="#br1" timeOffset="2279.13">9865 4888 8391,'-20'-20'1282,"20"20"-1346,20 0 480,0 0 929,0 20 769,-1 20-1281,21-20-288,0 19-577,-1-19 64,22 20 64,-23 0 0,23-20 32,-22 20-64,1-21 320,-1 1 33,-19 1-33,0-2 129,-20-19 95,0 20 385,-20 0-128,0-1-321,-39-19-127,18 21 63,-18-1-191,1-1-257,17 1-257,21-1-1056,0 2-3235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Swap:</a:t>
            </a:r>
            <a:r>
              <a:rPr lang="en-US" baseline="0" dirty="0"/>
              <a:t> market </a:t>
            </a:r>
            <a:r>
              <a:rPr lang="en-US" baseline="0" dirty="0" err="1"/>
              <a:t>seg</a:t>
            </a:r>
            <a:r>
              <a:rPr lang="en-US" baseline="0" dirty="0"/>
              <a:t> and organize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rid of the legacy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normal text, size with LATEX</a:t>
            </a:r>
            <a:r>
              <a:rPr lang="en-US" baseline="0" dirty="0"/>
              <a:t> fonts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4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notesSlide" Target="../notesSlides/notesSlide4.xml"/><Relationship Id="rId18" Type="http://schemas.openxmlformats.org/officeDocument/2006/relationships/image" Target="../media/image23.png"/><Relationship Id="rId3" Type="http://schemas.openxmlformats.org/officeDocument/2006/relationships/tags" Target="../tags/tag11.xml"/><Relationship Id="rId21" Type="http://schemas.openxmlformats.org/officeDocument/2006/relationships/image" Target="../media/image26.png"/><Relationship Id="rId7" Type="http://schemas.openxmlformats.org/officeDocument/2006/relationships/tags" Target="../tags/tag15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2.png"/><Relationship Id="rId2" Type="http://schemas.openxmlformats.org/officeDocument/2006/relationships/tags" Target="../tags/tag10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image" Target="../media/image20.png"/><Relationship Id="rId10" Type="http://schemas.openxmlformats.org/officeDocument/2006/relationships/tags" Target="../tags/tag18.xml"/><Relationship Id="rId19" Type="http://schemas.openxmlformats.org/officeDocument/2006/relationships/image" Target="../media/image24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21AE-C3DD-4202-A401-C19DB7B08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220" y="670560"/>
            <a:ext cx="7033260" cy="1455420"/>
          </a:xfrm>
          <a:solidFill>
            <a:schemeClr val="bg1">
              <a:lumMod val="75000"/>
            </a:schemeClr>
          </a:solidFill>
        </p:spPr>
        <p:txBody>
          <a:bodyPr>
            <a:normAutofit fontScale="90000"/>
          </a:bodyPr>
          <a:lstStyle/>
          <a:p>
            <a:br>
              <a:rPr lang="en-US" sz="2700" dirty="0">
                <a:solidFill>
                  <a:srgbClr val="FF0000"/>
                </a:solidFill>
              </a:rPr>
            </a:br>
            <a:br>
              <a:rPr lang="en-US" sz="2700" dirty="0">
                <a:solidFill>
                  <a:srgbClr val="FF0000"/>
                </a:solidFill>
              </a:rPr>
            </a:br>
            <a:br>
              <a:rPr lang="en-US" sz="2700" dirty="0">
                <a:solidFill>
                  <a:srgbClr val="FF0000"/>
                </a:solidFill>
              </a:rPr>
            </a:br>
            <a:br>
              <a:rPr lang="en-US" sz="2700" dirty="0">
                <a:solidFill>
                  <a:srgbClr val="FF0000"/>
                </a:solidFill>
              </a:rPr>
            </a:br>
            <a:r>
              <a:rPr lang="en-US" sz="3100" dirty="0">
                <a:solidFill>
                  <a:schemeClr val="bg1"/>
                </a:solidFill>
              </a:rPr>
              <a:t>K-Means &amp; DBSCAN Algorithm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sz="2700" dirty="0">
                <a:solidFill>
                  <a:schemeClr val="bg1"/>
                </a:solidFill>
              </a:rPr>
            </a:b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Artificial Neural Networks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88B11-FF90-454B-8A45-BB9597273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0640" y="2293620"/>
            <a:ext cx="7033260" cy="2298383"/>
          </a:xfrm>
        </p:spPr>
        <p:txBody>
          <a:bodyPr/>
          <a:lstStyle/>
          <a:p>
            <a:endParaRPr lang="en-US" sz="1800" dirty="0"/>
          </a:p>
          <a:p>
            <a:r>
              <a:rPr lang="en-US" sz="1800" dirty="0"/>
              <a:t>R Bharath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A9223-D4D2-4156-8F0B-69DBBB2B0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020378"/>
            <a:ext cx="15716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				  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25780" y="242107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4581933" y="1356406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640845" y="314169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72805" y="268851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13903" y="291909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72805" y="227560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4634946" y="1747622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5065742" y="17958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5353460" y="1456635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4870738" y="11876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64027"/>
            <a:ext cx="5686425" cy="29146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BFBCD8-609E-4CF6-A7F5-6F11F95E7F9C}"/>
              </a:ext>
            </a:extLst>
          </p:cNvPr>
          <p:cNvCxnSpPr/>
          <p:nvPr/>
        </p:nvCxnSpPr>
        <p:spPr>
          <a:xfrm>
            <a:off x="3372805" y="1293460"/>
            <a:ext cx="2059864" cy="18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Training set: 		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639" y="4364027"/>
            <a:ext cx="2750820" cy="29146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58838" y="23685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4694" y="25180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002796" y="300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465445" y="2784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33800" y="32346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763935" y="1881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189670" y="19287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002348" y="13253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6400" y="15724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14029" y="1475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E39D233-A24E-40F8-B168-A920EEB53F7F}"/>
              </a:ext>
            </a:extLst>
          </p:cNvPr>
          <p:cNvSpPr/>
          <p:nvPr/>
        </p:nvSpPr>
        <p:spPr>
          <a:xfrm>
            <a:off x="3242511" y="2063416"/>
            <a:ext cx="1179436" cy="1413710"/>
          </a:xfrm>
          <a:custGeom>
            <a:avLst/>
            <a:gdLst>
              <a:gd name="connsiteX0" fmla="*/ 192505 w 1179436"/>
              <a:gd name="connsiteY0" fmla="*/ 84221 h 1413710"/>
              <a:gd name="connsiteX1" fmla="*/ 162426 w 1179436"/>
              <a:gd name="connsiteY1" fmla="*/ 96252 h 1413710"/>
              <a:gd name="connsiteX2" fmla="*/ 78205 w 1179436"/>
              <a:gd name="connsiteY2" fmla="*/ 168442 h 1413710"/>
              <a:gd name="connsiteX3" fmla="*/ 42110 w 1179436"/>
              <a:gd name="connsiteY3" fmla="*/ 234616 h 1413710"/>
              <a:gd name="connsiteX4" fmla="*/ 36094 w 1179436"/>
              <a:gd name="connsiteY4" fmla="*/ 258679 h 1413710"/>
              <a:gd name="connsiteX5" fmla="*/ 24063 w 1179436"/>
              <a:gd name="connsiteY5" fmla="*/ 300789 h 1413710"/>
              <a:gd name="connsiteX6" fmla="*/ 12031 w 1179436"/>
              <a:gd name="connsiteY6" fmla="*/ 409073 h 1413710"/>
              <a:gd name="connsiteX7" fmla="*/ 0 w 1179436"/>
              <a:gd name="connsiteY7" fmla="*/ 541421 h 1413710"/>
              <a:gd name="connsiteX8" fmla="*/ 18047 w 1179436"/>
              <a:gd name="connsiteY8" fmla="*/ 854242 h 1413710"/>
              <a:gd name="connsiteX9" fmla="*/ 36094 w 1179436"/>
              <a:gd name="connsiteY9" fmla="*/ 902368 h 1413710"/>
              <a:gd name="connsiteX10" fmla="*/ 48126 w 1179436"/>
              <a:gd name="connsiteY10" fmla="*/ 950495 h 1413710"/>
              <a:gd name="connsiteX11" fmla="*/ 126331 w 1179436"/>
              <a:gd name="connsiteY11" fmla="*/ 1082842 h 1413710"/>
              <a:gd name="connsiteX12" fmla="*/ 168442 w 1179436"/>
              <a:gd name="connsiteY12" fmla="*/ 1136984 h 1413710"/>
              <a:gd name="connsiteX13" fmla="*/ 204536 w 1179436"/>
              <a:gd name="connsiteY13" fmla="*/ 1203158 h 1413710"/>
              <a:gd name="connsiteX14" fmla="*/ 240631 w 1179436"/>
              <a:gd name="connsiteY14" fmla="*/ 1239252 h 1413710"/>
              <a:gd name="connsiteX15" fmla="*/ 252663 w 1179436"/>
              <a:gd name="connsiteY15" fmla="*/ 1257300 h 1413710"/>
              <a:gd name="connsiteX16" fmla="*/ 276726 w 1179436"/>
              <a:gd name="connsiteY16" fmla="*/ 1269331 h 1413710"/>
              <a:gd name="connsiteX17" fmla="*/ 306805 w 1179436"/>
              <a:gd name="connsiteY17" fmla="*/ 1293395 h 1413710"/>
              <a:gd name="connsiteX18" fmla="*/ 336884 w 1179436"/>
              <a:gd name="connsiteY18" fmla="*/ 1323473 h 1413710"/>
              <a:gd name="connsiteX19" fmla="*/ 415089 w 1179436"/>
              <a:gd name="connsiteY19" fmla="*/ 1359568 h 1413710"/>
              <a:gd name="connsiteX20" fmla="*/ 463215 w 1179436"/>
              <a:gd name="connsiteY20" fmla="*/ 1383631 h 1413710"/>
              <a:gd name="connsiteX21" fmla="*/ 541421 w 1179436"/>
              <a:gd name="connsiteY21" fmla="*/ 1395663 h 1413710"/>
              <a:gd name="connsiteX22" fmla="*/ 637673 w 1179436"/>
              <a:gd name="connsiteY22" fmla="*/ 1413710 h 1413710"/>
              <a:gd name="connsiteX23" fmla="*/ 691815 w 1179436"/>
              <a:gd name="connsiteY23" fmla="*/ 1407695 h 1413710"/>
              <a:gd name="connsiteX24" fmla="*/ 842210 w 1179436"/>
              <a:gd name="connsiteY24" fmla="*/ 1377616 h 1413710"/>
              <a:gd name="connsiteX25" fmla="*/ 968542 w 1179436"/>
              <a:gd name="connsiteY25" fmla="*/ 1311442 h 1413710"/>
              <a:gd name="connsiteX26" fmla="*/ 1076826 w 1179436"/>
              <a:gd name="connsiteY26" fmla="*/ 1167063 h 1413710"/>
              <a:gd name="connsiteX27" fmla="*/ 1118936 w 1179436"/>
              <a:gd name="connsiteY27" fmla="*/ 1070810 h 1413710"/>
              <a:gd name="connsiteX28" fmla="*/ 1161047 w 1179436"/>
              <a:gd name="connsiteY28" fmla="*/ 932447 h 1413710"/>
              <a:gd name="connsiteX29" fmla="*/ 1179094 w 1179436"/>
              <a:gd name="connsiteY29" fmla="*/ 812131 h 1413710"/>
              <a:gd name="connsiteX30" fmla="*/ 1173078 w 1179436"/>
              <a:gd name="connsiteY30" fmla="*/ 715879 h 1413710"/>
              <a:gd name="connsiteX31" fmla="*/ 1149015 w 1179436"/>
              <a:gd name="connsiteY31" fmla="*/ 517358 h 1413710"/>
              <a:gd name="connsiteX32" fmla="*/ 1070810 w 1179436"/>
              <a:gd name="connsiteY32" fmla="*/ 360947 h 1413710"/>
              <a:gd name="connsiteX33" fmla="*/ 854242 w 1179436"/>
              <a:gd name="connsiteY33" fmla="*/ 126331 h 1413710"/>
              <a:gd name="connsiteX34" fmla="*/ 812131 w 1179436"/>
              <a:gd name="connsiteY34" fmla="*/ 102268 h 1413710"/>
              <a:gd name="connsiteX35" fmla="*/ 703847 w 1179436"/>
              <a:gd name="connsiteY35" fmla="*/ 42110 h 1413710"/>
              <a:gd name="connsiteX36" fmla="*/ 619626 w 1179436"/>
              <a:gd name="connsiteY36" fmla="*/ 6016 h 1413710"/>
              <a:gd name="connsiteX37" fmla="*/ 463215 w 1179436"/>
              <a:gd name="connsiteY37" fmla="*/ 0 h 1413710"/>
              <a:gd name="connsiteX38" fmla="*/ 240631 w 1179436"/>
              <a:gd name="connsiteY38" fmla="*/ 6016 h 1413710"/>
              <a:gd name="connsiteX39" fmla="*/ 96252 w 1179436"/>
              <a:gd name="connsiteY39" fmla="*/ 78205 h 1413710"/>
              <a:gd name="connsiteX40" fmla="*/ 66173 w 1179436"/>
              <a:gd name="connsiteY40" fmla="*/ 96252 h 1413710"/>
              <a:gd name="connsiteX41" fmla="*/ 42110 w 1179436"/>
              <a:gd name="connsiteY41" fmla="*/ 144379 h 1413710"/>
              <a:gd name="connsiteX42" fmla="*/ 60157 w 1179436"/>
              <a:gd name="connsiteY42" fmla="*/ 222584 h 1413710"/>
              <a:gd name="connsiteX43" fmla="*/ 66173 w 1179436"/>
              <a:gd name="connsiteY43" fmla="*/ 246647 h 1413710"/>
              <a:gd name="connsiteX44" fmla="*/ 54142 w 1179436"/>
              <a:gd name="connsiteY44" fmla="*/ 270710 h 141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79436" h="1413710">
                <a:moveTo>
                  <a:pt x="192505" y="84221"/>
                </a:moveTo>
                <a:cubicBezTo>
                  <a:pt x="182479" y="88231"/>
                  <a:pt x="171119" y="89846"/>
                  <a:pt x="162426" y="96252"/>
                </a:cubicBezTo>
                <a:cubicBezTo>
                  <a:pt x="132659" y="118186"/>
                  <a:pt x="97229" y="136736"/>
                  <a:pt x="78205" y="168442"/>
                </a:cubicBezTo>
                <a:cubicBezTo>
                  <a:pt x="65373" y="189827"/>
                  <a:pt x="51423" y="211334"/>
                  <a:pt x="42110" y="234616"/>
                </a:cubicBezTo>
                <a:cubicBezTo>
                  <a:pt x="39039" y="242293"/>
                  <a:pt x="38269" y="250702"/>
                  <a:pt x="36094" y="258679"/>
                </a:cubicBezTo>
                <a:cubicBezTo>
                  <a:pt x="32253" y="272763"/>
                  <a:pt x="27122" y="286515"/>
                  <a:pt x="24063" y="300789"/>
                </a:cubicBezTo>
                <a:cubicBezTo>
                  <a:pt x="18463" y="326924"/>
                  <a:pt x="13789" y="387982"/>
                  <a:pt x="12031" y="409073"/>
                </a:cubicBezTo>
                <a:cubicBezTo>
                  <a:pt x="2151" y="527626"/>
                  <a:pt x="10618" y="445846"/>
                  <a:pt x="0" y="541421"/>
                </a:cubicBezTo>
                <a:cubicBezTo>
                  <a:pt x="6016" y="645695"/>
                  <a:pt x="7654" y="750313"/>
                  <a:pt x="18047" y="854242"/>
                </a:cubicBezTo>
                <a:cubicBezTo>
                  <a:pt x="19752" y="871290"/>
                  <a:pt x="30984" y="886015"/>
                  <a:pt x="36094" y="902368"/>
                </a:cubicBezTo>
                <a:cubicBezTo>
                  <a:pt x="41026" y="918151"/>
                  <a:pt x="41612" y="935296"/>
                  <a:pt x="48126" y="950495"/>
                </a:cubicBezTo>
                <a:cubicBezTo>
                  <a:pt x="65504" y="991044"/>
                  <a:pt x="99465" y="1045643"/>
                  <a:pt x="126331" y="1082842"/>
                </a:cubicBezTo>
                <a:cubicBezTo>
                  <a:pt x="139718" y="1101377"/>
                  <a:pt x="158217" y="1116534"/>
                  <a:pt x="168442" y="1136984"/>
                </a:cubicBezTo>
                <a:cubicBezTo>
                  <a:pt x="175304" y="1150708"/>
                  <a:pt x="193836" y="1190080"/>
                  <a:pt x="204536" y="1203158"/>
                </a:cubicBezTo>
                <a:cubicBezTo>
                  <a:pt x="215311" y="1216327"/>
                  <a:pt x="229327" y="1226535"/>
                  <a:pt x="240631" y="1239252"/>
                </a:cubicBezTo>
                <a:cubicBezTo>
                  <a:pt x="245435" y="1244656"/>
                  <a:pt x="247108" y="1252671"/>
                  <a:pt x="252663" y="1257300"/>
                </a:cubicBezTo>
                <a:cubicBezTo>
                  <a:pt x="259552" y="1263041"/>
                  <a:pt x="269264" y="1264357"/>
                  <a:pt x="276726" y="1269331"/>
                </a:cubicBezTo>
                <a:cubicBezTo>
                  <a:pt x="287410" y="1276453"/>
                  <a:pt x="297261" y="1284805"/>
                  <a:pt x="306805" y="1293395"/>
                </a:cubicBezTo>
                <a:cubicBezTo>
                  <a:pt x="317344" y="1302880"/>
                  <a:pt x="325417" y="1315133"/>
                  <a:pt x="336884" y="1323473"/>
                </a:cubicBezTo>
                <a:cubicBezTo>
                  <a:pt x="351973" y="1334447"/>
                  <a:pt x="399969" y="1352008"/>
                  <a:pt x="415089" y="1359568"/>
                </a:cubicBezTo>
                <a:cubicBezTo>
                  <a:pt x="446909" y="1375478"/>
                  <a:pt x="436080" y="1376847"/>
                  <a:pt x="463215" y="1383631"/>
                </a:cubicBezTo>
                <a:cubicBezTo>
                  <a:pt x="493861" y="1391292"/>
                  <a:pt x="507319" y="1390791"/>
                  <a:pt x="541421" y="1395663"/>
                </a:cubicBezTo>
                <a:cubicBezTo>
                  <a:pt x="574232" y="1400350"/>
                  <a:pt x="604877" y="1407151"/>
                  <a:pt x="637673" y="1413710"/>
                </a:cubicBezTo>
                <a:cubicBezTo>
                  <a:pt x="655720" y="1411705"/>
                  <a:pt x="673933" y="1410851"/>
                  <a:pt x="691815" y="1407695"/>
                </a:cubicBezTo>
                <a:cubicBezTo>
                  <a:pt x="742162" y="1398810"/>
                  <a:pt x="842210" y="1377616"/>
                  <a:pt x="842210" y="1377616"/>
                </a:cubicBezTo>
                <a:cubicBezTo>
                  <a:pt x="847729" y="1374857"/>
                  <a:pt x="956215" y="1321920"/>
                  <a:pt x="968542" y="1311442"/>
                </a:cubicBezTo>
                <a:cubicBezTo>
                  <a:pt x="1018683" y="1268822"/>
                  <a:pt x="1048014" y="1224688"/>
                  <a:pt x="1076826" y="1167063"/>
                </a:cubicBezTo>
                <a:cubicBezTo>
                  <a:pt x="1092488" y="1135740"/>
                  <a:pt x="1107104" y="1103771"/>
                  <a:pt x="1118936" y="1070810"/>
                </a:cubicBezTo>
                <a:cubicBezTo>
                  <a:pt x="1135224" y="1025435"/>
                  <a:pt x="1147010" y="978568"/>
                  <a:pt x="1161047" y="932447"/>
                </a:cubicBezTo>
                <a:cubicBezTo>
                  <a:pt x="1167063" y="892342"/>
                  <a:pt x="1176845" y="852623"/>
                  <a:pt x="1179094" y="812131"/>
                </a:cubicBezTo>
                <a:cubicBezTo>
                  <a:pt x="1180877" y="780034"/>
                  <a:pt x="1175216" y="747954"/>
                  <a:pt x="1173078" y="715879"/>
                </a:cubicBezTo>
                <a:cubicBezTo>
                  <a:pt x="1169008" y="654825"/>
                  <a:pt x="1165022" y="574982"/>
                  <a:pt x="1149015" y="517358"/>
                </a:cubicBezTo>
                <a:cubicBezTo>
                  <a:pt x="1135097" y="467253"/>
                  <a:pt x="1105909" y="403273"/>
                  <a:pt x="1070810" y="360947"/>
                </a:cubicBezTo>
                <a:cubicBezTo>
                  <a:pt x="1047342" y="332647"/>
                  <a:pt x="926783" y="179528"/>
                  <a:pt x="854242" y="126331"/>
                </a:cubicBezTo>
                <a:cubicBezTo>
                  <a:pt x="841205" y="116770"/>
                  <a:pt x="825730" y="111010"/>
                  <a:pt x="812131" y="102268"/>
                </a:cubicBezTo>
                <a:cubicBezTo>
                  <a:pt x="717601" y="41499"/>
                  <a:pt x="831661" y="102653"/>
                  <a:pt x="703847" y="42110"/>
                </a:cubicBezTo>
                <a:cubicBezTo>
                  <a:pt x="687618" y="34422"/>
                  <a:pt x="642160" y="8129"/>
                  <a:pt x="619626" y="6016"/>
                </a:cubicBezTo>
                <a:cubicBezTo>
                  <a:pt x="567678" y="1146"/>
                  <a:pt x="515352" y="2005"/>
                  <a:pt x="463215" y="0"/>
                </a:cubicBezTo>
                <a:lnTo>
                  <a:pt x="240631" y="6016"/>
                </a:lnTo>
                <a:cubicBezTo>
                  <a:pt x="168361" y="16723"/>
                  <a:pt x="146862" y="44465"/>
                  <a:pt x="96252" y="78205"/>
                </a:cubicBezTo>
                <a:cubicBezTo>
                  <a:pt x="86523" y="84691"/>
                  <a:pt x="76199" y="90236"/>
                  <a:pt x="66173" y="96252"/>
                </a:cubicBezTo>
                <a:cubicBezTo>
                  <a:pt x="57068" y="109911"/>
                  <a:pt x="43511" y="127562"/>
                  <a:pt x="42110" y="144379"/>
                </a:cubicBezTo>
                <a:cubicBezTo>
                  <a:pt x="39841" y="171602"/>
                  <a:pt x="52657" y="197583"/>
                  <a:pt x="60157" y="222584"/>
                </a:cubicBezTo>
                <a:cubicBezTo>
                  <a:pt x="62533" y="230503"/>
                  <a:pt x="64168" y="238626"/>
                  <a:pt x="66173" y="246647"/>
                </a:cubicBezTo>
                <a:cubicBezTo>
                  <a:pt x="59671" y="272655"/>
                  <a:pt x="68425" y="270710"/>
                  <a:pt x="54142" y="27071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F3DA660-83E5-4DDA-8601-10E7214AE53E}"/>
              </a:ext>
            </a:extLst>
          </p:cNvPr>
          <p:cNvSpPr/>
          <p:nvPr/>
        </p:nvSpPr>
        <p:spPr>
          <a:xfrm>
            <a:off x="4412828" y="990915"/>
            <a:ext cx="1428834" cy="1409385"/>
          </a:xfrm>
          <a:custGeom>
            <a:avLst/>
            <a:gdLst>
              <a:gd name="connsiteX0" fmla="*/ 484025 w 1428834"/>
              <a:gd name="connsiteY0" fmla="*/ 19738 h 1409385"/>
              <a:gd name="connsiteX1" fmla="*/ 447930 w 1428834"/>
              <a:gd name="connsiteY1" fmla="*/ 1690 h 1409385"/>
              <a:gd name="connsiteX2" fmla="*/ 249409 w 1428834"/>
              <a:gd name="connsiteY2" fmla="*/ 19738 h 1409385"/>
              <a:gd name="connsiteX3" fmla="*/ 105030 w 1428834"/>
              <a:gd name="connsiteY3" fmla="*/ 109974 h 1409385"/>
              <a:gd name="connsiteX4" fmla="*/ 56904 w 1428834"/>
              <a:gd name="connsiteY4" fmla="*/ 170132 h 1409385"/>
              <a:gd name="connsiteX5" fmla="*/ 14793 w 1428834"/>
              <a:gd name="connsiteY5" fmla="*/ 260369 h 1409385"/>
              <a:gd name="connsiteX6" fmla="*/ 32840 w 1428834"/>
              <a:gd name="connsiteY6" fmla="*/ 886011 h 1409385"/>
              <a:gd name="connsiteX7" fmla="*/ 165188 w 1428834"/>
              <a:gd name="connsiteY7" fmla="*/ 1108596 h 1409385"/>
              <a:gd name="connsiteX8" fmla="*/ 267456 w 1428834"/>
              <a:gd name="connsiteY8" fmla="*/ 1216880 h 1409385"/>
              <a:gd name="connsiteX9" fmla="*/ 381756 w 1428834"/>
              <a:gd name="connsiteY9" fmla="*/ 1289069 h 1409385"/>
              <a:gd name="connsiteX10" fmla="*/ 465977 w 1428834"/>
              <a:gd name="connsiteY10" fmla="*/ 1337196 h 1409385"/>
              <a:gd name="connsiteX11" fmla="*/ 556214 w 1428834"/>
              <a:gd name="connsiteY11" fmla="*/ 1367274 h 1409385"/>
              <a:gd name="connsiteX12" fmla="*/ 640435 w 1428834"/>
              <a:gd name="connsiteY12" fmla="*/ 1391338 h 1409385"/>
              <a:gd name="connsiteX13" fmla="*/ 808877 w 1428834"/>
              <a:gd name="connsiteY13" fmla="*/ 1409385 h 1409385"/>
              <a:gd name="connsiteX14" fmla="*/ 959272 w 1428834"/>
              <a:gd name="connsiteY14" fmla="*/ 1391338 h 1409385"/>
              <a:gd name="connsiteX15" fmla="*/ 1145761 w 1428834"/>
              <a:gd name="connsiteY15" fmla="*/ 1319148 h 1409385"/>
              <a:gd name="connsiteX16" fmla="*/ 1229983 w 1428834"/>
              <a:gd name="connsiteY16" fmla="*/ 1271022 h 1409385"/>
              <a:gd name="connsiteX17" fmla="*/ 1344283 w 1428834"/>
              <a:gd name="connsiteY17" fmla="*/ 1150706 h 1409385"/>
              <a:gd name="connsiteX18" fmla="*/ 1392409 w 1428834"/>
              <a:gd name="connsiteY18" fmla="*/ 988280 h 1409385"/>
              <a:gd name="connsiteX19" fmla="*/ 1416472 w 1428834"/>
              <a:gd name="connsiteY19" fmla="*/ 904059 h 1409385"/>
              <a:gd name="connsiteX20" fmla="*/ 1416472 w 1428834"/>
              <a:gd name="connsiteY20" fmla="*/ 567174 h 1409385"/>
              <a:gd name="connsiteX21" fmla="*/ 1368346 w 1428834"/>
              <a:gd name="connsiteY21" fmla="*/ 488969 h 1409385"/>
              <a:gd name="connsiteX22" fmla="*/ 1260061 w 1428834"/>
              <a:gd name="connsiteY22" fmla="*/ 374669 h 1409385"/>
              <a:gd name="connsiteX23" fmla="*/ 1223967 w 1428834"/>
              <a:gd name="connsiteY23" fmla="*/ 356622 h 1409385"/>
              <a:gd name="connsiteX24" fmla="*/ 1181856 w 1428834"/>
              <a:gd name="connsiteY24" fmla="*/ 314511 h 1409385"/>
              <a:gd name="connsiteX25" fmla="*/ 1127714 w 1428834"/>
              <a:gd name="connsiteY25" fmla="*/ 284432 h 1409385"/>
              <a:gd name="connsiteX26" fmla="*/ 1073572 w 1428834"/>
              <a:gd name="connsiteY26" fmla="*/ 236306 h 1409385"/>
              <a:gd name="connsiteX27" fmla="*/ 1025446 w 1428834"/>
              <a:gd name="connsiteY27" fmla="*/ 212243 h 1409385"/>
              <a:gd name="connsiteX28" fmla="*/ 832940 w 1428834"/>
              <a:gd name="connsiteY28" fmla="*/ 97943 h 1409385"/>
              <a:gd name="connsiteX29" fmla="*/ 742704 w 1428834"/>
              <a:gd name="connsiteY29" fmla="*/ 67864 h 1409385"/>
              <a:gd name="connsiteX30" fmla="*/ 586293 w 1428834"/>
              <a:gd name="connsiteY30" fmla="*/ 25753 h 1409385"/>
              <a:gd name="connsiteX31" fmla="*/ 544183 w 1428834"/>
              <a:gd name="connsiteY31" fmla="*/ 13722 h 1409385"/>
              <a:gd name="connsiteX32" fmla="*/ 393788 w 1428834"/>
              <a:gd name="connsiteY32" fmla="*/ 13722 h 140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428834" h="1409385">
                <a:moveTo>
                  <a:pt x="484025" y="19738"/>
                </a:moveTo>
                <a:cubicBezTo>
                  <a:pt x="471993" y="13722"/>
                  <a:pt x="461348" y="2648"/>
                  <a:pt x="447930" y="1690"/>
                </a:cubicBezTo>
                <a:cubicBezTo>
                  <a:pt x="364607" y="-4262"/>
                  <a:pt x="322773" y="6399"/>
                  <a:pt x="249409" y="19738"/>
                </a:cubicBezTo>
                <a:cubicBezTo>
                  <a:pt x="218945" y="37146"/>
                  <a:pt x="134894" y="81769"/>
                  <a:pt x="105030" y="109974"/>
                </a:cubicBezTo>
                <a:cubicBezTo>
                  <a:pt x="86360" y="127606"/>
                  <a:pt x="70116" y="148112"/>
                  <a:pt x="56904" y="170132"/>
                </a:cubicBezTo>
                <a:cubicBezTo>
                  <a:pt x="39826" y="198595"/>
                  <a:pt x="28830" y="230290"/>
                  <a:pt x="14793" y="260369"/>
                </a:cubicBezTo>
                <a:cubicBezTo>
                  <a:pt x="-8564" y="493928"/>
                  <a:pt x="-5494" y="434526"/>
                  <a:pt x="32840" y="886011"/>
                </a:cubicBezTo>
                <a:cubicBezTo>
                  <a:pt x="37603" y="942103"/>
                  <a:pt x="161360" y="1104221"/>
                  <a:pt x="165188" y="1108596"/>
                </a:cubicBezTo>
                <a:cubicBezTo>
                  <a:pt x="197699" y="1145751"/>
                  <a:pt x="229840" y="1184638"/>
                  <a:pt x="267456" y="1216880"/>
                </a:cubicBezTo>
                <a:cubicBezTo>
                  <a:pt x="330602" y="1271005"/>
                  <a:pt x="320764" y="1255801"/>
                  <a:pt x="381756" y="1289069"/>
                </a:cubicBezTo>
                <a:cubicBezTo>
                  <a:pt x="410142" y="1304552"/>
                  <a:pt x="436472" y="1323970"/>
                  <a:pt x="465977" y="1337196"/>
                </a:cubicBezTo>
                <a:cubicBezTo>
                  <a:pt x="494909" y="1350165"/>
                  <a:pt x="525933" y="1357876"/>
                  <a:pt x="556214" y="1367274"/>
                </a:cubicBezTo>
                <a:cubicBezTo>
                  <a:pt x="584099" y="1375928"/>
                  <a:pt x="611805" y="1385612"/>
                  <a:pt x="640435" y="1391338"/>
                </a:cubicBezTo>
                <a:cubicBezTo>
                  <a:pt x="683359" y="1399923"/>
                  <a:pt x="762184" y="1405494"/>
                  <a:pt x="808877" y="1409385"/>
                </a:cubicBezTo>
                <a:cubicBezTo>
                  <a:pt x="859009" y="1403369"/>
                  <a:pt x="909983" y="1402291"/>
                  <a:pt x="959272" y="1391338"/>
                </a:cubicBezTo>
                <a:cubicBezTo>
                  <a:pt x="1000599" y="1382154"/>
                  <a:pt x="1098988" y="1343470"/>
                  <a:pt x="1145761" y="1319148"/>
                </a:cubicBezTo>
                <a:cubicBezTo>
                  <a:pt x="1174448" y="1304231"/>
                  <a:pt x="1204354" y="1290736"/>
                  <a:pt x="1229983" y="1271022"/>
                </a:cubicBezTo>
                <a:cubicBezTo>
                  <a:pt x="1263342" y="1245362"/>
                  <a:pt x="1313527" y="1185855"/>
                  <a:pt x="1344283" y="1150706"/>
                </a:cubicBezTo>
                <a:cubicBezTo>
                  <a:pt x="1360325" y="1096564"/>
                  <a:pt x="1376547" y="1042475"/>
                  <a:pt x="1392409" y="988280"/>
                </a:cubicBezTo>
                <a:cubicBezTo>
                  <a:pt x="1400610" y="960258"/>
                  <a:pt x="1416472" y="904059"/>
                  <a:pt x="1416472" y="904059"/>
                </a:cubicBezTo>
                <a:cubicBezTo>
                  <a:pt x="1422251" y="814494"/>
                  <a:pt x="1441135" y="660892"/>
                  <a:pt x="1416472" y="567174"/>
                </a:cubicBezTo>
                <a:cubicBezTo>
                  <a:pt x="1408682" y="537573"/>
                  <a:pt x="1386350" y="513723"/>
                  <a:pt x="1368346" y="488969"/>
                </a:cubicBezTo>
                <a:cubicBezTo>
                  <a:pt x="1319272" y="421494"/>
                  <a:pt x="1328187" y="421506"/>
                  <a:pt x="1260061" y="374669"/>
                </a:cubicBezTo>
                <a:cubicBezTo>
                  <a:pt x="1248976" y="367048"/>
                  <a:pt x="1234629" y="364824"/>
                  <a:pt x="1223967" y="356622"/>
                </a:cubicBezTo>
                <a:cubicBezTo>
                  <a:pt x="1208232" y="344518"/>
                  <a:pt x="1197737" y="326422"/>
                  <a:pt x="1181856" y="314511"/>
                </a:cubicBezTo>
                <a:cubicBezTo>
                  <a:pt x="1165340" y="302124"/>
                  <a:pt x="1144451" y="296520"/>
                  <a:pt x="1127714" y="284432"/>
                </a:cubicBezTo>
                <a:cubicBezTo>
                  <a:pt x="1108139" y="270294"/>
                  <a:pt x="1093299" y="250231"/>
                  <a:pt x="1073572" y="236306"/>
                </a:cubicBezTo>
                <a:cubicBezTo>
                  <a:pt x="1058919" y="225963"/>
                  <a:pt x="1040721" y="221643"/>
                  <a:pt x="1025446" y="212243"/>
                </a:cubicBezTo>
                <a:cubicBezTo>
                  <a:pt x="929562" y="153237"/>
                  <a:pt x="928094" y="137317"/>
                  <a:pt x="832940" y="97943"/>
                </a:cubicBezTo>
                <a:cubicBezTo>
                  <a:pt x="803643" y="85820"/>
                  <a:pt x="772563" y="78528"/>
                  <a:pt x="742704" y="67864"/>
                </a:cubicBezTo>
                <a:cubicBezTo>
                  <a:pt x="589002" y="12970"/>
                  <a:pt x="740149" y="56524"/>
                  <a:pt x="586293" y="25753"/>
                </a:cubicBezTo>
                <a:cubicBezTo>
                  <a:pt x="571978" y="22890"/>
                  <a:pt x="558753" y="14633"/>
                  <a:pt x="544183" y="13722"/>
                </a:cubicBezTo>
                <a:cubicBezTo>
                  <a:pt x="494149" y="10595"/>
                  <a:pt x="443920" y="13722"/>
                  <a:pt x="393788" y="1372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Applications of clustering</a:t>
            </a:r>
          </a:p>
        </p:txBody>
      </p:sp>
      <p:pic>
        <p:nvPicPr>
          <p:cNvPr id="7" name="Picture 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580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6131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969810" y="4713676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Organize computing clusters</a:t>
            </a:r>
          </a:p>
        </p:txBody>
      </p:sp>
      <p:sp>
        <p:nvSpPr>
          <p:cNvPr id="12" name="Text Box 91"/>
          <p:cNvSpPr txBox="1">
            <a:spLocks noChangeArrowheads="1"/>
          </p:cNvSpPr>
          <p:nvPr/>
        </p:nvSpPr>
        <p:spPr bwMode="auto">
          <a:xfrm>
            <a:off x="5225383" y="2445780"/>
            <a:ext cx="2376701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Social network analysis</a:t>
            </a:r>
          </a:p>
        </p:txBody>
      </p: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688585" y="2875355"/>
            <a:ext cx="3192333" cy="1800425"/>
            <a:chOff x="243" y="2112"/>
            <a:chExt cx="2274" cy="1710"/>
          </a:xfrm>
        </p:grpSpPr>
        <p:pic>
          <p:nvPicPr>
            <p:cNvPr id="14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1775" cy="9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dirty="0"/>
                <a:t>Image credit: NASA/JPL-Caltech/E. </a:t>
              </a:r>
              <a:r>
                <a:rPr lang="en-US" sz="700" dirty="0" err="1"/>
                <a:t>Churchwell</a:t>
              </a:r>
              <a:r>
                <a:rPr lang="en-US" sz="700" dirty="0"/>
                <a:t> (Univ. of Wisconsin, Madison) </a:t>
              </a:r>
            </a:p>
          </p:txBody>
        </p:sp>
      </p:grpSp>
      <p:sp>
        <p:nvSpPr>
          <p:cNvPr id="17" name="Text Box 95"/>
          <p:cNvSpPr txBox="1">
            <a:spLocks noChangeArrowheads="1"/>
          </p:cNvSpPr>
          <p:nvPr/>
        </p:nvSpPr>
        <p:spPr bwMode="auto">
          <a:xfrm>
            <a:off x="5011467" y="4709473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Astronomical data analysis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18719" y="559018"/>
            <a:ext cx="3513813" cy="2013909"/>
            <a:chOff x="4648200" y="-19050"/>
            <a:chExt cx="3973513" cy="2277382"/>
          </a:xfrm>
        </p:grpSpPr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1" name="Straight Arrow Connector 50"/>
            <p:cNvCxnSpPr>
              <a:endCxn id="38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8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5" name="Straight Arrow Connector 54"/>
            <p:cNvCxnSpPr>
              <a:stCxn id="44" idx="1"/>
              <a:endCxn id="39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4" idx="3"/>
              <a:endCxn id="40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9" idx="1"/>
              <a:endCxn id="40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4" idx="3"/>
              <a:endCxn id="49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9" idx="3"/>
              <a:endCxn id="50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1"/>
              <a:endCxn id="40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3" idx="1"/>
              <a:endCxn id="39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3" idx="3"/>
              <a:endCxn id="45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3"/>
              <a:endCxn id="47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8" idx="3"/>
              <a:endCxn id="47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5" idx="2"/>
              <a:endCxn id="48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5" idx="2"/>
              <a:endCxn id="46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4" idx="3"/>
              <a:endCxn id="50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6" idx="1"/>
              <a:endCxn id="43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3" idx="2"/>
              <a:endCxn id="44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 Box 280"/>
          <p:cNvSpPr txBox="1">
            <a:spLocks noChangeArrowheads="1"/>
          </p:cNvSpPr>
          <p:nvPr/>
        </p:nvSpPr>
        <p:spPr bwMode="auto">
          <a:xfrm>
            <a:off x="1211930" y="2447974"/>
            <a:ext cx="237670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Market segmentation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12580" y="209550"/>
            <a:ext cx="3292086" cy="3237783"/>
            <a:chOff x="330111" y="1807705"/>
            <a:chExt cx="4016551" cy="3950298"/>
          </a:xfrm>
        </p:grpSpPr>
        <p:graphicFrame>
          <p:nvGraphicFramePr>
            <p:cNvPr id="73" name="Chart 72"/>
            <p:cNvGraphicFramePr/>
            <p:nvPr>
              <p:extLst>
                <p:ext uri="{D42A27DB-BD31-4B8C-83A1-F6EECF244321}">
                  <p14:modId xmlns:p14="http://schemas.microsoft.com/office/powerpoint/2010/main" val="335530226"/>
                </p:ext>
              </p:extLst>
            </p:nvPr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0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88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tlow\Desktop\cs229a\lectures-slides\assets\kmeansplot\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8150"/>
            <a:ext cx="56991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8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5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4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79600" y="1638000"/>
              <a:ext cx="1801440" cy="1531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9160" y="1627200"/>
                <a:ext cx="1822680" cy="15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3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2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3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Randomly initialize      cluster centroids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K-means algorithm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902" y="1366268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for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	:= </a:t>
            </a:r>
            <a:r>
              <a:rPr lang="en-US" sz="2400" dirty="0"/>
              <a:t>index (from 1 to     ) of cluster centroid </a:t>
            </a:r>
          </a:p>
          <a:p>
            <a:r>
              <a:rPr lang="en-US" sz="2400" dirty="0"/>
              <a:t>		    closest to </a:t>
            </a:r>
            <a:endParaRPr lang="en-US" sz="36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	:= </a:t>
            </a:r>
            <a:r>
              <a:rPr lang="en-US" sz="2400" dirty="0"/>
              <a:t>average (mean) of points assigned to cluster</a:t>
            </a:r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146" y="2154208"/>
            <a:ext cx="374904" cy="276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516826"/>
            <a:ext cx="420624" cy="276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70" y="3367393"/>
            <a:ext cx="297180" cy="201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1" y="1930251"/>
            <a:ext cx="230505" cy="1257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93" y="2965152"/>
            <a:ext cx="236791" cy="1906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14559"/>
            <a:ext cx="236791" cy="1906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68" y="2240124"/>
            <a:ext cx="236791" cy="190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38" y="3335494"/>
            <a:ext cx="127825" cy="1969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957729"/>
            <a:ext cx="127825" cy="1969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4" y="1875442"/>
            <a:ext cx="75438" cy="1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32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102A-1D85-452C-857B-B1AD045D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529E-CCAE-4FC5-83DA-B4BBBB77C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Need to specify the Cluster Size</a:t>
            </a:r>
          </a:p>
          <a:p>
            <a:r>
              <a:rPr lang="en-IN" dirty="0"/>
              <a:t>Sensitive to Noise</a:t>
            </a:r>
          </a:p>
          <a:p>
            <a:r>
              <a:rPr lang="en-IN" dirty="0"/>
              <a:t>The performance varies with the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327474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43D8-C8E0-469E-ADF1-85AED170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Figure">
            <a:extLst>
              <a:ext uri="{FF2B5EF4-FFF2-40B4-BE49-F238E27FC236}">
                <a16:creationId xmlns:a16="http://schemas.microsoft.com/office/drawing/2014/main" id="{CFD04D54-2CB2-4BC1-9DE4-3F97AE3133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60668"/>
            <a:ext cx="8229600" cy="307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81B4789-C50E-E674-38E9-22B9DEB62193}"/>
              </a:ext>
            </a:extLst>
          </p:cNvPr>
          <p:cNvSpPr/>
          <p:nvPr/>
        </p:nvSpPr>
        <p:spPr>
          <a:xfrm>
            <a:off x="457200" y="1276350"/>
            <a:ext cx="82296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40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5EB8-A58B-EB03-B6DE-A19FBEEC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B7D5-2301-AB79-57C3-8B77C4CE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3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E865-9BD5-E4C7-CFAB-616886F5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1852-47E8-2743-E709-6DEFD5822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Density based Spatial Clustering of Applications    in presence of Noise</a:t>
            </a:r>
          </a:p>
        </p:txBody>
      </p:sp>
    </p:spTree>
    <p:extLst>
      <p:ext uri="{BB962C8B-B14F-4D97-AF65-F5344CB8AC3E}">
        <p14:creationId xmlns:p14="http://schemas.microsoft.com/office/powerpoint/2010/main" val="3253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957E-DC11-2602-0E09-752FDC121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Working of 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5294-A968-4FA4-D18E-8F2F03EDA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472"/>
          </a:xfrm>
        </p:spPr>
        <p:txBody>
          <a:bodyPr>
            <a:normAutofit fontScale="92500"/>
          </a:bodyPr>
          <a:lstStyle/>
          <a:p>
            <a:pPr marL="0" indent="0" algn="l" fontAlgn="base">
              <a:buNone/>
            </a:pPr>
            <a:r>
              <a:rPr lang="en-US" sz="2600" b="1" i="0" dirty="0">
                <a:solidFill>
                  <a:srgbClr val="273239"/>
                </a:solidFill>
                <a:effectLst/>
                <a:latin typeface="+mj-lt"/>
              </a:rPr>
              <a:t>DBSCAN algorithm requires two parameters:</a:t>
            </a:r>
            <a:endParaRPr lang="en-US" sz="2600" b="0" i="0" dirty="0">
              <a:solidFill>
                <a:srgbClr val="273239"/>
              </a:solidFill>
              <a:effectLst/>
              <a:latin typeface="+mj-lt"/>
            </a:endParaRPr>
          </a:p>
          <a:p>
            <a:pPr algn="l" fontAlgn="base">
              <a:buFont typeface="+mj-lt"/>
              <a:buAutoNum type="arabicPeriod"/>
            </a:pPr>
            <a:r>
              <a:rPr lang="en-US" sz="2600" b="1" i="0" dirty="0">
                <a:solidFill>
                  <a:srgbClr val="273239"/>
                </a:solidFill>
                <a:effectLst/>
                <a:latin typeface="+mj-lt"/>
              </a:rPr>
              <a:t>eps</a:t>
            </a:r>
            <a:r>
              <a:rPr lang="en-US" sz="2600" b="0" i="0" dirty="0">
                <a:solidFill>
                  <a:srgbClr val="273239"/>
                </a:solidFill>
                <a:effectLst/>
                <a:latin typeface="+mj-lt"/>
              </a:rPr>
              <a:t>: It defines the neighborhood around a data point i.e. if the distance between two points is lower or equal to ‘eps’ then they are considered neighbors. </a:t>
            </a:r>
          </a:p>
          <a:p>
            <a:pPr algn="l" fontAlgn="base">
              <a:buFont typeface="+mj-lt"/>
              <a:buAutoNum type="arabicPeriod"/>
            </a:pPr>
            <a:r>
              <a:rPr lang="en-US" sz="2600" b="1" i="0" dirty="0" err="1">
                <a:solidFill>
                  <a:srgbClr val="273239"/>
                </a:solidFill>
                <a:effectLst/>
                <a:latin typeface="+mj-lt"/>
              </a:rPr>
              <a:t>MinPts</a:t>
            </a:r>
            <a:r>
              <a:rPr lang="en-US" sz="2600" b="0" i="0" dirty="0">
                <a:solidFill>
                  <a:srgbClr val="273239"/>
                </a:solidFill>
                <a:effectLst/>
                <a:latin typeface="+mj-lt"/>
              </a:rPr>
              <a:t>: Minimum number of neighbors (data points) within eps radius. </a:t>
            </a:r>
          </a:p>
          <a:p>
            <a:pPr marL="0" indent="0" algn="l" fontAlgn="base">
              <a:buNone/>
            </a:pPr>
            <a:r>
              <a:rPr lang="en-US" sz="2600" b="0" i="0" dirty="0">
                <a:solidFill>
                  <a:srgbClr val="273239"/>
                </a:solidFill>
                <a:effectLst/>
                <a:latin typeface="+mj-lt"/>
              </a:rPr>
              <a:t>As a general rule, the minimum </a:t>
            </a:r>
            <a:r>
              <a:rPr lang="en-US" sz="2600" b="0" i="0" dirty="0" err="1">
                <a:solidFill>
                  <a:srgbClr val="273239"/>
                </a:solidFill>
                <a:effectLst/>
                <a:latin typeface="+mj-lt"/>
              </a:rPr>
              <a:t>MinPts</a:t>
            </a:r>
            <a:r>
              <a:rPr lang="en-US" sz="2600" b="0" i="0" dirty="0">
                <a:solidFill>
                  <a:srgbClr val="273239"/>
                </a:solidFill>
                <a:effectLst/>
                <a:latin typeface="+mj-lt"/>
              </a:rPr>
              <a:t> can be derived from the number of dimensions D in the dataset as, </a:t>
            </a:r>
            <a:r>
              <a:rPr lang="en-US" sz="2600" b="0" i="0" dirty="0" err="1">
                <a:solidFill>
                  <a:srgbClr val="273239"/>
                </a:solidFill>
                <a:effectLst/>
                <a:latin typeface="+mj-lt"/>
              </a:rPr>
              <a:t>MinPts</a:t>
            </a:r>
            <a:r>
              <a:rPr lang="en-US" sz="2600" b="0" i="0" dirty="0">
                <a:solidFill>
                  <a:srgbClr val="273239"/>
                </a:solidFill>
                <a:effectLst/>
                <a:latin typeface="+mj-lt"/>
              </a:rPr>
              <a:t> &gt;= D+1.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82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561C-0EF4-41B4-B07D-98B00284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9550"/>
            <a:ext cx="8229600" cy="857250"/>
          </a:xfrm>
        </p:spPr>
        <p:txBody>
          <a:bodyPr>
            <a:noAutofit/>
          </a:bodyPr>
          <a:lstStyle/>
          <a:p>
            <a:r>
              <a:rPr lang="en-US" sz="280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Density-based spatial clustering of applications with noise (DBSCAN) 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B413-9A8F-4CF9-BF21-A887FC839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Algorithmic steps for DBSCAN clustering</a:t>
            </a:r>
            <a:endParaRPr lang="en-US" b="0" i="0" dirty="0">
              <a:solidFill>
                <a:srgbClr val="111111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The algorithm proceeds by arbitrarily picking up a point in the dataset (until all points have been visited).</a:t>
            </a:r>
          </a:p>
          <a:p>
            <a:pPr marL="914400" lvl="2" indent="0">
              <a:buNone/>
            </a:pPr>
            <a:endParaRPr lang="en-US" b="0" i="0" dirty="0">
              <a:solidFill>
                <a:srgbClr val="111111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If there are at least ‘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minPoint</a:t>
            </a:r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’ points within a radius of ‘ε’ to the point then we consider all these points to be part of the same cluster.</a:t>
            </a:r>
          </a:p>
          <a:p>
            <a:pPr marL="914400" lvl="2" indent="0">
              <a:buNone/>
            </a:pPr>
            <a:endParaRPr lang="en-US" b="0" i="0" dirty="0">
              <a:solidFill>
                <a:srgbClr val="111111"/>
              </a:solidFill>
              <a:effectLst/>
              <a:latin typeface="open sans" panose="020B0606030504020204" pitchFamily="34" charset="0"/>
            </a:endParaRPr>
          </a:p>
          <a:p>
            <a:pPr lvl="2"/>
            <a:r>
              <a:rPr lang="en-US" b="0" i="0" dirty="0">
                <a:solidFill>
                  <a:srgbClr val="111111"/>
                </a:solidFill>
                <a:effectLst/>
                <a:latin typeface="open sans" panose="020B0606030504020204" pitchFamily="34" charset="0"/>
              </a:rPr>
              <a:t>The clusters are then expanded by recursively repeating the neighborhood calculation for each neighboring 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10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5938-331D-FCE4-44C2-E89A8941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rgbClr val="FF0000"/>
                </a:solidFill>
              </a:rPr>
              <a:t>About Data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A4943-87CD-DE7A-3F42-821928946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51054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273239"/>
                </a:solidFill>
                <a:effectLst/>
                <a:latin typeface="Nunito" pitchFamily="2" charset="0"/>
              </a:rPr>
              <a:t>In this algorithm, we have 3 types of data points.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1600" b="1" i="1" dirty="0">
                <a:solidFill>
                  <a:srgbClr val="FF0000"/>
                </a:solidFill>
                <a:effectLst/>
                <a:latin typeface="Nunito" pitchFamily="2" charset="0"/>
              </a:rPr>
              <a:t>Core Point</a:t>
            </a:r>
            <a:r>
              <a:rPr lang="en-US" sz="1600" b="0" i="1" dirty="0">
                <a:solidFill>
                  <a:srgbClr val="FF0000"/>
                </a:solidFill>
                <a:effectLst/>
                <a:latin typeface="Nunito" pitchFamily="2" charset="0"/>
              </a:rPr>
              <a:t>: </a:t>
            </a:r>
            <a:r>
              <a:rPr lang="en-US" sz="1600" b="0" i="1" dirty="0">
                <a:solidFill>
                  <a:srgbClr val="273239"/>
                </a:solidFill>
                <a:effectLst/>
                <a:latin typeface="Nunito" pitchFamily="2" charset="0"/>
              </a:rPr>
              <a:t>A point is a core point if it has more than </a:t>
            </a:r>
            <a:r>
              <a:rPr lang="en-US" sz="1600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MinPts</a:t>
            </a:r>
            <a:r>
              <a:rPr lang="en-US" sz="1600" b="0" i="1" dirty="0">
                <a:solidFill>
                  <a:srgbClr val="273239"/>
                </a:solidFill>
                <a:effectLst/>
                <a:latin typeface="Nunito" pitchFamily="2" charset="0"/>
              </a:rPr>
              <a:t> points within eps. 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1600" b="1" i="1" dirty="0">
                <a:solidFill>
                  <a:srgbClr val="FF0000"/>
                </a:solidFill>
                <a:effectLst/>
                <a:latin typeface="Nunito" pitchFamily="2" charset="0"/>
              </a:rPr>
              <a:t>Border Point</a:t>
            </a:r>
            <a:r>
              <a:rPr lang="en-US" sz="1600" b="0" i="1" dirty="0">
                <a:solidFill>
                  <a:srgbClr val="FF0000"/>
                </a:solidFill>
                <a:effectLst/>
                <a:latin typeface="Nunito" pitchFamily="2" charset="0"/>
              </a:rPr>
              <a:t>: </a:t>
            </a:r>
            <a:r>
              <a:rPr lang="en-US" sz="1600" b="0" i="1" dirty="0">
                <a:solidFill>
                  <a:srgbClr val="273239"/>
                </a:solidFill>
                <a:effectLst/>
                <a:latin typeface="Nunito" pitchFamily="2" charset="0"/>
              </a:rPr>
              <a:t>A point that has fewer than </a:t>
            </a:r>
            <a:r>
              <a:rPr lang="en-US" sz="1600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MinPts</a:t>
            </a:r>
            <a:r>
              <a:rPr lang="en-US" sz="1600" b="0" i="1" dirty="0">
                <a:solidFill>
                  <a:srgbClr val="273239"/>
                </a:solidFill>
                <a:effectLst/>
                <a:latin typeface="Nunito" pitchFamily="2" charset="0"/>
              </a:rPr>
              <a:t> within eps but it is in the neighborhood of a core point. 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1600" b="1" i="1" dirty="0">
                <a:solidFill>
                  <a:srgbClr val="FF0000"/>
                </a:solidFill>
                <a:effectLst/>
                <a:latin typeface="Nunito" pitchFamily="2" charset="0"/>
              </a:rPr>
              <a:t>Noise or outlier</a:t>
            </a:r>
            <a:r>
              <a:rPr lang="en-US" sz="1600" b="0" i="1" dirty="0">
                <a:solidFill>
                  <a:srgbClr val="FF0000"/>
                </a:solidFill>
                <a:effectLst/>
                <a:latin typeface="Nunito" pitchFamily="2" charset="0"/>
              </a:rPr>
              <a:t>: </a:t>
            </a:r>
          </a:p>
          <a:p>
            <a:pPr marL="0" indent="0">
              <a:buNone/>
            </a:pPr>
            <a:r>
              <a:rPr lang="en-US" sz="1600" b="0" i="1" dirty="0">
                <a:solidFill>
                  <a:srgbClr val="273239"/>
                </a:solidFill>
                <a:effectLst/>
                <a:latin typeface="Nunito" pitchFamily="2" charset="0"/>
              </a:rPr>
              <a:t>A point that is not a core point or border point.</a:t>
            </a:r>
            <a:endParaRPr lang="en-IN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D17623-820F-A199-6DC2-F8FAB2653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46863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71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gure">
            <a:extLst>
              <a:ext uri="{FF2B5EF4-FFF2-40B4-BE49-F238E27FC236}">
                <a16:creationId xmlns:a16="http://schemas.microsoft.com/office/drawing/2014/main" id="{B08AB23B-01AC-4F95-9748-196DC7AF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552450"/>
            <a:ext cx="64293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483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43D8-C8E0-469E-ADF1-85AED170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DBSCAN()</a:t>
            </a:r>
          </a:p>
        </p:txBody>
      </p:sp>
      <p:pic>
        <p:nvPicPr>
          <p:cNvPr id="1026" name="Picture 2" descr="Figure">
            <a:extLst>
              <a:ext uri="{FF2B5EF4-FFF2-40B4-BE49-F238E27FC236}">
                <a16:creationId xmlns:a16="http://schemas.microsoft.com/office/drawing/2014/main" id="{CFD04D54-2CB2-4BC1-9DE4-3F97AE3133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60668"/>
            <a:ext cx="8229600" cy="307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1368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2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5174</TotalTime>
  <Words>423</Words>
  <Application>Microsoft Office PowerPoint</Application>
  <PresentationFormat>On-screen Show (16:9)</PresentationFormat>
  <Paragraphs>57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Nunito</vt:lpstr>
      <vt:lpstr>open sans</vt:lpstr>
      <vt:lpstr>1_Lecture</vt:lpstr>
      <vt:lpstr>2_Office Theme</vt:lpstr>
      <vt:lpstr>3_Office Theme</vt:lpstr>
      <vt:lpstr>2_Lecture</vt:lpstr>
      <vt:lpstr>    K-Means &amp; DBSCAN Algorithm   Artificial Neural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Drawbacks</vt:lpstr>
      <vt:lpstr>PowerPoint Presentation</vt:lpstr>
      <vt:lpstr>PowerPoint Presentation</vt:lpstr>
      <vt:lpstr>DBSCAN</vt:lpstr>
      <vt:lpstr>Working of DBSCAN</vt:lpstr>
      <vt:lpstr>Density-based spatial clustering of applications with noise (DBSCAN) </vt:lpstr>
      <vt:lpstr>About Data Points</vt:lpstr>
      <vt:lpstr>PowerPoint Presentation</vt:lpstr>
      <vt:lpstr>DBSCAN()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Bharath Ramkrishna</cp:lastModifiedBy>
  <cp:revision>650</cp:revision>
  <dcterms:created xsi:type="dcterms:W3CDTF">2010-07-08T21:59:02Z</dcterms:created>
  <dcterms:modified xsi:type="dcterms:W3CDTF">2024-05-06T06:20:39Z</dcterms:modified>
</cp:coreProperties>
</file>