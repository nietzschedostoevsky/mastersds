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5143500" cx="9144000"/>
  <p:notesSz cx="6858000" cy="9144000"/>
  <p:embeddedFontLst>
    <p:embeddedFont>
      <p:font typeface="Anton"/>
      <p:regular r:id="rId62"/>
    </p:embeddedFont>
    <p:embeddedFont>
      <p:font typeface="Inter SemiBold"/>
      <p:regular r:id="rId63"/>
      <p:bold r:id="rId64"/>
      <p:italic r:id="rId65"/>
      <p:boldItalic r:id="rId66"/>
    </p:embeddedFont>
    <p:embeddedFont>
      <p:font typeface="Gloock"/>
      <p:regular r:id="rId67"/>
    </p:embeddedFont>
    <p:embeddedFont>
      <p:font typeface="Inter"/>
      <p:regular r:id="rId68"/>
      <p:bold r:id="rId69"/>
      <p:italic r:id="rId70"/>
      <p:boldItalic r:id="rId71"/>
    </p:embeddedFont>
    <p:embeddedFont>
      <p:font typeface="Dela Gothic One"/>
      <p:regular r:id="rId72"/>
    </p:embeddedFont>
    <p:embeddedFont>
      <p:font typeface="Inter ExtraBold"/>
      <p:bold r:id="rId73"/>
      <p:boldItalic r:id="rId74"/>
    </p:embeddedFont>
    <p:embeddedFont>
      <p:font typeface="Oswald"/>
      <p:bold r:id="rId75"/>
    </p:embeddedFont>
    <p:embeddedFont>
      <p:font typeface="Roboto Mono"/>
      <p:bold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F19B31-E200-4FD4-903F-706B4E4ADD70}">
  <a:tblStyle styleId="{91F19B31-E200-4FD4-903F-706B4E4ADD7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9266860-3246-408D-9DE9-BDC01F86C76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InterExtraBold-bold.fntdata"/><Relationship Id="rId72" Type="http://schemas.openxmlformats.org/officeDocument/2006/relationships/font" Target="fonts/DelaGothicOne-regular.fntdata"/><Relationship Id="rId31" Type="http://schemas.openxmlformats.org/officeDocument/2006/relationships/slide" Target="slides/slide25.xml"/><Relationship Id="rId75" Type="http://schemas.openxmlformats.org/officeDocument/2006/relationships/font" Target="fonts/Oswald-bold.fntdata"/><Relationship Id="rId30" Type="http://schemas.openxmlformats.org/officeDocument/2006/relationships/slide" Target="slides/slide24.xml"/><Relationship Id="rId74" Type="http://schemas.openxmlformats.org/officeDocument/2006/relationships/font" Target="fonts/InterExtraBold-boldItalic.fntdata"/><Relationship Id="rId33" Type="http://schemas.openxmlformats.org/officeDocument/2006/relationships/slide" Target="slides/slide27.xml"/><Relationship Id="rId77" Type="http://schemas.openxmlformats.org/officeDocument/2006/relationships/font" Target="fonts/RobotoMono-boldItalic.fntdata"/><Relationship Id="rId32" Type="http://schemas.openxmlformats.org/officeDocument/2006/relationships/slide" Target="slides/slide26.xml"/><Relationship Id="rId76" Type="http://schemas.openxmlformats.org/officeDocument/2006/relationships/font" Target="fonts/RobotoMono-bold.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Inter-boldItalic.fntdata"/><Relationship Id="rId70" Type="http://schemas.openxmlformats.org/officeDocument/2006/relationships/font" Target="fonts/Inter-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Anton-regular.fntdata"/><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InterSemiBold-bold.fntdata"/><Relationship Id="rId63" Type="http://schemas.openxmlformats.org/officeDocument/2006/relationships/font" Target="fonts/InterSemiBold-regular.fntdata"/><Relationship Id="rId22" Type="http://schemas.openxmlformats.org/officeDocument/2006/relationships/slide" Target="slides/slide16.xml"/><Relationship Id="rId66" Type="http://schemas.openxmlformats.org/officeDocument/2006/relationships/font" Target="fonts/InterSemiBold-boldItalic.fntdata"/><Relationship Id="rId21" Type="http://schemas.openxmlformats.org/officeDocument/2006/relationships/slide" Target="slides/slide15.xml"/><Relationship Id="rId65" Type="http://schemas.openxmlformats.org/officeDocument/2006/relationships/font" Target="fonts/InterSemiBold-italic.fntdata"/><Relationship Id="rId24" Type="http://schemas.openxmlformats.org/officeDocument/2006/relationships/slide" Target="slides/slide18.xml"/><Relationship Id="rId68" Type="http://schemas.openxmlformats.org/officeDocument/2006/relationships/font" Target="fonts/Inter-regular.fntdata"/><Relationship Id="rId23" Type="http://schemas.openxmlformats.org/officeDocument/2006/relationships/slide" Target="slides/slide17.xml"/><Relationship Id="rId67" Type="http://schemas.openxmlformats.org/officeDocument/2006/relationships/font" Target="fonts/Gloock-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Inter-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918c58685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918c58685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1c4115d8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1c4115d8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1c4115d8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1c4115d8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1c4115d8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1c4115d8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17446b860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17446b860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17446b86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17446b86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91c9bc121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91c9bc121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91c9bc121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91c9bc121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e91c9bc121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e91c9bc121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924290b5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924290b5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924290b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e924290b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924290b5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e924290b5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924290b5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924290b5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924290b5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e924290b5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924290b5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e924290b5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924290b5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e924290b5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17446b860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17446b860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924290b5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924290b5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924290b5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e924290b5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924290b5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e924290b5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924290b5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e924290b5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e924290b5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e924290b5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924290b5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924290b5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924290b5b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e924290b5b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17446b86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17446b86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17446b860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e17446b860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17446b860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e17446b860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918c58685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e918c58685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e918c58685_2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e918c58685_2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e17446b860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e17446b860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1c4115d8e_2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e1c4115d8e_2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e1bee62568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e1bee62568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e1bee6256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e1bee6256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e1c4115d8e_2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e1c4115d8e_2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e1c4115d8e_26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e1c4115d8e_26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e1c4115d8e_2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e1c4115d8e_2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e1c4115d8e_26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e1c4115d8e_26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e1c4115d8e_26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e1c4115d8e_26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e1c4115d8e_26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e1c4115d8e_26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1c4115d8e_26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e1c4115d8e_26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e1c4115d8e_26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e1c4115d8e_26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e1c4115d8e_26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e1c4115d8e_26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e1c4115d8e_26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e1c4115d8e_26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e1c4115d8e_26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e1c4115d8e_26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e1c9ef646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e1c9ef646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e17446b860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e17446b860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e1c9ef646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e1c9ef646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e1c4115d8e_26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e1c4115d8e_26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e1c4115d8e_26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e1c4115d8e_26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e1c4115d8e_26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e1c4115d8e_26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e1c4115d8e_26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e1c4115d8e_26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e1c4115d8e_26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e1c4115d8e_26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e1c4115d8e_26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e1c4115d8e_26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e1c4115d8e_26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e1c4115d8e_26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8.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0.jp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2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8111325" y="213454"/>
            <a:ext cx="762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4800">
                <a:solidFill>
                  <a:srgbClr val="38BDF8"/>
                </a:solidFill>
                <a:latin typeface="Material Icons"/>
                <a:ea typeface="Material Icons"/>
                <a:cs typeface="Material Icons"/>
                <a:sym typeface="Material Icons"/>
              </a:rPr>
              <a:t>settings_suggest</a:t>
            </a:r>
            <a:endParaRPr sz="4800">
              <a:solidFill>
                <a:srgbClr val="38BDF8"/>
              </a:solidFill>
              <a:latin typeface="Material Icons"/>
              <a:ea typeface="Material Icons"/>
              <a:cs typeface="Material Icons"/>
              <a:sym typeface="Material Icons"/>
            </a:endParaRPr>
          </a:p>
        </p:txBody>
      </p:sp>
      <p:sp>
        <p:nvSpPr>
          <p:cNvPr id="55" name="Google Shape;55;p13"/>
          <p:cNvSpPr txBox="1"/>
          <p:nvPr>
            <p:ph type="ctrTitle"/>
          </p:nvPr>
        </p:nvSpPr>
        <p:spPr>
          <a:xfrm>
            <a:off x="762000" y="762000"/>
            <a:ext cx="7620000" cy="171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3600">
                <a:solidFill>
                  <a:srgbClr val="F8FAFC"/>
                </a:solidFill>
                <a:latin typeface="Oswald"/>
                <a:ea typeface="Oswald"/>
                <a:cs typeface="Oswald"/>
                <a:sym typeface="Oswald"/>
              </a:rPr>
              <a:t>A Supervised Framework for Recognition of Liquid Rocket Engine Health State Without Fault Samples</a:t>
            </a:r>
            <a:endParaRPr b="1" i="0" sz="3600">
              <a:solidFill>
                <a:srgbClr val="F8FAFC"/>
              </a:solidFill>
              <a:latin typeface="Oswald"/>
              <a:ea typeface="Oswald"/>
              <a:cs typeface="Oswald"/>
              <a:sym typeface="Oswald"/>
            </a:endParaRPr>
          </a:p>
        </p:txBody>
      </p:sp>
      <p:sp>
        <p:nvSpPr>
          <p:cNvPr id="56" name="Google Shape;56;p13"/>
          <p:cNvSpPr txBox="1"/>
          <p:nvPr>
            <p:ph idx="1" type="subTitle"/>
          </p:nvPr>
        </p:nvSpPr>
        <p:spPr>
          <a:xfrm>
            <a:off x="762000" y="3009800"/>
            <a:ext cx="7620000" cy="19050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ctr">
              <a:spcBef>
                <a:spcPts val="0"/>
              </a:spcBef>
              <a:spcAft>
                <a:spcPts val="0"/>
              </a:spcAft>
              <a:buNone/>
            </a:pPr>
            <a:r>
              <a:rPr b="1" i="0" lang="en" sz="1600">
                <a:solidFill>
                  <a:srgbClr val="38BDF8"/>
                </a:solidFill>
                <a:latin typeface="Roboto Mono"/>
                <a:ea typeface="Roboto Mono"/>
                <a:cs typeface="Roboto Mono"/>
                <a:sym typeface="Roboto Mono"/>
              </a:rPr>
              <a:t>PROJECT TEAM</a:t>
            </a:r>
            <a:endParaRPr b="1" i="0" sz="1600">
              <a:solidFill>
                <a:srgbClr val="38BDF8"/>
              </a:solidFill>
              <a:latin typeface="Roboto Mono"/>
              <a:ea typeface="Roboto Mono"/>
              <a:cs typeface="Roboto Mono"/>
              <a:sym typeface="Roboto Mono"/>
            </a:endParaRPr>
          </a:p>
          <a:p>
            <a:pPr indent="0" lvl="0" marL="0" rtl="0" algn="ctr">
              <a:spcBef>
                <a:spcPts val="1125"/>
              </a:spcBef>
              <a:spcAft>
                <a:spcPts val="0"/>
              </a:spcAft>
              <a:buNone/>
            </a:pPr>
            <a:r>
              <a:rPr b="0" i="0" lang="en" sz="1400">
                <a:solidFill>
                  <a:srgbClr val="94A3B8"/>
                </a:solidFill>
                <a:latin typeface="Roboto Mono"/>
                <a:ea typeface="Roboto Mono"/>
                <a:cs typeface="Roboto Mono"/>
                <a:sym typeface="Roboto Mono"/>
              </a:rPr>
              <a:t>SAURABH KUMAR SINGH </a:t>
            </a:r>
            <a:r>
              <a:rPr b="0" i="0" lang="en" sz="1400">
                <a:solidFill>
                  <a:srgbClr val="94A3B8"/>
                </a:solidFill>
                <a:latin typeface="Roboto Mono"/>
                <a:ea typeface="Roboto Mono"/>
                <a:cs typeface="Roboto Mono"/>
                <a:sym typeface="Roboto Mono"/>
              </a:rPr>
              <a:t>//</a:t>
            </a:r>
            <a:r>
              <a:rPr b="0" i="0" lang="en" sz="1400">
                <a:solidFill>
                  <a:srgbClr val="94A3B8"/>
                </a:solidFill>
                <a:latin typeface="Roboto Mono"/>
                <a:ea typeface="Roboto Mono"/>
                <a:cs typeface="Roboto Mono"/>
                <a:sym typeface="Roboto Mono"/>
              </a:rPr>
              <a:t> </a:t>
            </a:r>
            <a:r>
              <a:rPr b="0" i="0" lang="en" sz="1400">
                <a:solidFill>
                  <a:srgbClr val="F8FAFC"/>
                </a:solidFill>
                <a:latin typeface="Roboto Mono"/>
                <a:ea typeface="Roboto Mono"/>
                <a:cs typeface="Roboto Mono"/>
                <a:sym typeface="Roboto Mono"/>
              </a:rPr>
              <a:t>25</a:t>
            </a:r>
            <a:r>
              <a:rPr lang="en" sz="1400">
                <a:solidFill>
                  <a:srgbClr val="F8FAFC"/>
                </a:solidFill>
                <a:latin typeface="Roboto Mono"/>
                <a:ea typeface="Roboto Mono"/>
                <a:cs typeface="Roboto Mono"/>
                <a:sym typeface="Roboto Mono"/>
              </a:rPr>
              <a:t>-</a:t>
            </a:r>
            <a:r>
              <a:rPr b="0" i="0" lang="en" sz="1400">
                <a:solidFill>
                  <a:srgbClr val="F8FAFC"/>
                </a:solidFill>
                <a:latin typeface="Roboto Mono"/>
                <a:ea typeface="Roboto Mono"/>
                <a:cs typeface="Roboto Mono"/>
                <a:sym typeface="Roboto Mono"/>
              </a:rPr>
              <a:t>27</a:t>
            </a:r>
            <a:r>
              <a:rPr lang="en" sz="1400">
                <a:solidFill>
                  <a:srgbClr val="F8FAFC"/>
                </a:solidFill>
                <a:latin typeface="Roboto Mono"/>
                <a:ea typeface="Roboto Mono"/>
                <a:cs typeface="Roboto Mono"/>
                <a:sym typeface="Roboto Mono"/>
              </a:rPr>
              <a:t>-</a:t>
            </a:r>
            <a:r>
              <a:rPr b="0" i="0" lang="en" sz="1400">
                <a:solidFill>
                  <a:srgbClr val="F8FAFC"/>
                </a:solidFill>
                <a:latin typeface="Roboto Mono"/>
                <a:ea typeface="Roboto Mono"/>
                <a:cs typeface="Roboto Mono"/>
                <a:sym typeface="Roboto Mono"/>
              </a:rPr>
              <a:t>05</a:t>
            </a:r>
            <a:endParaRPr b="0" i="0" sz="1400">
              <a:solidFill>
                <a:srgbClr val="94A3B8"/>
              </a:solidFill>
              <a:latin typeface="Roboto Mono"/>
              <a:ea typeface="Roboto Mono"/>
              <a:cs typeface="Roboto Mono"/>
              <a:sym typeface="Roboto Mono"/>
            </a:endParaRPr>
          </a:p>
          <a:p>
            <a:pPr indent="0" lvl="0" marL="0" rtl="0" algn="ctr">
              <a:spcBef>
                <a:spcPts val="600"/>
              </a:spcBef>
              <a:spcAft>
                <a:spcPts val="0"/>
              </a:spcAft>
              <a:buNone/>
            </a:pPr>
            <a:r>
              <a:rPr b="0" i="0" lang="en" sz="1400">
                <a:solidFill>
                  <a:srgbClr val="94A3B8"/>
                </a:solidFill>
                <a:latin typeface="Roboto Mono"/>
                <a:ea typeface="Roboto Mono"/>
                <a:cs typeface="Roboto Mono"/>
                <a:sym typeface="Roboto Mono"/>
              </a:rPr>
              <a:t>SHAURYA VARDHAN SINGH KARAKOTI </a:t>
            </a:r>
            <a:r>
              <a:rPr b="0" i="0" lang="en" sz="1400">
                <a:solidFill>
                  <a:srgbClr val="94A3B8"/>
                </a:solidFill>
                <a:latin typeface="Roboto Mono"/>
                <a:ea typeface="Roboto Mono"/>
                <a:cs typeface="Roboto Mono"/>
                <a:sym typeface="Roboto Mono"/>
              </a:rPr>
              <a:t>//</a:t>
            </a:r>
            <a:r>
              <a:rPr b="0" i="0" lang="en" sz="1400">
                <a:solidFill>
                  <a:srgbClr val="94A3B8"/>
                </a:solidFill>
                <a:latin typeface="Roboto Mono"/>
                <a:ea typeface="Roboto Mono"/>
                <a:cs typeface="Roboto Mono"/>
                <a:sym typeface="Roboto Mono"/>
              </a:rPr>
              <a:t> </a:t>
            </a:r>
            <a:r>
              <a:rPr b="0" i="0" lang="en" sz="1400">
                <a:solidFill>
                  <a:srgbClr val="F8FAFC"/>
                </a:solidFill>
                <a:latin typeface="Roboto Mono"/>
                <a:ea typeface="Roboto Mono"/>
                <a:cs typeface="Roboto Mono"/>
                <a:sym typeface="Roboto Mono"/>
              </a:rPr>
              <a:t>25</a:t>
            </a:r>
            <a:r>
              <a:rPr lang="en" sz="1400">
                <a:solidFill>
                  <a:srgbClr val="F8FAFC"/>
                </a:solidFill>
                <a:latin typeface="Roboto Mono"/>
                <a:ea typeface="Roboto Mono"/>
                <a:cs typeface="Roboto Mono"/>
                <a:sym typeface="Roboto Mono"/>
              </a:rPr>
              <a:t>-</a:t>
            </a:r>
            <a:r>
              <a:rPr b="0" i="0" lang="en" sz="1400">
                <a:solidFill>
                  <a:srgbClr val="F8FAFC"/>
                </a:solidFill>
                <a:latin typeface="Roboto Mono"/>
                <a:ea typeface="Roboto Mono"/>
                <a:cs typeface="Roboto Mono"/>
                <a:sym typeface="Roboto Mono"/>
              </a:rPr>
              <a:t>27</a:t>
            </a:r>
            <a:r>
              <a:rPr lang="en" sz="1400">
                <a:solidFill>
                  <a:srgbClr val="F8FAFC"/>
                </a:solidFill>
                <a:latin typeface="Roboto Mono"/>
                <a:ea typeface="Roboto Mono"/>
                <a:cs typeface="Roboto Mono"/>
                <a:sym typeface="Roboto Mono"/>
              </a:rPr>
              <a:t>-</a:t>
            </a:r>
            <a:r>
              <a:rPr b="0" i="0" lang="en" sz="1400">
                <a:solidFill>
                  <a:srgbClr val="F8FAFC"/>
                </a:solidFill>
                <a:latin typeface="Roboto Mono"/>
                <a:ea typeface="Roboto Mono"/>
                <a:cs typeface="Roboto Mono"/>
                <a:sym typeface="Roboto Mono"/>
              </a:rPr>
              <a:t>06</a:t>
            </a:r>
            <a:endParaRPr b="0" i="0" sz="1400">
              <a:solidFill>
                <a:srgbClr val="94A3B8"/>
              </a:solidFill>
              <a:latin typeface="Roboto Mono"/>
              <a:ea typeface="Roboto Mono"/>
              <a:cs typeface="Roboto Mono"/>
              <a:sym typeface="Roboto Mono"/>
            </a:endParaRPr>
          </a:p>
          <a:p>
            <a:pPr indent="0" lvl="0" marL="0" rtl="0" algn="ctr">
              <a:spcBef>
                <a:spcPts val="600"/>
              </a:spcBef>
              <a:spcAft>
                <a:spcPts val="0"/>
              </a:spcAft>
              <a:buNone/>
            </a:pPr>
            <a:r>
              <a:rPr b="0" i="0" lang="en" sz="1400">
                <a:solidFill>
                  <a:srgbClr val="94A3B8"/>
                </a:solidFill>
                <a:latin typeface="Roboto Mono"/>
                <a:ea typeface="Roboto Mono"/>
                <a:cs typeface="Roboto Mono"/>
                <a:sym typeface="Roboto Mono"/>
              </a:rPr>
              <a:t>ARPITA DAS </a:t>
            </a:r>
            <a:r>
              <a:rPr b="0" i="0" lang="en" sz="1400">
                <a:solidFill>
                  <a:srgbClr val="94A3B8"/>
                </a:solidFill>
                <a:latin typeface="Roboto Mono"/>
                <a:ea typeface="Roboto Mono"/>
                <a:cs typeface="Roboto Mono"/>
                <a:sym typeface="Roboto Mono"/>
              </a:rPr>
              <a:t>//</a:t>
            </a:r>
            <a:r>
              <a:rPr b="0" i="0" lang="en" sz="1400">
                <a:solidFill>
                  <a:srgbClr val="94A3B8"/>
                </a:solidFill>
                <a:latin typeface="Roboto Mono"/>
                <a:ea typeface="Roboto Mono"/>
                <a:cs typeface="Roboto Mono"/>
                <a:sym typeface="Roboto Mono"/>
              </a:rPr>
              <a:t> </a:t>
            </a:r>
            <a:r>
              <a:rPr b="0" i="0" lang="en" sz="1400">
                <a:solidFill>
                  <a:srgbClr val="F8FAFC"/>
                </a:solidFill>
                <a:latin typeface="Roboto Mono"/>
                <a:ea typeface="Roboto Mono"/>
                <a:cs typeface="Roboto Mono"/>
                <a:sym typeface="Roboto Mono"/>
              </a:rPr>
              <a:t>25</a:t>
            </a:r>
            <a:r>
              <a:rPr lang="en" sz="1400">
                <a:solidFill>
                  <a:srgbClr val="F8FAFC"/>
                </a:solidFill>
                <a:latin typeface="Roboto Mono"/>
                <a:ea typeface="Roboto Mono"/>
                <a:cs typeface="Roboto Mono"/>
                <a:sym typeface="Roboto Mono"/>
              </a:rPr>
              <a:t>-</a:t>
            </a:r>
            <a:r>
              <a:rPr b="0" i="0" lang="en" sz="1400">
                <a:solidFill>
                  <a:srgbClr val="F8FAFC"/>
                </a:solidFill>
                <a:latin typeface="Roboto Mono"/>
                <a:ea typeface="Roboto Mono"/>
                <a:cs typeface="Roboto Mono"/>
                <a:sym typeface="Roboto Mono"/>
              </a:rPr>
              <a:t>27</a:t>
            </a:r>
            <a:r>
              <a:rPr lang="en" sz="1400">
                <a:solidFill>
                  <a:srgbClr val="F8FAFC"/>
                </a:solidFill>
                <a:latin typeface="Roboto Mono"/>
                <a:ea typeface="Roboto Mono"/>
                <a:cs typeface="Roboto Mono"/>
                <a:sym typeface="Roboto Mono"/>
              </a:rPr>
              <a:t>-</a:t>
            </a:r>
            <a:r>
              <a:rPr b="0" i="0" lang="en" sz="1400">
                <a:solidFill>
                  <a:srgbClr val="F8FAFC"/>
                </a:solidFill>
                <a:latin typeface="Roboto Mono"/>
                <a:ea typeface="Roboto Mono"/>
                <a:cs typeface="Roboto Mono"/>
                <a:sym typeface="Roboto Mono"/>
              </a:rPr>
              <a:t>07</a:t>
            </a:r>
            <a:endParaRPr b="0" i="0" sz="1400">
              <a:solidFill>
                <a:srgbClr val="94A3B8"/>
              </a:solidFill>
              <a:latin typeface="Roboto Mono"/>
              <a:ea typeface="Roboto Mono"/>
              <a:cs typeface="Roboto Mono"/>
              <a:sym typeface="Roboto Mono"/>
            </a:endParaRPr>
          </a:p>
          <a:p>
            <a:pPr indent="0" lvl="0" marL="0" rtl="0" algn="ctr">
              <a:spcBef>
                <a:spcPts val="600"/>
              </a:spcBef>
              <a:spcAft>
                <a:spcPts val="0"/>
              </a:spcAft>
              <a:buNone/>
            </a:pPr>
            <a:r>
              <a:rPr b="0" i="0" lang="en" sz="1400">
                <a:solidFill>
                  <a:srgbClr val="94A3B8"/>
                </a:solidFill>
                <a:latin typeface="Roboto Mono"/>
                <a:ea typeface="Roboto Mono"/>
                <a:cs typeface="Roboto Mono"/>
                <a:sym typeface="Roboto Mono"/>
              </a:rPr>
              <a:t>SACHIN </a:t>
            </a:r>
            <a:r>
              <a:rPr b="0" i="0" lang="en" sz="1400">
                <a:solidFill>
                  <a:srgbClr val="94A3B8"/>
                </a:solidFill>
                <a:latin typeface="Roboto Mono"/>
                <a:ea typeface="Roboto Mono"/>
                <a:cs typeface="Roboto Mono"/>
                <a:sym typeface="Roboto Mono"/>
              </a:rPr>
              <a:t>//</a:t>
            </a:r>
            <a:r>
              <a:rPr b="0" i="0" lang="en" sz="1400">
                <a:solidFill>
                  <a:srgbClr val="94A3B8"/>
                </a:solidFill>
                <a:latin typeface="Roboto Mono"/>
                <a:ea typeface="Roboto Mono"/>
                <a:cs typeface="Roboto Mono"/>
                <a:sym typeface="Roboto Mono"/>
              </a:rPr>
              <a:t> </a:t>
            </a:r>
            <a:r>
              <a:rPr b="0" i="0" lang="en" sz="1400">
                <a:solidFill>
                  <a:srgbClr val="F8FAFC"/>
                </a:solidFill>
                <a:latin typeface="Roboto Mono"/>
                <a:ea typeface="Roboto Mono"/>
                <a:cs typeface="Roboto Mono"/>
                <a:sym typeface="Roboto Mono"/>
              </a:rPr>
              <a:t>25</a:t>
            </a:r>
            <a:r>
              <a:rPr lang="en" sz="1400">
                <a:solidFill>
                  <a:srgbClr val="F8FAFC"/>
                </a:solidFill>
                <a:latin typeface="Roboto Mono"/>
                <a:ea typeface="Roboto Mono"/>
                <a:cs typeface="Roboto Mono"/>
                <a:sym typeface="Roboto Mono"/>
              </a:rPr>
              <a:t>-</a:t>
            </a:r>
            <a:r>
              <a:rPr b="0" i="0" lang="en" sz="1400">
                <a:solidFill>
                  <a:srgbClr val="F8FAFC"/>
                </a:solidFill>
                <a:latin typeface="Roboto Mono"/>
                <a:ea typeface="Roboto Mono"/>
                <a:cs typeface="Roboto Mono"/>
                <a:sym typeface="Roboto Mono"/>
              </a:rPr>
              <a:t>27</a:t>
            </a:r>
            <a:r>
              <a:rPr lang="en" sz="1400">
                <a:solidFill>
                  <a:srgbClr val="F8FAFC"/>
                </a:solidFill>
                <a:latin typeface="Roboto Mono"/>
                <a:ea typeface="Roboto Mono"/>
                <a:cs typeface="Roboto Mono"/>
                <a:sym typeface="Roboto Mono"/>
              </a:rPr>
              <a:t>-</a:t>
            </a:r>
            <a:r>
              <a:rPr b="0" i="0" lang="en" sz="1400">
                <a:solidFill>
                  <a:srgbClr val="F8FAFC"/>
                </a:solidFill>
                <a:latin typeface="Roboto Mono"/>
                <a:ea typeface="Roboto Mono"/>
                <a:cs typeface="Roboto Mono"/>
                <a:sym typeface="Roboto Mono"/>
              </a:rPr>
              <a:t>08</a:t>
            </a:r>
            <a:endParaRPr b="0" i="0" sz="1400">
              <a:solidFill>
                <a:srgbClr val="94A3B8"/>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 conceptual </a:t>
            </a:r>
            <a:r>
              <a:rPr lang="en"/>
              <a:t>reproduction</a:t>
            </a:r>
            <a:r>
              <a:rPr lang="en"/>
              <a:t> of novelty introduced in the article</a:t>
            </a:r>
            <a:endParaRPr/>
          </a:p>
        </p:txBody>
      </p:sp>
      <p:sp>
        <p:nvSpPr>
          <p:cNvPr id="62" name="Google Shape;62;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Using ECG data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 type="subTitle"/>
          </p:nvPr>
        </p:nvSpPr>
        <p:spPr>
          <a:xfrm>
            <a:off x="311700" y="268400"/>
            <a:ext cx="8520600" cy="4700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3000" u="sng">
                <a:solidFill>
                  <a:srgbClr val="1E293B"/>
                </a:solidFill>
                <a:highlight>
                  <a:srgbClr val="FFFFFF"/>
                </a:highlight>
              </a:rPr>
              <a:t>Bridging</a:t>
            </a:r>
            <a:r>
              <a:rPr b="1" lang="en" sz="3000" u="sng">
                <a:solidFill>
                  <a:srgbClr val="1E293B"/>
                </a:solidFill>
                <a:highlight>
                  <a:srgbClr val="FFFFFF"/>
                </a:highlight>
              </a:rPr>
              <a:t> the data gap:</a:t>
            </a:r>
            <a:endParaRPr b="1" sz="3000" u="sng">
              <a:solidFill>
                <a:srgbClr val="1E293B"/>
              </a:solidFill>
              <a:highlight>
                <a:srgbClr val="FFFFFF"/>
              </a:highlight>
            </a:endParaRPr>
          </a:p>
          <a:p>
            <a:pPr indent="0" lvl="0" marL="0" rtl="0" algn="l">
              <a:lnSpc>
                <a:spcPct val="115000"/>
              </a:lnSpc>
              <a:spcBef>
                <a:spcPts val="600"/>
              </a:spcBef>
              <a:spcAft>
                <a:spcPts val="0"/>
              </a:spcAft>
              <a:buNone/>
            </a:pPr>
            <a:r>
              <a:t/>
            </a:r>
            <a:endParaRPr b="1" sz="2100">
              <a:solidFill>
                <a:srgbClr val="1E293B"/>
              </a:solidFill>
              <a:highlight>
                <a:srgbClr val="FFFFFF"/>
              </a:highlight>
            </a:endParaRPr>
          </a:p>
          <a:p>
            <a:pPr indent="-361950" lvl="0" marL="457200" rtl="0" algn="l">
              <a:lnSpc>
                <a:spcPct val="115000"/>
              </a:lnSpc>
              <a:spcBef>
                <a:spcPts val="600"/>
              </a:spcBef>
              <a:spcAft>
                <a:spcPts val="0"/>
              </a:spcAft>
              <a:buClr>
                <a:srgbClr val="1E293B"/>
              </a:buClr>
              <a:buSzPts val="2100"/>
              <a:buAutoNum type="arabicPeriod"/>
            </a:pPr>
            <a:r>
              <a:rPr b="1" lang="en" sz="2100">
                <a:solidFill>
                  <a:srgbClr val="1E293B"/>
                </a:solidFill>
                <a:highlight>
                  <a:srgbClr val="FFFFFF"/>
                </a:highlight>
              </a:rPr>
              <a:t>Faults are Rare</a:t>
            </a:r>
            <a:endParaRPr b="1" sz="2100">
              <a:solidFill>
                <a:srgbClr val="1E293B"/>
              </a:solidFill>
              <a:highlight>
                <a:srgbClr val="FFFFFF"/>
              </a:highlight>
            </a:endParaRPr>
          </a:p>
          <a:p>
            <a:pPr indent="0" lvl="0" marL="914400" rtl="0" algn="l">
              <a:lnSpc>
                <a:spcPct val="140000"/>
              </a:lnSpc>
              <a:spcBef>
                <a:spcPts val="600"/>
              </a:spcBef>
              <a:spcAft>
                <a:spcPts val="0"/>
              </a:spcAft>
              <a:buNone/>
            </a:pPr>
            <a:r>
              <a:rPr lang="en" sz="1500">
                <a:solidFill>
                  <a:srgbClr val="475569"/>
                </a:solidFill>
                <a:highlight>
                  <a:srgbClr val="FFFFFF"/>
                </a:highlight>
              </a:rPr>
              <a:t>Engines work so well that we have almost no real failure data to study.</a:t>
            </a:r>
            <a:endParaRPr sz="1500">
              <a:solidFill>
                <a:srgbClr val="475569"/>
              </a:solidFill>
              <a:highlight>
                <a:srgbClr val="FFFFFF"/>
              </a:highlight>
            </a:endParaRPr>
          </a:p>
          <a:p>
            <a:pPr indent="-361950" lvl="0" marL="457200" rtl="0" algn="l">
              <a:lnSpc>
                <a:spcPct val="115000"/>
              </a:lnSpc>
              <a:spcBef>
                <a:spcPts val="0"/>
              </a:spcBef>
              <a:spcAft>
                <a:spcPts val="0"/>
              </a:spcAft>
              <a:buClr>
                <a:srgbClr val="1E293B"/>
              </a:buClr>
              <a:buSzPts val="2100"/>
              <a:buAutoNum type="arabicPeriod"/>
            </a:pPr>
            <a:r>
              <a:rPr b="1" lang="en" sz="2100">
                <a:solidFill>
                  <a:srgbClr val="1E293B"/>
                </a:solidFill>
                <a:highlight>
                  <a:srgbClr val="FFFFFF"/>
                </a:highlight>
              </a:rPr>
              <a:t>Safety Risks</a:t>
            </a:r>
            <a:endParaRPr b="1" sz="2100">
              <a:solidFill>
                <a:srgbClr val="1E293B"/>
              </a:solidFill>
              <a:highlight>
                <a:srgbClr val="FFFFFF"/>
              </a:highlight>
            </a:endParaRPr>
          </a:p>
          <a:p>
            <a:pPr indent="0" lvl="0" marL="914400" rtl="0" algn="l">
              <a:lnSpc>
                <a:spcPct val="140000"/>
              </a:lnSpc>
              <a:spcBef>
                <a:spcPts val="600"/>
              </a:spcBef>
              <a:spcAft>
                <a:spcPts val="0"/>
              </a:spcAft>
              <a:buNone/>
            </a:pPr>
            <a:r>
              <a:rPr lang="en" sz="1500">
                <a:solidFill>
                  <a:srgbClr val="475569"/>
                </a:solidFill>
                <a:highlight>
                  <a:srgbClr val="FFFFFF"/>
                </a:highlight>
              </a:rPr>
              <a:t>Intentionally breaking an engine is dangerous and costs millions of dollars.</a:t>
            </a:r>
            <a:endParaRPr sz="1500">
              <a:solidFill>
                <a:srgbClr val="475569"/>
              </a:solidFill>
              <a:highlight>
                <a:srgbClr val="FFFFFF"/>
              </a:highlight>
            </a:endParaRPr>
          </a:p>
          <a:p>
            <a:pPr indent="-361950" lvl="0" marL="457200" rtl="0" algn="l">
              <a:lnSpc>
                <a:spcPct val="115000"/>
              </a:lnSpc>
              <a:spcBef>
                <a:spcPts val="0"/>
              </a:spcBef>
              <a:spcAft>
                <a:spcPts val="0"/>
              </a:spcAft>
              <a:buClr>
                <a:srgbClr val="1E293B"/>
              </a:buClr>
              <a:buSzPts val="2100"/>
              <a:buAutoNum type="arabicPeriod"/>
            </a:pPr>
            <a:r>
              <a:rPr b="1" lang="en" sz="2100">
                <a:solidFill>
                  <a:srgbClr val="1E293B"/>
                </a:solidFill>
                <a:highlight>
                  <a:srgbClr val="FFFFFF"/>
                </a:highlight>
              </a:rPr>
              <a:t>Synthetic Solution</a:t>
            </a:r>
            <a:endParaRPr b="1" sz="2100">
              <a:solidFill>
                <a:srgbClr val="1E293B"/>
              </a:solidFill>
              <a:highlight>
                <a:srgbClr val="FFFFFF"/>
              </a:highlight>
            </a:endParaRPr>
          </a:p>
          <a:p>
            <a:pPr indent="0" lvl="0" marL="914400" rtl="0" algn="l">
              <a:lnSpc>
                <a:spcPct val="140000"/>
              </a:lnSpc>
              <a:spcBef>
                <a:spcPts val="600"/>
              </a:spcBef>
              <a:spcAft>
                <a:spcPts val="0"/>
              </a:spcAft>
              <a:buNone/>
            </a:pPr>
            <a:r>
              <a:rPr lang="en" sz="1500">
                <a:solidFill>
                  <a:srgbClr val="475569"/>
                </a:solidFill>
                <a:highlight>
                  <a:srgbClr val="FFFFFF"/>
                </a:highlight>
              </a:rPr>
              <a:t>We "warp" healthy signals to create </a:t>
            </a:r>
            <a:r>
              <a:rPr b="1" lang="en" sz="1500">
                <a:solidFill>
                  <a:srgbClr val="475569"/>
                </a:solidFill>
                <a:highlight>
                  <a:srgbClr val="FFFFFF"/>
                </a:highlight>
              </a:rPr>
              <a:t>fake faults</a:t>
            </a:r>
            <a:r>
              <a:rPr lang="en" sz="1500">
                <a:solidFill>
                  <a:srgbClr val="475569"/>
                </a:solidFill>
                <a:highlight>
                  <a:srgbClr val="FFFFFF"/>
                </a:highlight>
              </a:rPr>
              <a:t>, teaching the AI the danger zone.</a:t>
            </a:r>
            <a:endParaRPr sz="1500">
              <a:solidFill>
                <a:srgbClr val="475569"/>
              </a:solidFill>
              <a:highlight>
                <a:srgbClr val="FFFFFF"/>
              </a:highlight>
            </a:endParaRPr>
          </a:p>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16" title="ChatGPT Image May 14, 2026, 11_42_00 AM.png"/>
          <p:cNvPicPr preferRelativeResize="0"/>
          <p:nvPr/>
        </p:nvPicPr>
        <p:blipFill>
          <a:blip r:embed="rId3">
            <a:alphaModFix/>
          </a:blip>
          <a:stretch>
            <a:fillRect/>
          </a:stretch>
        </p:blipFill>
        <p:spPr>
          <a:xfrm>
            <a:off x="152400" y="152400"/>
            <a:ext cx="8597562" cy="4838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1" type="subTitle"/>
          </p:nvPr>
        </p:nvSpPr>
        <p:spPr>
          <a:xfrm>
            <a:off x="208375" y="79125"/>
            <a:ext cx="3168600" cy="30087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We use ECG data because it mimics the complex, rhythmic signals of a rocket engine. </a:t>
            </a:r>
            <a:endParaRPr sz="1400">
              <a:solidFill>
                <a:schemeClr val="dk1"/>
              </a:solidFill>
            </a:endParaRPr>
          </a:p>
          <a:p>
            <a:pPr indent="0" lvl="0" marL="457200" rtl="0" algn="l">
              <a:spcBef>
                <a:spcPts val="0"/>
              </a:spcBef>
              <a:spcAft>
                <a:spcPts val="0"/>
              </a:spcAft>
              <a:buNone/>
            </a:pPr>
            <a:r>
              <a:t/>
            </a:r>
            <a:endParaRPr sz="1400">
              <a:solidFill>
                <a:schemeClr val="dk1"/>
              </a:solidFill>
            </a:endParaRPr>
          </a:p>
          <a:p>
            <a:pPr indent="0" lvl="0" marL="457200" rtl="0" algn="l">
              <a:spcBef>
                <a:spcPts val="0"/>
              </a:spcBef>
              <a:spcAft>
                <a:spcPts val="0"/>
              </a:spcAft>
              <a:buNone/>
            </a:pPr>
            <a:r>
              <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It allows us to demonstrate how our model learns a </a:t>
            </a:r>
            <a:r>
              <a:rPr b="1" lang="en" sz="1400">
                <a:solidFill>
                  <a:schemeClr val="dk1"/>
                </a:solidFill>
              </a:rPr>
              <a:t>Decision Boundary</a:t>
            </a:r>
            <a:r>
              <a:rPr lang="en" sz="1400">
                <a:solidFill>
                  <a:schemeClr val="dk1"/>
                </a:solidFill>
              </a:rPr>
              <a:t> using synthetic faults in a controlled, data-rich environment before applying it to high-stakes aerospace hardware.</a:t>
            </a:r>
            <a:endParaRPr sz="1400"/>
          </a:p>
        </p:txBody>
      </p:sp>
      <p:pic>
        <p:nvPicPr>
          <p:cNvPr id="78" name="Google Shape;78;p17" title="Code_Generated_Image.png"/>
          <p:cNvPicPr preferRelativeResize="0"/>
          <p:nvPr/>
        </p:nvPicPr>
        <p:blipFill>
          <a:blip r:embed="rId3">
            <a:alphaModFix/>
          </a:blip>
          <a:stretch>
            <a:fillRect/>
          </a:stretch>
        </p:blipFill>
        <p:spPr>
          <a:xfrm>
            <a:off x="0" y="2828900"/>
            <a:ext cx="4898451" cy="2314600"/>
          </a:xfrm>
          <a:prstGeom prst="rect">
            <a:avLst/>
          </a:prstGeom>
          <a:noFill/>
          <a:ln>
            <a:noFill/>
          </a:ln>
        </p:spPr>
      </p:pic>
      <p:pic>
        <p:nvPicPr>
          <p:cNvPr id="79" name="Google Shape;79;p17" title="ECG_Principle_fast.gif"/>
          <p:cNvPicPr preferRelativeResize="0"/>
          <p:nvPr/>
        </p:nvPicPr>
        <p:blipFill>
          <a:blip r:embed="rId4">
            <a:alphaModFix/>
          </a:blip>
          <a:stretch>
            <a:fillRect/>
          </a:stretch>
        </p:blipFill>
        <p:spPr>
          <a:xfrm>
            <a:off x="4910125" y="79125"/>
            <a:ext cx="4233863"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nvSpPr>
        <p:spPr>
          <a:xfrm>
            <a:off x="0" y="0"/>
            <a:ext cx="9144000" cy="493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700" u="sng">
                <a:solidFill>
                  <a:schemeClr val="dk1"/>
                </a:solidFill>
              </a:rPr>
              <a:t>The Core Novelty – Three Pillars of the Framework</a:t>
            </a:r>
            <a:endParaRPr b="1" sz="2700" u="sng">
              <a:solidFill>
                <a:schemeClr val="dk1"/>
              </a:solidFill>
            </a:endParaRPr>
          </a:p>
          <a:p>
            <a:pPr indent="0" lvl="0" marL="0" rtl="0" algn="l">
              <a:lnSpc>
                <a:spcPct val="100000"/>
              </a:lnSpc>
              <a:spcBef>
                <a:spcPts val="400"/>
              </a:spcBef>
              <a:spcAft>
                <a:spcPts val="0"/>
              </a:spcAft>
              <a:buClr>
                <a:schemeClr val="dk1"/>
              </a:buClr>
              <a:buSzPts val="1100"/>
              <a:buFont typeface="Arial"/>
              <a:buNone/>
            </a:pPr>
            <a:r>
              <a:t/>
            </a:r>
            <a:endParaRPr b="1" sz="1200" u="sng">
              <a:solidFill>
                <a:schemeClr val="dk1"/>
              </a:solidFill>
            </a:endParaRPr>
          </a:p>
          <a:p>
            <a:pPr indent="-349250" lvl="0" marL="457200" rtl="0" algn="l">
              <a:lnSpc>
                <a:spcPct val="115000"/>
              </a:lnSpc>
              <a:spcBef>
                <a:spcPts val="400"/>
              </a:spcBef>
              <a:spcAft>
                <a:spcPts val="0"/>
              </a:spcAft>
              <a:buClr>
                <a:schemeClr val="dk1"/>
              </a:buClr>
              <a:buSzPts val="1900"/>
              <a:buChar char="●"/>
            </a:pPr>
            <a:r>
              <a:rPr b="1" lang="en" sz="1900">
                <a:solidFill>
                  <a:schemeClr val="dk1"/>
                </a:solidFill>
              </a:rPr>
              <a:t>Novelty 1: Artificial Negative Samples:</a:t>
            </a:r>
            <a:r>
              <a:rPr lang="en" sz="1900">
                <a:solidFill>
                  <a:schemeClr val="dk1"/>
                </a:solidFill>
              </a:rPr>
              <a:t> Instead of waiting for real faults, the framework generates its own "artificial" fault data from healthy signals.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 sz="1900">
                <a:solidFill>
                  <a:schemeClr val="dk1"/>
                </a:solidFill>
              </a:rPr>
              <a:t>Novelty 2: Supervised Deep Learning:</a:t>
            </a:r>
            <a:r>
              <a:rPr lang="en" sz="1900">
                <a:solidFill>
                  <a:schemeClr val="dk1"/>
                </a:solidFill>
              </a:rPr>
              <a:t> It uses a Fusion Recurrent -CNN-Network (FRCNN) trained on a mix of real normal data and these generated abnormal samples.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 sz="1900">
                <a:solidFill>
                  <a:schemeClr val="dk1"/>
                </a:solidFill>
              </a:rPr>
              <a:t>Novelty 3: Multi-Sensor Fusion:</a:t>
            </a:r>
            <a:r>
              <a:rPr lang="en" sz="1900">
                <a:solidFill>
                  <a:schemeClr val="dk1"/>
                </a:solidFill>
              </a:rPr>
              <a:t> The model uses </a:t>
            </a:r>
            <a:r>
              <a:rPr b="1" lang="en" sz="1900">
                <a:solidFill>
                  <a:schemeClr val="dk1"/>
                </a:solidFill>
              </a:rPr>
              <a:t>LSTM</a:t>
            </a:r>
            <a:r>
              <a:rPr lang="en" sz="1900">
                <a:solidFill>
                  <a:schemeClr val="dk1"/>
                </a:solidFill>
              </a:rPr>
              <a:t> to learn temporal sequence dependencies and </a:t>
            </a:r>
            <a:r>
              <a:rPr b="1" lang="en" sz="1900">
                <a:solidFill>
                  <a:schemeClr val="dk1"/>
                </a:solidFill>
              </a:rPr>
              <a:t>CNN</a:t>
            </a:r>
            <a:r>
              <a:rPr lang="en" sz="1900">
                <a:solidFill>
                  <a:schemeClr val="dk1"/>
                </a:solidFill>
              </a:rPr>
              <a:t> to extract local patterns from multiple sensor channels (vibration, pressure, etc.) simultaneously.</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 sz="1900">
                <a:solidFill>
                  <a:schemeClr val="dk1"/>
                </a:solidFill>
              </a:rPr>
              <a:t>The Basic Logic:</a:t>
            </a:r>
            <a:r>
              <a:rPr lang="en" sz="1900">
                <a:solidFill>
                  <a:schemeClr val="dk1"/>
                </a:solidFill>
              </a:rPr>
              <a:t> </a:t>
            </a:r>
            <a:endParaRPr sz="1900">
              <a:solidFill>
                <a:schemeClr val="dk1"/>
              </a:solidFill>
            </a:endParaRPr>
          </a:p>
          <a:p>
            <a:pPr indent="0" lvl="0" marL="457200" rtl="0" algn="l">
              <a:lnSpc>
                <a:spcPct val="115000"/>
              </a:lnSpc>
              <a:spcBef>
                <a:spcPts val="1200"/>
              </a:spcBef>
              <a:spcAft>
                <a:spcPts val="0"/>
              </a:spcAft>
              <a:buNone/>
            </a:pPr>
            <a:r>
              <a:rPr lang="en" sz="1500">
                <a:solidFill>
                  <a:schemeClr val="dk1"/>
                </a:solidFill>
              </a:rPr>
              <a:t>Normal Data → Generate Abnormal Samples → Train Supervised Model → Learn the Boundary.</a:t>
            </a:r>
            <a:endParaRPr sz="1500">
              <a:solidFill>
                <a:schemeClr val="dk1"/>
              </a:solidFill>
            </a:endParaRPr>
          </a:p>
          <a:p>
            <a:pPr indent="0" lvl="0" marL="0" rtl="0" algn="l">
              <a:lnSpc>
                <a:spcPct val="115000"/>
              </a:lnSpc>
              <a:spcBef>
                <a:spcPts val="1200"/>
              </a:spcBef>
              <a:spcAft>
                <a:spcPts val="1200"/>
              </a:spcAft>
              <a:buNone/>
            </a:pPr>
            <a:r>
              <a:t/>
            </a:r>
            <a:endParaRPr b="1" sz="25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ctrTitle"/>
          </p:nvPr>
        </p:nvSpPr>
        <p:spPr>
          <a:xfrm>
            <a:off x="311700" y="474425"/>
            <a:ext cx="8520600" cy="1266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7200"/>
              <a:t>Model Architecture</a:t>
            </a:r>
            <a:endParaRPr b="1" sz="7200"/>
          </a:p>
        </p:txBody>
      </p:sp>
      <p:sp>
        <p:nvSpPr>
          <p:cNvPr id="90" name="Google Shape;90;p19"/>
          <p:cNvSpPr txBox="1"/>
          <p:nvPr>
            <p:ph idx="1" type="subTitle"/>
          </p:nvPr>
        </p:nvSpPr>
        <p:spPr>
          <a:xfrm>
            <a:off x="311700" y="1740425"/>
            <a:ext cx="8520600" cy="31581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0"/>
              </a:spcAft>
              <a:buClr>
                <a:schemeClr val="dk1"/>
              </a:buClr>
              <a:buSzPts val="1100"/>
              <a:buFont typeface="Arial"/>
              <a:buNone/>
            </a:pPr>
            <a:r>
              <a:rPr b="1" lang="en" sz="2500" u="sng">
                <a:solidFill>
                  <a:schemeClr val="dk1"/>
                </a:solidFill>
              </a:rPr>
              <a:t>Key Topics: </a:t>
            </a:r>
            <a:endParaRPr b="1" sz="2500" u="sng">
              <a:solidFill>
                <a:schemeClr val="dk1"/>
              </a:solidFill>
            </a:endParaRPr>
          </a:p>
          <a:p>
            <a:pPr indent="-368300" lvl="0" marL="457200" rtl="0" algn="l">
              <a:lnSpc>
                <a:spcPct val="115000"/>
              </a:lnSpc>
              <a:spcBef>
                <a:spcPts val="1200"/>
              </a:spcBef>
              <a:spcAft>
                <a:spcPts val="0"/>
              </a:spcAft>
              <a:buClr>
                <a:schemeClr val="dk1"/>
              </a:buClr>
              <a:buSzPts val="2200"/>
              <a:buChar char="●"/>
            </a:pPr>
            <a:r>
              <a:rPr b="1" lang="en" sz="2200">
                <a:solidFill>
                  <a:schemeClr val="dk1"/>
                </a:solidFill>
              </a:rPr>
              <a:t>Negative Sample Generation</a:t>
            </a:r>
            <a:endParaRPr b="1"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 sz="2200">
                <a:solidFill>
                  <a:schemeClr val="dk1"/>
                </a:solidFill>
              </a:rPr>
              <a:t>FRCNN Architecture</a:t>
            </a:r>
            <a:endParaRPr b="1"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 sz="2200">
                <a:solidFill>
                  <a:schemeClr val="dk1"/>
                </a:solidFill>
              </a:rPr>
              <a:t>Working Mechanism</a:t>
            </a:r>
            <a:endParaRPr b="1"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 sz="2200">
                <a:solidFill>
                  <a:schemeClr val="dk1"/>
                </a:solidFill>
              </a:rPr>
              <a:t>Advantages of the Framework</a:t>
            </a:r>
            <a:endParaRPr b="1" sz="2200">
              <a:solidFill>
                <a:schemeClr val="dk1"/>
              </a:solidFill>
            </a:endParaRPr>
          </a:p>
          <a:p>
            <a:pPr indent="0" lvl="0" marL="0" rtl="0" algn="ctr">
              <a:spcBef>
                <a:spcPts val="1200"/>
              </a:spcBef>
              <a:spcAft>
                <a:spcPts val="0"/>
              </a:spcAft>
              <a:buNone/>
            </a:pPr>
            <a:r>
              <a:t/>
            </a:r>
            <a:endParaRPr b="1">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ctrTitle"/>
          </p:nvPr>
        </p:nvSpPr>
        <p:spPr>
          <a:xfrm>
            <a:off x="311700" y="744575"/>
            <a:ext cx="8520600" cy="1103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6000" u="sng"/>
              <a:t>Basic Idea</a:t>
            </a:r>
            <a:endParaRPr b="1" sz="6000" u="sng"/>
          </a:p>
        </p:txBody>
      </p:sp>
      <p:sp>
        <p:nvSpPr>
          <p:cNvPr id="96" name="Google Shape;96;p20"/>
          <p:cNvSpPr txBox="1"/>
          <p:nvPr>
            <p:ph idx="1" type="subTitle"/>
          </p:nvPr>
        </p:nvSpPr>
        <p:spPr>
          <a:xfrm>
            <a:off x="311700" y="2024525"/>
            <a:ext cx="8520600" cy="27948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Clr>
                <a:schemeClr val="dk1"/>
              </a:buClr>
              <a:buSzPct val="39286"/>
              <a:buFont typeface="Arial"/>
              <a:buNone/>
            </a:pPr>
            <a:r>
              <a:rPr b="1" lang="en"/>
              <a:t>Normal Engine Data</a:t>
            </a:r>
            <a:endParaRPr b="1"/>
          </a:p>
          <a:p>
            <a:pPr indent="0" lvl="0" marL="0" rtl="0" algn="ctr">
              <a:spcBef>
                <a:spcPts val="0"/>
              </a:spcBef>
              <a:spcAft>
                <a:spcPts val="0"/>
              </a:spcAft>
              <a:buClr>
                <a:schemeClr val="dk1"/>
              </a:buClr>
              <a:buSzPct val="39286"/>
              <a:buFont typeface="Arial"/>
              <a:buNone/>
            </a:pPr>
            <a:r>
              <a:rPr b="1" lang="en"/>
              <a:t>↓</a:t>
            </a:r>
            <a:endParaRPr b="1"/>
          </a:p>
          <a:p>
            <a:pPr indent="0" lvl="0" marL="0" rtl="0" algn="ctr">
              <a:spcBef>
                <a:spcPts val="0"/>
              </a:spcBef>
              <a:spcAft>
                <a:spcPts val="0"/>
              </a:spcAft>
              <a:buClr>
                <a:schemeClr val="dk1"/>
              </a:buClr>
              <a:buSzPct val="39286"/>
              <a:buFont typeface="Arial"/>
              <a:buNone/>
            </a:pPr>
            <a:r>
              <a:rPr b="1" lang="en"/>
              <a:t>Generate Artificial Abnormal Samples</a:t>
            </a:r>
            <a:endParaRPr b="1"/>
          </a:p>
          <a:p>
            <a:pPr indent="0" lvl="0" marL="0" rtl="0" algn="ctr">
              <a:spcBef>
                <a:spcPts val="0"/>
              </a:spcBef>
              <a:spcAft>
                <a:spcPts val="0"/>
              </a:spcAft>
              <a:buClr>
                <a:schemeClr val="dk1"/>
              </a:buClr>
              <a:buSzPct val="39286"/>
              <a:buFont typeface="Arial"/>
              <a:buNone/>
            </a:pPr>
            <a:r>
              <a:rPr b="1" lang="en"/>
              <a:t>↓</a:t>
            </a:r>
            <a:endParaRPr b="1"/>
          </a:p>
          <a:p>
            <a:pPr indent="0" lvl="0" marL="0" rtl="0" algn="ctr">
              <a:spcBef>
                <a:spcPts val="0"/>
              </a:spcBef>
              <a:spcAft>
                <a:spcPts val="0"/>
              </a:spcAft>
              <a:buClr>
                <a:schemeClr val="dk1"/>
              </a:buClr>
              <a:buSzPct val="39286"/>
              <a:buFont typeface="Arial"/>
              <a:buNone/>
            </a:pPr>
            <a:r>
              <a:rPr b="1" lang="en"/>
              <a:t>Train Supervised Deep Learning Model</a:t>
            </a:r>
            <a:endParaRPr b="1"/>
          </a:p>
          <a:p>
            <a:pPr indent="0" lvl="0" marL="0" rtl="0" algn="ctr">
              <a:spcBef>
                <a:spcPts val="0"/>
              </a:spcBef>
              <a:spcAft>
                <a:spcPts val="0"/>
              </a:spcAft>
              <a:buClr>
                <a:schemeClr val="dk1"/>
              </a:buClr>
              <a:buSzPct val="39286"/>
              <a:buFont typeface="Arial"/>
              <a:buNone/>
            </a:pPr>
            <a:r>
              <a:rPr b="1" lang="en"/>
              <a:t>↓</a:t>
            </a:r>
            <a:endParaRPr b="1"/>
          </a:p>
          <a:p>
            <a:pPr indent="0" lvl="0" marL="0" rtl="0" algn="ctr">
              <a:spcBef>
                <a:spcPts val="0"/>
              </a:spcBef>
              <a:spcAft>
                <a:spcPts val="0"/>
              </a:spcAft>
              <a:buClr>
                <a:schemeClr val="dk1"/>
              </a:buClr>
              <a:buSzPct val="39286"/>
              <a:buFont typeface="Arial"/>
              <a:buNone/>
            </a:pPr>
            <a:r>
              <a:rPr b="1" lang="en"/>
              <a:t>Learn Boundary Between Healthy &amp; Faulty States</a:t>
            </a:r>
            <a:endParaRPr b="1"/>
          </a:p>
          <a:p>
            <a:pPr indent="0" lvl="0" marL="0" rtl="0" algn="ctr">
              <a:spcBef>
                <a:spcPts val="0"/>
              </a:spcBef>
              <a:spcAft>
                <a:spcPts val="0"/>
              </a:spcAft>
              <a:buNone/>
            </a:pPr>
            <a:r>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ctrTitle"/>
          </p:nvPr>
        </p:nvSpPr>
        <p:spPr>
          <a:xfrm>
            <a:off x="311700" y="298275"/>
            <a:ext cx="8520600" cy="4497600"/>
          </a:xfrm>
          <a:prstGeom prst="rect">
            <a:avLst/>
          </a:prstGeom>
        </p:spPr>
        <p:txBody>
          <a:bodyPr anchorCtr="0" anchor="b" bIns="91425" lIns="91425" spcFirstLastPara="1" rIns="91425" wrap="square" tIns="91425">
            <a:noAutofit/>
          </a:bodyPr>
          <a:lstStyle/>
          <a:p>
            <a:pPr indent="0" lvl="0" marL="0" rtl="0" algn="l">
              <a:lnSpc>
                <a:spcPct val="115000"/>
              </a:lnSpc>
              <a:spcBef>
                <a:spcPts val="2400"/>
              </a:spcBef>
              <a:spcAft>
                <a:spcPts val="0"/>
              </a:spcAft>
              <a:buClr>
                <a:schemeClr val="dk1"/>
              </a:buClr>
              <a:buSzPts val="1100"/>
              <a:buFont typeface="Arial"/>
              <a:buNone/>
            </a:pPr>
            <a:r>
              <a:rPr b="1" lang="en" sz="3100" u="sng"/>
              <a:t>Negative Sample Generation</a:t>
            </a:r>
            <a:endParaRPr b="1" sz="2500" u="sng"/>
          </a:p>
          <a:p>
            <a:pPr indent="0" lvl="0" marL="0" rtl="0" algn="l">
              <a:lnSpc>
                <a:spcPct val="115000"/>
              </a:lnSpc>
              <a:spcBef>
                <a:spcPts val="1400"/>
              </a:spcBef>
              <a:spcAft>
                <a:spcPts val="0"/>
              </a:spcAft>
              <a:buClr>
                <a:schemeClr val="dk1"/>
              </a:buClr>
              <a:buSzPts val="1100"/>
              <a:buFont typeface="Arial"/>
              <a:buNone/>
            </a:pPr>
            <a:r>
              <a:rPr b="1" lang="en" sz="2100"/>
              <a:t>Core Idea:</a:t>
            </a:r>
            <a:endParaRPr b="1" sz="2100"/>
          </a:p>
          <a:p>
            <a:pPr indent="0" lvl="0" marL="0" rtl="0" algn="l">
              <a:lnSpc>
                <a:spcPct val="115000"/>
              </a:lnSpc>
              <a:spcBef>
                <a:spcPts val="1200"/>
              </a:spcBef>
              <a:spcAft>
                <a:spcPts val="0"/>
              </a:spcAft>
              <a:buClr>
                <a:schemeClr val="dk1"/>
              </a:buClr>
              <a:buSzPts val="1100"/>
              <a:buFont typeface="Arial"/>
              <a:buNone/>
            </a:pPr>
            <a:r>
              <a:rPr lang="en" sz="1900"/>
              <a:t>Artificial abnormal samples are generated from healthy engine signals.</a:t>
            </a:r>
            <a:endParaRPr sz="1900"/>
          </a:p>
          <a:p>
            <a:pPr indent="0" lvl="0" marL="0" rtl="0" algn="l">
              <a:lnSpc>
                <a:spcPct val="115000"/>
              </a:lnSpc>
              <a:spcBef>
                <a:spcPts val="1200"/>
              </a:spcBef>
              <a:spcAft>
                <a:spcPts val="0"/>
              </a:spcAft>
              <a:buClr>
                <a:schemeClr val="dk1"/>
              </a:buClr>
              <a:buSzPts val="1100"/>
              <a:buFont typeface="Arial"/>
              <a:buNone/>
            </a:pPr>
            <a:r>
              <a:rPr lang="en" sz="1900"/>
              <a:t>These generated samples are called: </a:t>
            </a:r>
            <a:r>
              <a:rPr b="1" lang="en" sz="2100"/>
              <a:t>“Negative Samples”</a:t>
            </a:r>
            <a:endParaRPr b="1" sz="2100"/>
          </a:p>
          <a:p>
            <a:pPr indent="0" lvl="0" marL="0" rtl="0" algn="l">
              <a:lnSpc>
                <a:spcPct val="115000"/>
              </a:lnSpc>
              <a:spcBef>
                <a:spcPts val="1800"/>
              </a:spcBef>
              <a:spcAft>
                <a:spcPts val="0"/>
              </a:spcAft>
              <a:buClr>
                <a:schemeClr val="dk1"/>
              </a:buClr>
              <a:buSzPts val="1100"/>
              <a:buFont typeface="Arial"/>
              <a:buNone/>
            </a:pPr>
            <a:r>
              <a:rPr b="1" lang="en" sz="2500"/>
              <a:t>Why Generate Negative Samples?</a:t>
            </a:r>
            <a:endParaRPr b="1" sz="2500"/>
          </a:p>
          <a:p>
            <a:pPr indent="-349250" lvl="0" marL="457200" rtl="0" algn="l">
              <a:lnSpc>
                <a:spcPct val="115000"/>
              </a:lnSpc>
              <a:spcBef>
                <a:spcPts val="1200"/>
              </a:spcBef>
              <a:spcAft>
                <a:spcPts val="0"/>
              </a:spcAft>
              <a:buSzPts val="1900"/>
              <a:buChar char="●"/>
            </a:pPr>
            <a:r>
              <a:rPr lang="en" sz="1900"/>
              <a:t>Real fault data are limited</a:t>
            </a:r>
            <a:endParaRPr sz="1900"/>
          </a:p>
          <a:p>
            <a:pPr indent="-349250" lvl="0" marL="457200" rtl="0" algn="l">
              <a:lnSpc>
                <a:spcPct val="115000"/>
              </a:lnSpc>
              <a:spcBef>
                <a:spcPts val="0"/>
              </a:spcBef>
              <a:spcAft>
                <a:spcPts val="0"/>
              </a:spcAft>
              <a:buSzPts val="1900"/>
              <a:buChar char="●"/>
            </a:pPr>
            <a:r>
              <a:rPr lang="en" sz="1900"/>
              <a:t>Fault types are unknown and diverse</a:t>
            </a:r>
            <a:endParaRPr sz="1900"/>
          </a:p>
          <a:p>
            <a:pPr indent="-349250" lvl="0" marL="457200" rtl="0" algn="l">
              <a:lnSpc>
                <a:spcPct val="115000"/>
              </a:lnSpc>
              <a:spcBef>
                <a:spcPts val="0"/>
              </a:spcBef>
              <a:spcAft>
                <a:spcPts val="0"/>
              </a:spcAft>
              <a:buSzPts val="1900"/>
              <a:buChar char="●"/>
            </a:pPr>
            <a:r>
              <a:rPr lang="en" sz="1900"/>
              <a:t>Supervised learning performs better than unsupervised learning</a:t>
            </a:r>
            <a:endParaRPr sz="1900"/>
          </a:p>
          <a:p>
            <a:pPr indent="-349250" lvl="0" marL="457200" rtl="0" algn="l">
              <a:lnSpc>
                <a:spcPct val="115000"/>
              </a:lnSpc>
              <a:spcBef>
                <a:spcPts val="0"/>
              </a:spcBef>
              <a:spcAft>
                <a:spcPts val="0"/>
              </a:spcAft>
              <a:buSzPts val="1900"/>
              <a:buChar char="●"/>
            </a:pPr>
            <a:r>
              <a:rPr lang="en" sz="1900"/>
              <a:t>Generated samples help the model learn abnormal boundaries</a:t>
            </a:r>
            <a:endParaRPr sz="6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Clr>
                <a:schemeClr val="dk1"/>
              </a:buClr>
              <a:buSzPts val="1100"/>
              <a:buFont typeface="Arial"/>
              <a:buNone/>
            </a:pPr>
            <a:r>
              <a:rPr b="1" lang="en" sz="2500" u="sng"/>
              <a:t>Two Techniques Used</a:t>
            </a:r>
            <a:endParaRPr b="1" sz="3600" u="sng"/>
          </a:p>
        </p:txBody>
      </p:sp>
      <p:sp>
        <p:nvSpPr>
          <p:cNvPr id="107" name="Google Shape;107;p22"/>
          <p:cNvSpPr txBox="1"/>
          <p:nvPr>
            <p:ph idx="1" type="body"/>
          </p:nvPr>
        </p:nvSpPr>
        <p:spPr>
          <a:xfrm>
            <a:off x="311700" y="1152475"/>
            <a:ext cx="8520600" cy="24339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935"/>
              <a:buFont typeface="Arial"/>
              <a:buNone/>
            </a:pPr>
            <a:r>
              <a:rPr b="1" lang="en" sz="2105">
                <a:solidFill>
                  <a:schemeClr val="dk1"/>
                </a:solidFill>
              </a:rPr>
              <a:t>1. Vibration Sharpening (Time-Domain Modification)</a:t>
            </a:r>
            <a:endParaRPr b="1" sz="2105">
              <a:solidFill>
                <a:schemeClr val="dk1"/>
              </a:solidFill>
            </a:endParaRPr>
          </a:p>
          <a:p>
            <a:pPr indent="-351473" lvl="0" marL="457200" rtl="0" algn="l">
              <a:lnSpc>
                <a:spcPct val="95000"/>
              </a:lnSpc>
              <a:spcBef>
                <a:spcPts val="1200"/>
              </a:spcBef>
              <a:spcAft>
                <a:spcPts val="0"/>
              </a:spcAft>
              <a:buClr>
                <a:schemeClr val="dk1"/>
              </a:buClr>
              <a:buSzPts val="1935"/>
              <a:buChar char="●"/>
            </a:pPr>
            <a:r>
              <a:rPr lang="en" sz="1935">
                <a:solidFill>
                  <a:schemeClr val="dk1"/>
                </a:solidFill>
              </a:rPr>
              <a:t>Modifies vibration waveform characteristics</a:t>
            </a:r>
            <a:endParaRPr sz="1935">
              <a:solidFill>
                <a:schemeClr val="dk1"/>
              </a:solidFill>
            </a:endParaRPr>
          </a:p>
          <a:p>
            <a:pPr indent="-351473" lvl="0" marL="457200" rtl="0" algn="l">
              <a:lnSpc>
                <a:spcPct val="95000"/>
              </a:lnSpc>
              <a:spcBef>
                <a:spcPts val="0"/>
              </a:spcBef>
              <a:spcAft>
                <a:spcPts val="0"/>
              </a:spcAft>
              <a:buClr>
                <a:schemeClr val="dk1"/>
              </a:buClr>
              <a:buSzPts val="1935"/>
              <a:buChar char="●"/>
            </a:pPr>
            <a:r>
              <a:rPr lang="en" sz="1935">
                <a:solidFill>
                  <a:schemeClr val="dk1"/>
                </a:solidFill>
              </a:rPr>
              <a:t>Simulates:</a:t>
            </a:r>
            <a:endParaRPr sz="1935">
              <a:solidFill>
                <a:schemeClr val="dk1"/>
              </a:solidFill>
            </a:endParaRPr>
          </a:p>
          <a:p>
            <a:pPr indent="-351473" lvl="1" marL="914400" rtl="0" algn="l">
              <a:lnSpc>
                <a:spcPct val="95000"/>
              </a:lnSpc>
              <a:spcBef>
                <a:spcPts val="0"/>
              </a:spcBef>
              <a:spcAft>
                <a:spcPts val="0"/>
              </a:spcAft>
              <a:buClr>
                <a:schemeClr val="dk1"/>
              </a:buClr>
              <a:buSzPts val="1935"/>
              <a:buChar char="○"/>
            </a:pPr>
            <a:r>
              <a:rPr lang="en" sz="1935">
                <a:solidFill>
                  <a:schemeClr val="dk1"/>
                </a:solidFill>
              </a:rPr>
              <a:t>sudden peaks</a:t>
            </a:r>
            <a:endParaRPr sz="1935">
              <a:solidFill>
                <a:schemeClr val="dk1"/>
              </a:solidFill>
            </a:endParaRPr>
          </a:p>
          <a:p>
            <a:pPr indent="-351473" lvl="1" marL="914400" rtl="0" algn="l">
              <a:lnSpc>
                <a:spcPct val="95000"/>
              </a:lnSpc>
              <a:spcBef>
                <a:spcPts val="0"/>
              </a:spcBef>
              <a:spcAft>
                <a:spcPts val="0"/>
              </a:spcAft>
              <a:buClr>
                <a:schemeClr val="dk1"/>
              </a:buClr>
              <a:buSzPts val="1935"/>
              <a:buChar char="○"/>
            </a:pPr>
            <a:r>
              <a:rPr lang="en" sz="1935">
                <a:solidFill>
                  <a:schemeClr val="dk1"/>
                </a:solidFill>
              </a:rPr>
              <a:t>stronger oscillations</a:t>
            </a:r>
            <a:endParaRPr sz="1935">
              <a:solidFill>
                <a:schemeClr val="dk1"/>
              </a:solidFill>
            </a:endParaRPr>
          </a:p>
          <a:p>
            <a:pPr indent="-351473" lvl="1" marL="914400" rtl="0" algn="l">
              <a:lnSpc>
                <a:spcPct val="95000"/>
              </a:lnSpc>
              <a:spcBef>
                <a:spcPts val="0"/>
              </a:spcBef>
              <a:spcAft>
                <a:spcPts val="0"/>
              </a:spcAft>
              <a:buClr>
                <a:schemeClr val="dk1"/>
              </a:buClr>
              <a:buSzPts val="1935"/>
              <a:buChar char="○"/>
            </a:pPr>
            <a:r>
              <a:rPr lang="en" sz="1935">
                <a:solidFill>
                  <a:schemeClr val="dk1"/>
                </a:solidFill>
              </a:rPr>
              <a:t>abnormal vibration energy</a:t>
            </a:r>
            <a:endParaRPr sz="1935">
              <a:solidFill>
                <a:schemeClr val="dk1"/>
              </a:solidFill>
            </a:endParaRPr>
          </a:p>
          <a:p>
            <a:pPr indent="-351473" lvl="0" marL="457200" rtl="0" algn="l">
              <a:lnSpc>
                <a:spcPct val="95000"/>
              </a:lnSpc>
              <a:spcBef>
                <a:spcPts val="0"/>
              </a:spcBef>
              <a:spcAft>
                <a:spcPts val="0"/>
              </a:spcAft>
              <a:buClr>
                <a:schemeClr val="dk1"/>
              </a:buClr>
              <a:buSzPts val="1935"/>
              <a:buChar char="●"/>
            </a:pPr>
            <a:r>
              <a:rPr lang="en" sz="1935">
                <a:solidFill>
                  <a:schemeClr val="dk1"/>
                </a:solidFill>
              </a:rPr>
              <a:t>Changes local rise/fall gradients of the signal</a:t>
            </a:r>
            <a:endParaRPr sz="1935">
              <a:solidFill>
                <a:schemeClr val="dk1"/>
              </a:solidFill>
            </a:endParaRPr>
          </a:p>
          <a:p>
            <a:pPr indent="0" lvl="0" marL="0" rtl="0" algn="l">
              <a:lnSpc>
                <a:spcPct val="95000"/>
              </a:lnSpc>
              <a:spcBef>
                <a:spcPts val="1200"/>
              </a:spcBef>
              <a:spcAft>
                <a:spcPts val="1200"/>
              </a:spcAft>
              <a:buSzPts val="935"/>
              <a:buNone/>
            </a:pPr>
            <a:r>
              <a:t/>
            </a:r>
            <a:endParaRPr sz="2530"/>
          </a:p>
        </p:txBody>
      </p:sp>
      <p:pic>
        <p:nvPicPr>
          <p:cNvPr id="108" name="Google Shape;108;p22"/>
          <p:cNvPicPr preferRelativeResize="0"/>
          <p:nvPr/>
        </p:nvPicPr>
        <p:blipFill>
          <a:blip r:embed="rId3">
            <a:alphaModFix/>
          </a:blip>
          <a:stretch>
            <a:fillRect/>
          </a:stretch>
        </p:blipFill>
        <p:spPr>
          <a:xfrm>
            <a:off x="943638" y="3721125"/>
            <a:ext cx="7256725" cy="1245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idx="1" type="body"/>
          </p:nvPr>
        </p:nvSpPr>
        <p:spPr>
          <a:xfrm>
            <a:off x="311700" y="2177175"/>
            <a:ext cx="8520600" cy="2391600"/>
          </a:xfrm>
          <a:prstGeom prst="rect">
            <a:avLst/>
          </a:prstGeom>
        </p:spPr>
        <p:txBody>
          <a:bodyPr anchorCtr="0" anchor="t" bIns="91425" lIns="91425" spcFirstLastPara="1" rIns="91425" wrap="square" tIns="91425">
            <a:normAutofit/>
          </a:bodyPr>
          <a:lstStyle/>
          <a:p>
            <a:pPr indent="-342900" lvl="0" marL="457200" rtl="0" algn="l">
              <a:spcBef>
                <a:spcPts val="400"/>
              </a:spcBef>
              <a:spcAft>
                <a:spcPts val="0"/>
              </a:spcAft>
              <a:buClr>
                <a:schemeClr val="dk1"/>
              </a:buClr>
              <a:buSzPts val="1800"/>
              <a:buAutoNum type="arabicPeriod"/>
            </a:pPr>
            <a:r>
              <a:rPr lang="en">
                <a:solidFill>
                  <a:schemeClr val="dk1"/>
                </a:solidFill>
              </a:rPr>
              <a:t>XG: Original healthy signal</a:t>
            </a:r>
            <a:endParaRPr>
              <a:solidFill>
                <a:schemeClr val="dk1"/>
              </a:solidFill>
            </a:endParaRPr>
          </a:p>
          <a:p>
            <a:pPr indent="0" lvl="0" marL="0" rtl="0" algn="l">
              <a:spcBef>
                <a:spcPts val="400"/>
              </a:spcBef>
              <a:spcAft>
                <a:spcPts val="0"/>
              </a:spcAft>
              <a:buNone/>
            </a:pPr>
            <a:r>
              <a:rPr i="1" lang="en" u="sng">
                <a:solidFill>
                  <a:schemeClr val="dk1"/>
                </a:solidFill>
              </a:rPr>
              <a:t>Where </a:t>
            </a:r>
            <a:r>
              <a:rPr b="1" i="1" lang="en" u="sng">
                <a:solidFill>
                  <a:schemeClr val="dk1"/>
                </a:solidFill>
              </a:rPr>
              <a:t>XG</a:t>
            </a:r>
            <a:r>
              <a:rPr i="1" lang="en" u="sng">
                <a:solidFill>
                  <a:schemeClr val="dk1"/>
                </a:solidFill>
              </a:rPr>
              <a:t>​=[x1​,x2​,x3​,...,xN​]</a:t>
            </a:r>
            <a:r>
              <a:rPr lang="en">
                <a:solidFill>
                  <a:schemeClr val="dk1"/>
                </a:solidFill>
              </a:rPr>
              <a:t> </a:t>
            </a:r>
            <a:endParaRPr>
              <a:solidFill>
                <a:schemeClr val="dk1"/>
              </a:solidFill>
            </a:endParaRPr>
          </a:p>
          <a:p>
            <a:pPr indent="-342900" lvl="0" marL="457200" rtl="0" algn="l">
              <a:spcBef>
                <a:spcPts val="400"/>
              </a:spcBef>
              <a:spcAft>
                <a:spcPts val="0"/>
              </a:spcAft>
              <a:buClr>
                <a:schemeClr val="dk1"/>
              </a:buClr>
              <a:buSzPts val="1800"/>
              <a:buAutoNum type="arabicPeriod"/>
            </a:pPr>
            <a:r>
              <a:rPr lang="en">
                <a:solidFill>
                  <a:schemeClr val="dk1"/>
                </a:solidFill>
              </a:rPr>
              <a:t>XA: Generated abnormal signal</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ηA: Scaling factor</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λA: Mixing factor</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γ: Sharpening factor</a:t>
            </a:r>
            <a:endParaRPr/>
          </a:p>
        </p:txBody>
      </p:sp>
      <p:pic>
        <p:nvPicPr>
          <p:cNvPr id="114" name="Google Shape;114;p23"/>
          <p:cNvPicPr preferRelativeResize="0"/>
          <p:nvPr/>
        </p:nvPicPr>
        <p:blipFill>
          <a:blip r:embed="rId3">
            <a:alphaModFix/>
          </a:blip>
          <a:stretch>
            <a:fillRect/>
          </a:stretch>
        </p:blipFill>
        <p:spPr>
          <a:xfrm>
            <a:off x="943638" y="667925"/>
            <a:ext cx="7256725" cy="1245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idx="1" type="body"/>
          </p:nvPr>
        </p:nvSpPr>
        <p:spPr>
          <a:xfrm>
            <a:off x="311700" y="213000"/>
            <a:ext cx="8520600" cy="24411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935"/>
              <a:buFont typeface="Arial"/>
              <a:buNone/>
            </a:pPr>
            <a:r>
              <a:rPr b="1" lang="en" sz="2105">
                <a:solidFill>
                  <a:schemeClr val="dk1"/>
                </a:solidFill>
              </a:rPr>
              <a:t>2. Resampling Superposition (Frequency-Domain Modification)</a:t>
            </a:r>
            <a:endParaRPr b="1" sz="2105">
              <a:solidFill>
                <a:schemeClr val="dk1"/>
              </a:solidFill>
            </a:endParaRPr>
          </a:p>
          <a:p>
            <a:pPr indent="-351473" lvl="0" marL="457200" rtl="0" algn="l">
              <a:lnSpc>
                <a:spcPct val="95000"/>
              </a:lnSpc>
              <a:spcBef>
                <a:spcPts val="1200"/>
              </a:spcBef>
              <a:spcAft>
                <a:spcPts val="0"/>
              </a:spcAft>
              <a:buClr>
                <a:schemeClr val="dk1"/>
              </a:buClr>
              <a:buSzPts val="1935"/>
              <a:buChar char="●"/>
            </a:pPr>
            <a:r>
              <a:rPr lang="en" sz="1935">
                <a:solidFill>
                  <a:schemeClr val="dk1"/>
                </a:solidFill>
              </a:rPr>
              <a:t>Resamples the original signal at a different frequency</a:t>
            </a:r>
            <a:endParaRPr sz="1935">
              <a:solidFill>
                <a:schemeClr val="dk1"/>
              </a:solidFill>
            </a:endParaRPr>
          </a:p>
          <a:p>
            <a:pPr indent="-351473" lvl="0" marL="457200" rtl="0" algn="l">
              <a:lnSpc>
                <a:spcPct val="95000"/>
              </a:lnSpc>
              <a:spcBef>
                <a:spcPts val="0"/>
              </a:spcBef>
              <a:spcAft>
                <a:spcPts val="0"/>
              </a:spcAft>
              <a:buClr>
                <a:schemeClr val="dk1"/>
              </a:buClr>
              <a:buSzPts val="1935"/>
              <a:buChar char="●"/>
            </a:pPr>
            <a:r>
              <a:rPr lang="en" sz="1935">
                <a:solidFill>
                  <a:schemeClr val="dk1"/>
                </a:solidFill>
              </a:rPr>
              <a:t>Superimposes it with the original signal</a:t>
            </a:r>
            <a:endParaRPr sz="1935">
              <a:solidFill>
                <a:schemeClr val="dk1"/>
              </a:solidFill>
            </a:endParaRPr>
          </a:p>
          <a:p>
            <a:pPr indent="-351473" lvl="0" marL="457200" rtl="0" algn="l">
              <a:lnSpc>
                <a:spcPct val="95000"/>
              </a:lnSpc>
              <a:spcBef>
                <a:spcPts val="0"/>
              </a:spcBef>
              <a:spcAft>
                <a:spcPts val="0"/>
              </a:spcAft>
              <a:buClr>
                <a:schemeClr val="dk1"/>
              </a:buClr>
              <a:buSzPts val="1935"/>
              <a:buChar char="●"/>
            </a:pPr>
            <a:r>
              <a:rPr lang="en" sz="1935">
                <a:solidFill>
                  <a:schemeClr val="dk1"/>
                </a:solidFill>
              </a:rPr>
              <a:t>Introduces:</a:t>
            </a:r>
            <a:endParaRPr sz="1935">
              <a:solidFill>
                <a:schemeClr val="dk1"/>
              </a:solidFill>
            </a:endParaRPr>
          </a:p>
          <a:p>
            <a:pPr indent="-351473" lvl="1" marL="914400" rtl="0" algn="l">
              <a:lnSpc>
                <a:spcPct val="95000"/>
              </a:lnSpc>
              <a:spcBef>
                <a:spcPts val="0"/>
              </a:spcBef>
              <a:spcAft>
                <a:spcPts val="0"/>
              </a:spcAft>
              <a:buClr>
                <a:schemeClr val="dk1"/>
              </a:buClr>
              <a:buSzPts val="1935"/>
              <a:buChar char="○"/>
            </a:pPr>
            <a:r>
              <a:rPr lang="en" sz="1935">
                <a:solidFill>
                  <a:schemeClr val="dk1"/>
                </a:solidFill>
              </a:rPr>
              <a:t>new spectral peaks</a:t>
            </a:r>
            <a:endParaRPr sz="1935">
              <a:solidFill>
                <a:schemeClr val="dk1"/>
              </a:solidFill>
            </a:endParaRPr>
          </a:p>
          <a:p>
            <a:pPr indent="-351473" lvl="1" marL="914400" rtl="0" algn="l">
              <a:lnSpc>
                <a:spcPct val="95000"/>
              </a:lnSpc>
              <a:spcBef>
                <a:spcPts val="0"/>
              </a:spcBef>
              <a:spcAft>
                <a:spcPts val="0"/>
              </a:spcAft>
              <a:buClr>
                <a:schemeClr val="dk1"/>
              </a:buClr>
              <a:buSzPts val="1935"/>
              <a:buChar char="○"/>
            </a:pPr>
            <a:r>
              <a:rPr lang="en" sz="1935">
                <a:solidFill>
                  <a:schemeClr val="dk1"/>
                </a:solidFill>
              </a:rPr>
              <a:t>frequency disturbances</a:t>
            </a:r>
            <a:endParaRPr sz="1935">
              <a:solidFill>
                <a:schemeClr val="dk1"/>
              </a:solidFill>
            </a:endParaRPr>
          </a:p>
          <a:p>
            <a:pPr indent="-351473" lvl="1" marL="914400" rtl="0" algn="l">
              <a:lnSpc>
                <a:spcPct val="95000"/>
              </a:lnSpc>
              <a:spcBef>
                <a:spcPts val="0"/>
              </a:spcBef>
              <a:spcAft>
                <a:spcPts val="0"/>
              </a:spcAft>
              <a:buClr>
                <a:schemeClr val="dk1"/>
              </a:buClr>
              <a:buSzPts val="1935"/>
              <a:buChar char="○"/>
            </a:pPr>
            <a:r>
              <a:rPr lang="en" sz="1935">
                <a:solidFill>
                  <a:schemeClr val="dk1"/>
                </a:solidFill>
              </a:rPr>
              <a:t>abnormal frequency components</a:t>
            </a:r>
            <a:endParaRPr sz="1935">
              <a:solidFill>
                <a:schemeClr val="dk1"/>
              </a:solidFill>
            </a:endParaRPr>
          </a:p>
          <a:p>
            <a:pPr indent="0" lvl="0" marL="0" rtl="0" algn="l">
              <a:spcBef>
                <a:spcPts val="1200"/>
              </a:spcBef>
              <a:spcAft>
                <a:spcPts val="1200"/>
              </a:spcAft>
              <a:buNone/>
            </a:pPr>
            <a:r>
              <a:t/>
            </a:r>
            <a:endParaRPr sz="2300"/>
          </a:p>
        </p:txBody>
      </p:sp>
      <p:pic>
        <p:nvPicPr>
          <p:cNvPr id="120" name="Google Shape;120;p24"/>
          <p:cNvPicPr preferRelativeResize="0"/>
          <p:nvPr/>
        </p:nvPicPr>
        <p:blipFill>
          <a:blip r:embed="rId3">
            <a:alphaModFix/>
          </a:blip>
          <a:stretch>
            <a:fillRect/>
          </a:stretch>
        </p:blipFill>
        <p:spPr>
          <a:xfrm>
            <a:off x="470900" y="3101399"/>
            <a:ext cx="8202200" cy="745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idx="1" type="body"/>
          </p:nvPr>
        </p:nvSpPr>
        <p:spPr>
          <a:xfrm>
            <a:off x="311700" y="1375950"/>
            <a:ext cx="8520600" cy="3478800"/>
          </a:xfrm>
          <a:prstGeom prst="rect">
            <a:avLst/>
          </a:prstGeom>
        </p:spPr>
        <p:txBody>
          <a:bodyPr anchorCtr="0" anchor="t" bIns="91425" lIns="91425" spcFirstLastPara="1" rIns="91425" wrap="square" tIns="91425">
            <a:normAutofit/>
          </a:bodyPr>
          <a:lstStyle/>
          <a:p>
            <a:pPr indent="-336550" lvl="0" marL="457200" rtl="0" algn="l">
              <a:spcBef>
                <a:spcPts val="400"/>
              </a:spcBef>
              <a:spcAft>
                <a:spcPts val="0"/>
              </a:spcAft>
              <a:buClr>
                <a:schemeClr val="dk1"/>
              </a:buClr>
              <a:buSzPts val="1700"/>
              <a:buAutoNum type="arabicPeriod"/>
            </a:pPr>
            <a:r>
              <a:rPr lang="en" sz="1700">
                <a:solidFill>
                  <a:schemeClr val="dk1"/>
                </a:solidFill>
              </a:rPr>
              <a:t>XG: Original healthy signal</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XF: Generated abnormal signal</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fs: Original sampling frequency</a:t>
            </a:r>
            <a:endParaRPr sz="1700">
              <a:solidFill>
                <a:schemeClr val="dk1"/>
              </a:solidFill>
            </a:endParaRPr>
          </a:p>
          <a:p>
            <a:pPr indent="0" lvl="0" marL="0" rtl="0" algn="l">
              <a:spcBef>
                <a:spcPts val="1200"/>
              </a:spcBef>
              <a:spcAft>
                <a:spcPts val="0"/>
              </a:spcAft>
              <a:buNone/>
            </a:pPr>
            <a:r>
              <a:rPr b="1" i="1" lang="en" sz="1700" u="sng">
                <a:solidFill>
                  <a:schemeClr val="dk1"/>
                </a:solidFill>
              </a:rPr>
              <a:t>fs</a:t>
            </a:r>
            <a:r>
              <a:rPr i="1" lang="en" sz="1700" u="sng">
                <a:solidFill>
                  <a:schemeClr val="dk1"/>
                </a:solidFill>
              </a:rPr>
              <a:t>​ is the frequency at which the sensor originally collected data.</a:t>
            </a:r>
            <a:endParaRPr i="1" sz="1700" u="sng">
              <a:solidFill>
                <a:schemeClr val="dk1"/>
              </a:solidFill>
            </a:endParaRPr>
          </a:p>
          <a:p>
            <a:pPr indent="-336550" lvl="0" marL="457200" rtl="0" algn="l">
              <a:spcBef>
                <a:spcPts val="1200"/>
              </a:spcBef>
              <a:spcAft>
                <a:spcPts val="0"/>
              </a:spcAft>
              <a:buClr>
                <a:schemeClr val="dk1"/>
              </a:buClr>
              <a:buSzPts val="1700"/>
              <a:buAutoNum type="arabicPeriod"/>
            </a:pPr>
            <a:r>
              <a:rPr lang="en" sz="1700">
                <a:solidFill>
                  <a:schemeClr val="dk1"/>
                </a:solidFill>
              </a:rPr>
              <a:t>ft: Target sampling frequency</a:t>
            </a:r>
            <a:endParaRPr sz="1700">
              <a:solidFill>
                <a:schemeClr val="dk1"/>
              </a:solidFill>
            </a:endParaRPr>
          </a:p>
          <a:p>
            <a:pPr indent="0" lvl="0" marL="0" rtl="0" algn="l">
              <a:spcBef>
                <a:spcPts val="400"/>
              </a:spcBef>
              <a:spcAft>
                <a:spcPts val="0"/>
              </a:spcAft>
              <a:buNone/>
            </a:pPr>
            <a:r>
              <a:rPr b="1" i="1" lang="en" sz="1700" u="sng">
                <a:solidFill>
                  <a:schemeClr val="dk1"/>
                </a:solidFill>
              </a:rPr>
              <a:t>ft</a:t>
            </a:r>
            <a:r>
              <a:rPr i="1" lang="en" sz="1700" u="sng">
                <a:solidFill>
                  <a:schemeClr val="dk1"/>
                </a:solidFill>
              </a:rPr>
              <a:t>​ is an artificially chosen frequency used during resampling. It is selected randomly to </a:t>
            </a:r>
            <a:r>
              <a:rPr i="1" lang="en" sz="1700" u="sng">
                <a:solidFill>
                  <a:schemeClr val="dk1"/>
                </a:solidFill>
              </a:rPr>
              <a:t>imitate</a:t>
            </a:r>
            <a:r>
              <a:rPr i="1" lang="en" sz="1700" u="sng">
                <a:solidFill>
                  <a:schemeClr val="dk1"/>
                </a:solidFill>
              </a:rPr>
              <a:t> abnormal behaviour.</a:t>
            </a:r>
            <a:endParaRPr i="1" sz="1700" u="sng">
              <a:solidFill>
                <a:schemeClr val="dk1"/>
              </a:solidFill>
            </a:endParaRPr>
          </a:p>
          <a:p>
            <a:pPr indent="-336550" lvl="0" marL="457200" rtl="0" algn="l">
              <a:spcBef>
                <a:spcPts val="400"/>
              </a:spcBef>
              <a:spcAft>
                <a:spcPts val="0"/>
              </a:spcAft>
              <a:buClr>
                <a:schemeClr val="dk1"/>
              </a:buClr>
              <a:buSzPts val="1700"/>
              <a:buAutoNum type="arabicPeriod"/>
            </a:pPr>
            <a:r>
              <a:rPr lang="en" sz="1700">
                <a:solidFill>
                  <a:schemeClr val="dk1"/>
                </a:solidFill>
              </a:rPr>
              <a:t>ηF: Scaling factor</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λF: Mixing factor</a:t>
            </a:r>
            <a:endParaRPr sz="1700">
              <a:solidFill>
                <a:schemeClr val="dk1"/>
              </a:solidFill>
            </a:endParaRPr>
          </a:p>
        </p:txBody>
      </p:sp>
      <p:pic>
        <p:nvPicPr>
          <p:cNvPr id="126" name="Google Shape;126;p25"/>
          <p:cNvPicPr preferRelativeResize="0"/>
          <p:nvPr/>
        </p:nvPicPr>
        <p:blipFill>
          <a:blip r:embed="rId3">
            <a:alphaModFix/>
          </a:blip>
          <a:stretch>
            <a:fillRect/>
          </a:stretch>
        </p:blipFill>
        <p:spPr>
          <a:xfrm>
            <a:off x="470900" y="470924"/>
            <a:ext cx="8202200" cy="745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10629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b="1" lang="en" sz="4000"/>
              <a:t>Full Generation Flow</a:t>
            </a:r>
            <a:endParaRPr b="1" sz="4000"/>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1200"/>
              </a:spcBef>
              <a:spcAft>
                <a:spcPts val="1200"/>
              </a:spcAft>
              <a:buNone/>
            </a:pPr>
            <a:r>
              <a:rPr b="1" lang="en" sz="1400">
                <a:solidFill>
                  <a:schemeClr val="dk1"/>
                </a:solidFill>
              </a:rPr>
              <a:t>Healthy Sample</a:t>
            </a:r>
            <a:br>
              <a:rPr b="1" lang="en" sz="1400">
                <a:solidFill>
                  <a:schemeClr val="dk1"/>
                </a:solidFill>
              </a:rPr>
            </a:br>
            <a:r>
              <a:rPr b="1" lang="en" sz="1400">
                <a:solidFill>
                  <a:schemeClr val="dk1"/>
                </a:solidFill>
              </a:rPr>
              <a:t> ↓</a:t>
            </a:r>
            <a:br>
              <a:rPr b="1" lang="en" sz="1400">
                <a:solidFill>
                  <a:schemeClr val="dk1"/>
                </a:solidFill>
              </a:rPr>
            </a:br>
            <a:r>
              <a:rPr b="1" lang="en" sz="1400">
                <a:solidFill>
                  <a:schemeClr val="dk1"/>
                </a:solidFill>
              </a:rPr>
              <a:t> Random Channel Selection</a:t>
            </a:r>
            <a:br>
              <a:rPr b="1" lang="en" sz="1400">
                <a:solidFill>
                  <a:schemeClr val="dk1"/>
                </a:solidFill>
              </a:rPr>
            </a:br>
            <a:r>
              <a:rPr b="1" lang="en" sz="1400">
                <a:solidFill>
                  <a:schemeClr val="dk1"/>
                </a:solidFill>
              </a:rPr>
              <a:t> ↓</a:t>
            </a:r>
            <a:br>
              <a:rPr b="1" lang="en" sz="1400">
                <a:solidFill>
                  <a:schemeClr val="dk1"/>
                </a:solidFill>
              </a:rPr>
            </a:br>
            <a:r>
              <a:rPr b="1" lang="en" sz="1400">
                <a:solidFill>
                  <a:schemeClr val="dk1"/>
                </a:solidFill>
              </a:rPr>
              <a:t> Apply Vibration Sharpening</a:t>
            </a:r>
            <a:br>
              <a:rPr b="1" lang="en" sz="1400">
                <a:solidFill>
                  <a:schemeClr val="dk1"/>
                </a:solidFill>
              </a:rPr>
            </a:br>
            <a:r>
              <a:rPr b="1" lang="en" sz="1400">
                <a:solidFill>
                  <a:schemeClr val="dk1"/>
                </a:solidFill>
              </a:rPr>
              <a:t> ↓</a:t>
            </a:r>
            <a:br>
              <a:rPr b="1" lang="en" sz="1400">
                <a:solidFill>
                  <a:schemeClr val="dk1"/>
                </a:solidFill>
              </a:rPr>
            </a:br>
            <a:r>
              <a:rPr b="1" lang="en" sz="1400">
                <a:solidFill>
                  <a:schemeClr val="dk1"/>
                </a:solidFill>
              </a:rPr>
              <a:t> Intermediate Abnormal Sample</a:t>
            </a:r>
            <a:br>
              <a:rPr b="1" lang="en" sz="1400">
                <a:solidFill>
                  <a:schemeClr val="dk1"/>
                </a:solidFill>
              </a:rPr>
            </a:br>
            <a:r>
              <a:rPr b="1" lang="en" sz="1400">
                <a:solidFill>
                  <a:schemeClr val="dk1"/>
                </a:solidFill>
              </a:rPr>
              <a:t> ↓</a:t>
            </a:r>
            <a:br>
              <a:rPr b="1" lang="en" sz="1400">
                <a:solidFill>
                  <a:schemeClr val="dk1"/>
                </a:solidFill>
              </a:rPr>
            </a:br>
            <a:r>
              <a:rPr b="1" lang="en" sz="1400">
                <a:solidFill>
                  <a:schemeClr val="dk1"/>
                </a:solidFill>
              </a:rPr>
              <a:t> Random Channel Selection</a:t>
            </a:r>
            <a:br>
              <a:rPr b="1" lang="en" sz="1400">
                <a:solidFill>
                  <a:schemeClr val="dk1"/>
                </a:solidFill>
              </a:rPr>
            </a:br>
            <a:r>
              <a:rPr b="1" lang="en" sz="1400">
                <a:solidFill>
                  <a:schemeClr val="dk1"/>
                </a:solidFill>
              </a:rPr>
              <a:t> ↓</a:t>
            </a:r>
            <a:br>
              <a:rPr b="1" lang="en" sz="1400">
                <a:solidFill>
                  <a:schemeClr val="dk1"/>
                </a:solidFill>
              </a:rPr>
            </a:br>
            <a:r>
              <a:rPr b="1" lang="en" sz="1400">
                <a:solidFill>
                  <a:schemeClr val="dk1"/>
                </a:solidFill>
              </a:rPr>
              <a:t> Apply Resampling Superposition</a:t>
            </a:r>
            <a:br>
              <a:rPr b="1" lang="en" sz="1400">
                <a:solidFill>
                  <a:schemeClr val="dk1"/>
                </a:solidFill>
              </a:rPr>
            </a:br>
            <a:r>
              <a:rPr b="1" lang="en" sz="1400">
                <a:solidFill>
                  <a:schemeClr val="dk1"/>
                </a:solidFill>
              </a:rPr>
              <a:t> ↓</a:t>
            </a:r>
            <a:br>
              <a:rPr b="1" lang="en" sz="1400">
                <a:solidFill>
                  <a:schemeClr val="dk1"/>
                </a:solidFill>
              </a:rPr>
            </a:br>
            <a:r>
              <a:rPr b="1" lang="en" sz="1400">
                <a:solidFill>
                  <a:schemeClr val="dk1"/>
                </a:solidFill>
              </a:rPr>
              <a:t> Final Negative Sample</a:t>
            </a:r>
            <a:endParaRPr b="1" sz="2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title"/>
          </p:nvPr>
        </p:nvSpPr>
        <p:spPr>
          <a:xfrm>
            <a:off x="311700" y="445025"/>
            <a:ext cx="8520600" cy="7926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Clr>
                <a:schemeClr val="dk1"/>
              </a:buClr>
              <a:buSzPts val="1100"/>
              <a:buFont typeface="Arial"/>
              <a:buNone/>
            </a:pPr>
            <a:r>
              <a:rPr b="1" lang="en" sz="3600"/>
              <a:t>What are Random Transformations?</a:t>
            </a:r>
            <a:endParaRPr b="1" sz="4200"/>
          </a:p>
        </p:txBody>
      </p:sp>
      <p:sp>
        <p:nvSpPr>
          <p:cNvPr id="138" name="Google Shape;138;p27"/>
          <p:cNvSpPr txBox="1"/>
          <p:nvPr>
            <p:ph idx="1" type="body"/>
          </p:nvPr>
        </p:nvSpPr>
        <p:spPr>
          <a:xfrm>
            <a:off x="311700" y="1152475"/>
            <a:ext cx="8520600" cy="36552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t/>
            </a:r>
            <a:endParaRPr b="1"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The abnormal transformations use randomly selected parameters during sample generation.</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2000">
                <a:solidFill>
                  <a:schemeClr val="dk1"/>
                </a:solidFill>
              </a:rPr>
              <a:t>Parameters Randomly Changed:</a:t>
            </a:r>
            <a:endParaRPr b="1"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600">
                <a:solidFill>
                  <a:schemeClr val="dk1"/>
                </a:solidFill>
              </a:rPr>
              <a:t>In Vibration Sharpening</a:t>
            </a:r>
            <a:endParaRPr b="1" sz="16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Scaling factor ηA​</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Mixing factor λA</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Sharpening factor γ</a:t>
            </a:r>
            <a:endParaRPr sz="1400">
              <a:solidFill>
                <a:schemeClr val="dk1"/>
              </a:solidFill>
            </a:endParaRPr>
          </a:p>
          <a:p>
            <a:pPr indent="0" lvl="0" marL="0" rtl="0" algn="l">
              <a:lnSpc>
                <a:spcPct val="100000"/>
              </a:lnSpc>
              <a:spcBef>
                <a:spcPts val="0"/>
              </a:spcBef>
              <a:spcAft>
                <a:spcPts val="0"/>
              </a:spcAft>
              <a:buNone/>
            </a:pPr>
            <a:r>
              <a:rPr b="1" lang="en" sz="1600">
                <a:solidFill>
                  <a:schemeClr val="dk1"/>
                </a:solidFill>
              </a:rPr>
              <a:t>In Resampling Superposition</a:t>
            </a:r>
            <a:endParaRPr b="1" sz="16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Target frequency ft​</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Scaling factor ηF</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Mixing factor λF</a:t>
            </a:r>
            <a:endParaRPr b="1" sz="2000">
              <a:solidFill>
                <a:schemeClr val="dk1"/>
              </a:solidFill>
            </a:endParaRPr>
          </a:p>
          <a:p>
            <a:pPr indent="0" lvl="0" marL="0" rtl="0" algn="l">
              <a:lnSpc>
                <a:spcPct val="100000"/>
              </a:lnSpc>
              <a:spcBef>
                <a:spcPts val="0"/>
              </a:spcBef>
              <a:spcAft>
                <a:spcPts val="0"/>
              </a:spcAft>
              <a:buNone/>
            </a:pPr>
            <a:r>
              <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Due to these random samplings, different generated samp</a:t>
            </a:r>
            <a:r>
              <a:rPr lang="en" sz="1400">
                <a:solidFill>
                  <a:schemeClr val="dk1"/>
                </a:solidFill>
              </a:rPr>
              <a:t>les may contain: weak abnormalities, strong abnormalities, different spectral distortions, different vibration patterns</a:t>
            </a:r>
            <a:endParaRPr sz="2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Clr>
                <a:schemeClr val="dk1"/>
              </a:buClr>
              <a:buSzPts val="1100"/>
              <a:buFont typeface="Arial"/>
              <a:buNone/>
            </a:pPr>
            <a:r>
              <a:rPr b="1" lang="en" sz="2900"/>
              <a:t>What Does “Infinite Negative Samples” Mean?</a:t>
            </a:r>
            <a:endParaRPr sz="4000"/>
          </a:p>
        </p:txBody>
      </p:sp>
      <p:sp>
        <p:nvSpPr>
          <p:cNvPr id="144" name="Google Shape;144;p28"/>
          <p:cNvSpPr txBox="1"/>
          <p:nvPr>
            <p:ph idx="1" type="body"/>
          </p:nvPr>
        </p:nvSpPr>
        <p:spPr>
          <a:xfrm>
            <a:off x="311700" y="1152475"/>
            <a:ext cx="8520600" cy="3760800"/>
          </a:xfrm>
          <a:prstGeom prst="rect">
            <a:avLst/>
          </a:prstGeom>
        </p:spPr>
        <p:txBody>
          <a:bodyPr anchorCtr="0" anchor="t" bIns="91425" lIns="91425" spcFirstLastPara="1" rIns="91425" wrap="square" tIns="91425">
            <a:noAutofit/>
          </a:bodyPr>
          <a:lstStyle/>
          <a:p>
            <a:pPr indent="0" lvl="0" marL="0" rtl="0" algn="l">
              <a:lnSpc>
                <a:spcPct val="100000"/>
              </a:lnSpc>
              <a:spcBef>
                <a:spcPts val="1000"/>
              </a:spcBef>
              <a:spcAft>
                <a:spcPts val="0"/>
              </a:spcAft>
              <a:buClr>
                <a:schemeClr val="dk1"/>
              </a:buClr>
              <a:buSzPts val="1100"/>
              <a:buFont typeface="Arial"/>
              <a:buNone/>
            </a:pPr>
            <a:r>
              <a:rPr lang="en" sz="1500">
                <a:solidFill>
                  <a:schemeClr val="dk1"/>
                </a:solidFill>
              </a:rPr>
              <a:t>The framework can continuously generate new abnormal samples dynamically.</a:t>
            </a:r>
            <a:endParaRPr sz="15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 sz="1500">
                <a:solidFill>
                  <a:schemeClr val="dk1"/>
                </a:solidFill>
              </a:rPr>
              <a:t>It does NOT store infinite data.</a:t>
            </a:r>
            <a:endParaRPr sz="15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 sz="1500">
                <a:solidFill>
                  <a:schemeClr val="dk1"/>
                </a:solidFill>
              </a:rPr>
              <a:t>Instead: new samples are created every training epoch.</a:t>
            </a:r>
            <a:endParaRPr sz="15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 sz="2100">
                <a:solidFill>
                  <a:schemeClr val="dk1"/>
                </a:solidFill>
              </a:rPr>
              <a:t>How Is This Achieved?</a:t>
            </a:r>
            <a:endParaRPr b="1" sz="2100">
              <a:solidFill>
                <a:schemeClr val="dk1"/>
              </a:solidFill>
            </a:endParaRPr>
          </a:p>
          <a:p>
            <a:pPr indent="0" lvl="0" marL="0" rtl="0" algn="l">
              <a:lnSpc>
                <a:spcPct val="100000"/>
              </a:lnSpc>
              <a:spcBef>
                <a:spcPts val="1000"/>
              </a:spcBef>
              <a:spcAft>
                <a:spcPts val="0"/>
              </a:spcAft>
              <a:buClr>
                <a:schemeClr val="dk1"/>
              </a:buClr>
              <a:buSzPts val="1100"/>
              <a:buFont typeface="Arial"/>
              <a:buNone/>
            </a:pPr>
            <a:r>
              <a:rPr lang="en" sz="1500">
                <a:solidFill>
                  <a:schemeClr val="dk1"/>
                </a:solidFill>
              </a:rPr>
              <a:t>Through randomness in:</a:t>
            </a:r>
            <a:endParaRPr sz="1500">
              <a:solidFill>
                <a:schemeClr val="dk1"/>
              </a:solidFill>
            </a:endParaRPr>
          </a:p>
          <a:p>
            <a:pPr indent="-323850" lvl="0" marL="457200" rtl="0" algn="l">
              <a:lnSpc>
                <a:spcPct val="100000"/>
              </a:lnSpc>
              <a:spcBef>
                <a:spcPts val="1200"/>
              </a:spcBef>
              <a:spcAft>
                <a:spcPts val="0"/>
              </a:spcAft>
              <a:buClr>
                <a:schemeClr val="dk1"/>
              </a:buClr>
              <a:buSzPts val="1500"/>
              <a:buChar char="●"/>
            </a:pPr>
            <a:r>
              <a:rPr lang="en" sz="1500">
                <a:solidFill>
                  <a:schemeClr val="dk1"/>
                </a:solidFill>
              </a:rPr>
              <a:t>channel selection</a:t>
            </a:r>
            <a:endParaRPr sz="1500">
              <a:solidFill>
                <a:schemeClr val="dk1"/>
              </a:solidFill>
            </a:endParaRPr>
          </a:p>
          <a:p>
            <a:pPr indent="-323850" lvl="0" marL="457200" rtl="0" algn="l">
              <a:lnSpc>
                <a:spcPct val="100000"/>
              </a:lnSpc>
              <a:spcBef>
                <a:spcPts val="1200"/>
              </a:spcBef>
              <a:spcAft>
                <a:spcPts val="0"/>
              </a:spcAft>
              <a:buClr>
                <a:schemeClr val="dk1"/>
              </a:buClr>
              <a:buSzPts val="1500"/>
              <a:buChar char="●"/>
            </a:pPr>
            <a:r>
              <a:rPr lang="en" sz="1500">
                <a:solidFill>
                  <a:schemeClr val="dk1"/>
                </a:solidFill>
              </a:rPr>
              <a:t>sharpening factors</a:t>
            </a:r>
            <a:endParaRPr sz="1500">
              <a:solidFill>
                <a:schemeClr val="dk1"/>
              </a:solidFill>
            </a:endParaRPr>
          </a:p>
          <a:p>
            <a:pPr indent="-323850" lvl="0" marL="457200" rtl="0" algn="l">
              <a:lnSpc>
                <a:spcPct val="100000"/>
              </a:lnSpc>
              <a:spcBef>
                <a:spcPts val="1000"/>
              </a:spcBef>
              <a:spcAft>
                <a:spcPts val="0"/>
              </a:spcAft>
              <a:buClr>
                <a:schemeClr val="dk1"/>
              </a:buClr>
              <a:buSzPts val="1500"/>
              <a:buChar char="●"/>
            </a:pPr>
            <a:r>
              <a:rPr lang="en" sz="1500">
                <a:solidFill>
                  <a:schemeClr val="dk1"/>
                </a:solidFill>
              </a:rPr>
              <a:t>scaling factors</a:t>
            </a:r>
            <a:endParaRPr sz="1500">
              <a:solidFill>
                <a:schemeClr val="dk1"/>
              </a:solidFill>
            </a:endParaRPr>
          </a:p>
          <a:p>
            <a:pPr indent="-323850" lvl="0" marL="457200" rtl="0" algn="l">
              <a:lnSpc>
                <a:spcPct val="100000"/>
              </a:lnSpc>
              <a:spcBef>
                <a:spcPts val="1000"/>
              </a:spcBef>
              <a:spcAft>
                <a:spcPts val="0"/>
              </a:spcAft>
              <a:buClr>
                <a:schemeClr val="dk1"/>
              </a:buClr>
              <a:buSzPts val="1500"/>
              <a:buChar char="●"/>
            </a:pPr>
            <a:r>
              <a:rPr lang="en" sz="1500">
                <a:solidFill>
                  <a:schemeClr val="dk1"/>
                </a:solidFill>
              </a:rPr>
              <a:t>resampling frequencies</a:t>
            </a:r>
            <a:endParaRPr sz="1500">
              <a:solidFill>
                <a:schemeClr val="dk1"/>
              </a:solidFill>
            </a:endParaRPr>
          </a:p>
          <a:p>
            <a:pPr indent="-323850" lvl="0" marL="457200" rtl="0" algn="l">
              <a:lnSpc>
                <a:spcPct val="100000"/>
              </a:lnSpc>
              <a:spcBef>
                <a:spcPts val="1000"/>
              </a:spcBef>
              <a:spcAft>
                <a:spcPts val="1200"/>
              </a:spcAft>
              <a:buClr>
                <a:schemeClr val="dk1"/>
              </a:buClr>
              <a:buSzPts val="1500"/>
              <a:buChar char="●"/>
            </a:pPr>
            <a:r>
              <a:rPr lang="en" sz="1500">
                <a:solidFill>
                  <a:schemeClr val="dk1"/>
                </a:solidFill>
              </a:rPr>
              <a:t>mixing ratios</a:t>
            </a:r>
            <a:endParaRPr sz="2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9"/>
          <p:cNvSpPr txBox="1"/>
          <p:nvPr>
            <p:ph type="title"/>
          </p:nvPr>
        </p:nvSpPr>
        <p:spPr>
          <a:xfrm>
            <a:off x="311700" y="445025"/>
            <a:ext cx="8520600" cy="10629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b="1" lang="en" sz="4000"/>
              <a:t>Full Generation Flow</a:t>
            </a:r>
            <a:endParaRPr b="1" sz="4000"/>
          </a:p>
        </p:txBody>
      </p:sp>
      <p:sp>
        <p:nvSpPr>
          <p:cNvPr id="150" name="Google Shape;150;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1200"/>
              </a:spcBef>
              <a:spcAft>
                <a:spcPts val="1200"/>
              </a:spcAft>
              <a:buNone/>
            </a:pPr>
            <a:r>
              <a:rPr b="1" lang="en" sz="1400">
                <a:solidFill>
                  <a:schemeClr val="dk1"/>
                </a:solidFill>
              </a:rPr>
              <a:t>Healthy Sample</a:t>
            </a:r>
            <a:br>
              <a:rPr b="1" lang="en" sz="1400">
                <a:solidFill>
                  <a:schemeClr val="dk1"/>
                </a:solidFill>
              </a:rPr>
            </a:br>
            <a:r>
              <a:rPr b="1" lang="en" sz="1400">
                <a:solidFill>
                  <a:schemeClr val="dk1"/>
                </a:solidFill>
              </a:rPr>
              <a:t> ↓</a:t>
            </a:r>
            <a:br>
              <a:rPr b="1" lang="en" sz="1400">
                <a:solidFill>
                  <a:schemeClr val="dk1"/>
                </a:solidFill>
              </a:rPr>
            </a:br>
            <a:r>
              <a:rPr b="1" lang="en" sz="1400">
                <a:solidFill>
                  <a:schemeClr val="dk1"/>
                </a:solidFill>
              </a:rPr>
              <a:t> Random Channel Selection</a:t>
            </a:r>
            <a:br>
              <a:rPr b="1" lang="en" sz="1400">
                <a:solidFill>
                  <a:schemeClr val="dk1"/>
                </a:solidFill>
              </a:rPr>
            </a:br>
            <a:r>
              <a:rPr b="1" lang="en" sz="1400">
                <a:solidFill>
                  <a:schemeClr val="dk1"/>
                </a:solidFill>
              </a:rPr>
              <a:t> ↓</a:t>
            </a:r>
            <a:br>
              <a:rPr b="1" lang="en" sz="1400">
                <a:solidFill>
                  <a:schemeClr val="dk1"/>
                </a:solidFill>
              </a:rPr>
            </a:br>
            <a:r>
              <a:rPr b="1" lang="en" sz="1400">
                <a:solidFill>
                  <a:schemeClr val="dk1"/>
                </a:solidFill>
              </a:rPr>
              <a:t> Apply Vibration Sharpening</a:t>
            </a:r>
            <a:br>
              <a:rPr b="1" lang="en" sz="1400">
                <a:solidFill>
                  <a:schemeClr val="dk1"/>
                </a:solidFill>
              </a:rPr>
            </a:br>
            <a:r>
              <a:rPr b="1" lang="en" sz="1400">
                <a:solidFill>
                  <a:schemeClr val="dk1"/>
                </a:solidFill>
              </a:rPr>
              <a:t> ↓</a:t>
            </a:r>
            <a:br>
              <a:rPr b="1" lang="en" sz="1400">
                <a:solidFill>
                  <a:schemeClr val="dk1"/>
                </a:solidFill>
              </a:rPr>
            </a:br>
            <a:r>
              <a:rPr b="1" lang="en" sz="1400">
                <a:solidFill>
                  <a:schemeClr val="dk1"/>
                </a:solidFill>
              </a:rPr>
              <a:t> Intermediate Abnormal Sample</a:t>
            </a:r>
            <a:br>
              <a:rPr b="1" lang="en" sz="1400">
                <a:solidFill>
                  <a:schemeClr val="dk1"/>
                </a:solidFill>
              </a:rPr>
            </a:br>
            <a:r>
              <a:rPr b="1" lang="en" sz="1400">
                <a:solidFill>
                  <a:schemeClr val="dk1"/>
                </a:solidFill>
              </a:rPr>
              <a:t> ↓</a:t>
            </a:r>
            <a:br>
              <a:rPr b="1" lang="en" sz="1400">
                <a:solidFill>
                  <a:schemeClr val="dk1"/>
                </a:solidFill>
              </a:rPr>
            </a:br>
            <a:r>
              <a:rPr b="1" lang="en" sz="1400">
                <a:solidFill>
                  <a:schemeClr val="dk1"/>
                </a:solidFill>
              </a:rPr>
              <a:t> Random Channel Selection</a:t>
            </a:r>
            <a:br>
              <a:rPr b="1" lang="en" sz="1400">
                <a:solidFill>
                  <a:schemeClr val="dk1"/>
                </a:solidFill>
              </a:rPr>
            </a:br>
            <a:r>
              <a:rPr b="1" lang="en" sz="1400">
                <a:solidFill>
                  <a:schemeClr val="dk1"/>
                </a:solidFill>
              </a:rPr>
              <a:t> ↓</a:t>
            </a:r>
            <a:br>
              <a:rPr b="1" lang="en" sz="1400">
                <a:solidFill>
                  <a:schemeClr val="dk1"/>
                </a:solidFill>
              </a:rPr>
            </a:br>
            <a:r>
              <a:rPr b="1" lang="en" sz="1400">
                <a:solidFill>
                  <a:schemeClr val="dk1"/>
                </a:solidFill>
              </a:rPr>
              <a:t> Apply Resampling Superposition</a:t>
            </a:r>
            <a:br>
              <a:rPr b="1" lang="en" sz="1400">
                <a:solidFill>
                  <a:schemeClr val="dk1"/>
                </a:solidFill>
              </a:rPr>
            </a:br>
            <a:r>
              <a:rPr b="1" lang="en" sz="1400">
                <a:solidFill>
                  <a:schemeClr val="dk1"/>
                </a:solidFill>
              </a:rPr>
              <a:t> ↓</a:t>
            </a:r>
            <a:br>
              <a:rPr b="1" lang="en" sz="1400">
                <a:solidFill>
                  <a:schemeClr val="dk1"/>
                </a:solidFill>
              </a:rPr>
            </a:br>
            <a:r>
              <a:rPr b="1" lang="en" sz="1400">
                <a:solidFill>
                  <a:schemeClr val="dk1"/>
                </a:solidFill>
              </a:rPr>
              <a:t> Final Negative Sample</a:t>
            </a:r>
            <a:endParaRPr b="1" sz="2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30"/>
          <p:cNvPicPr preferRelativeResize="0"/>
          <p:nvPr/>
        </p:nvPicPr>
        <p:blipFill>
          <a:blip r:embed="rId3">
            <a:alphaModFix/>
          </a:blip>
          <a:stretch>
            <a:fillRect/>
          </a:stretch>
        </p:blipFill>
        <p:spPr>
          <a:xfrm>
            <a:off x="1080913" y="399425"/>
            <a:ext cx="5481877" cy="4544700"/>
          </a:xfrm>
          <a:prstGeom prst="rect">
            <a:avLst/>
          </a:prstGeom>
          <a:noFill/>
          <a:ln>
            <a:noFill/>
          </a:ln>
        </p:spPr>
      </p:pic>
      <p:sp>
        <p:nvSpPr>
          <p:cNvPr id="156" name="Google Shape;156;p30"/>
          <p:cNvSpPr txBox="1"/>
          <p:nvPr/>
        </p:nvSpPr>
        <p:spPr>
          <a:xfrm>
            <a:off x="0" y="0"/>
            <a:ext cx="76437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 sz="1700">
                <a:solidFill>
                  <a:schemeClr val="dk1"/>
                </a:solidFill>
              </a:rPr>
              <a:t>Flowchart of Negative Sample Generation</a:t>
            </a:r>
            <a:endParaRPr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Clr>
                <a:schemeClr val="dk1"/>
              </a:buClr>
              <a:buSzPts val="1100"/>
              <a:buFont typeface="Arial"/>
              <a:buNone/>
            </a:pPr>
            <a:r>
              <a:rPr b="1" lang="en" sz="3500"/>
              <a:t>Key Insight:</a:t>
            </a:r>
            <a:endParaRPr sz="4600"/>
          </a:p>
        </p:txBody>
      </p:sp>
      <p:sp>
        <p:nvSpPr>
          <p:cNvPr id="162" name="Google Shape;162;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Clr>
                <a:schemeClr val="dk1"/>
              </a:buClr>
              <a:buSzPts val="1100"/>
              <a:buFont typeface="Arial"/>
              <a:buNone/>
            </a:pPr>
            <a:r>
              <a:rPr lang="en" sz="1900">
                <a:solidFill>
                  <a:schemeClr val="dk1"/>
                </a:solidFill>
              </a:rPr>
              <a:t>The framework combines BOTH techniques sequentially:</a:t>
            </a:r>
            <a:endParaRPr sz="1900">
              <a:solidFill>
                <a:schemeClr val="dk1"/>
              </a:solidFill>
            </a:endParaRPr>
          </a:p>
          <a:p>
            <a:pPr indent="-349250" lvl="0" marL="457200" rtl="0" algn="l">
              <a:spcBef>
                <a:spcPts val="1200"/>
              </a:spcBef>
              <a:spcAft>
                <a:spcPts val="0"/>
              </a:spcAft>
              <a:buClr>
                <a:schemeClr val="dk1"/>
              </a:buClr>
              <a:buSzPts val="1900"/>
              <a:buChar char="●"/>
            </a:pPr>
            <a:r>
              <a:rPr lang="en" sz="1900">
                <a:solidFill>
                  <a:schemeClr val="dk1"/>
                </a:solidFill>
              </a:rPr>
              <a:t>first vibration sharpening</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then resampling superposition</a:t>
            </a:r>
            <a:endParaRPr sz="1900">
              <a:solidFill>
                <a:schemeClr val="dk1"/>
              </a:solidFill>
            </a:endParaRPr>
          </a:p>
          <a:p>
            <a:pPr indent="0" lvl="0" marL="0" rtl="0" algn="l">
              <a:spcBef>
                <a:spcPts val="1200"/>
              </a:spcBef>
              <a:spcAft>
                <a:spcPts val="0"/>
              </a:spcAft>
              <a:buClr>
                <a:schemeClr val="dk1"/>
              </a:buClr>
              <a:buSzPts val="1100"/>
              <a:buFont typeface="Arial"/>
              <a:buNone/>
            </a:pPr>
            <a:r>
              <a:rPr lang="en" sz="1900">
                <a:solidFill>
                  <a:schemeClr val="dk1"/>
                </a:solidFill>
              </a:rPr>
              <a:t>This creates:</a:t>
            </a:r>
            <a:endParaRPr sz="1900">
              <a:solidFill>
                <a:schemeClr val="dk1"/>
              </a:solidFill>
            </a:endParaRPr>
          </a:p>
          <a:p>
            <a:pPr indent="-349250" lvl="0" marL="457200" rtl="0" algn="l">
              <a:spcBef>
                <a:spcPts val="1200"/>
              </a:spcBef>
              <a:spcAft>
                <a:spcPts val="0"/>
              </a:spcAft>
              <a:buClr>
                <a:schemeClr val="dk1"/>
              </a:buClr>
              <a:buSzPts val="1900"/>
              <a:buChar char="●"/>
            </a:pPr>
            <a:r>
              <a:rPr lang="en" sz="1900">
                <a:solidFill>
                  <a:schemeClr val="dk1"/>
                </a:solidFill>
              </a:rPr>
              <a:t>diverse abnormalities</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multi-channel disturbances</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realistic anomaly boundaries</a:t>
            </a:r>
            <a:endParaRPr sz="1900">
              <a:solidFill>
                <a:schemeClr val="dk1"/>
              </a:solidFill>
            </a:endParaRPr>
          </a:p>
          <a:p>
            <a:pPr indent="0" lvl="0" marL="0" rtl="0" algn="l">
              <a:spcBef>
                <a:spcPts val="1200"/>
              </a:spcBef>
              <a:spcAft>
                <a:spcPts val="1200"/>
              </a:spcAft>
              <a:buNone/>
            </a:pPr>
            <a:r>
              <a:t/>
            </a:r>
            <a:endParaRPr sz="2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2"/>
          <p:cNvSpPr txBox="1"/>
          <p:nvPr>
            <p:ph type="title"/>
          </p:nvPr>
        </p:nvSpPr>
        <p:spPr>
          <a:xfrm>
            <a:off x="311700" y="445025"/>
            <a:ext cx="8520600" cy="426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0"/>
              <a:t>FRCNN Architecture</a:t>
            </a:r>
            <a:endParaRPr b="1" sz="11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3"/>
          <p:cNvSpPr txBox="1"/>
          <p:nvPr>
            <p:ph idx="1" type="body"/>
          </p:nvPr>
        </p:nvSpPr>
        <p:spPr>
          <a:xfrm>
            <a:off x="311700" y="215150"/>
            <a:ext cx="8520600" cy="43536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605"/>
              <a:buFont typeface="Arial"/>
              <a:buNone/>
            </a:pPr>
            <a:r>
              <a:rPr b="1" lang="en" sz="2490"/>
              <a:t>Input Multi-Channel Sensor Data</a:t>
            </a:r>
            <a:endParaRPr b="1" sz="2490"/>
          </a:p>
          <a:p>
            <a:pPr indent="0" lvl="0" marL="0" rtl="0" algn="ctr">
              <a:lnSpc>
                <a:spcPct val="100000"/>
              </a:lnSpc>
              <a:spcBef>
                <a:spcPts val="0"/>
              </a:spcBef>
              <a:spcAft>
                <a:spcPts val="0"/>
              </a:spcAft>
              <a:buClr>
                <a:schemeClr val="dk1"/>
              </a:buClr>
              <a:buSzPts val="605"/>
              <a:buFont typeface="Arial"/>
              <a:buNone/>
            </a:pPr>
            <a:r>
              <a:rPr b="1" lang="en" sz="2490"/>
              <a:t>↓</a:t>
            </a:r>
            <a:endParaRPr b="1" sz="2490"/>
          </a:p>
          <a:p>
            <a:pPr indent="0" lvl="0" marL="0" rtl="0" algn="ctr">
              <a:lnSpc>
                <a:spcPct val="100000"/>
              </a:lnSpc>
              <a:spcBef>
                <a:spcPts val="0"/>
              </a:spcBef>
              <a:spcAft>
                <a:spcPts val="0"/>
              </a:spcAft>
              <a:buClr>
                <a:schemeClr val="dk1"/>
              </a:buClr>
              <a:buSzPts val="605"/>
              <a:buFont typeface="Arial"/>
              <a:buNone/>
            </a:pPr>
            <a:r>
              <a:rPr b="1" lang="en" sz="2490"/>
              <a:t>LSTM Layer</a:t>
            </a:r>
            <a:endParaRPr b="1" sz="2490"/>
          </a:p>
          <a:p>
            <a:pPr indent="0" lvl="0" marL="0" rtl="0" algn="ctr">
              <a:lnSpc>
                <a:spcPct val="100000"/>
              </a:lnSpc>
              <a:spcBef>
                <a:spcPts val="0"/>
              </a:spcBef>
              <a:spcAft>
                <a:spcPts val="0"/>
              </a:spcAft>
              <a:buClr>
                <a:schemeClr val="dk1"/>
              </a:buClr>
              <a:buSzPts val="605"/>
              <a:buFont typeface="Arial"/>
              <a:buNone/>
            </a:pPr>
            <a:r>
              <a:rPr b="1" lang="en" sz="2490"/>
              <a:t>↓</a:t>
            </a:r>
            <a:endParaRPr b="1" sz="2490"/>
          </a:p>
          <a:p>
            <a:pPr indent="0" lvl="0" marL="0" rtl="0" algn="ctr">
              <a:lnSpc>
                <a:spcPct val="100000"/>
              </a:lnSpc>
              <a:spcBef>
                <a:spcPts val="0"/>
              </a:spcBef>
              <a:spcAft>
                <a:spcPts val="0"/>
              </a:spcAft>
              <a:buClr>
                <a:schemeClr val="dk1"/>
              </a:buClr>
              <a:buSzPts val="605"/>
              <a:buFont typeface="Arial"/>
              <a:buNone/>
            </a:pPr>
            <a:r>
              <a:rPr b="1" lang="en" sz="2490"/>
              <a:t>Convolutional Layers</a:t>
            </a:r>
            <a:endParaRPr b="1" sz="2490"/>
          </a:p>
          <a:p>
            <a:pPr indent="0" lvl="0" marL="0" rtl="0" algn="ctr">
              <a:lnSpc>
                <a:spcPct val="100000"/>
              </a:lnSpc>
              <a:spcBef>
                <a:spcPts val="0"/>
              </a:spcBef>
              <a:spcAft>
                <a:spcPts val="0"/>
              </a:spcAft>
              <a:buClr>
                <a:schemeClr val="dk1"/>
              </a:buClr>
              <a:buSzPts val="605"/>
              <a:buFont typeface="Arial"/>
              <a:buNone/>
            </a:pPr>
            <a:r>
              <a:rPr b="1" lang="en" sz="2490"/>
              <a:t>↓</a:t>
            </a:r>
            <a:endParaRPr b="1" sz="2490"/>
          </a:p>
          <a:p>
            <a:pPr indent="0" lvl="0" marL="0" rtl="0" algn="ctr">
              <a:lnSpc>
                <a:spcPct val="100000"/>
              </a:lnSpc>
              <a:spcBef>
                <a:spcPts val="0"/>
              </a:spcBef>
              <a:spcAft>
                <a:spcPts val="0"/>
              </a:spcAft>
              <a:buClr>
                <a:schemeClr val="dk1"/>
              </a:buClr>
              <a:buSzPts val="605"/>
              <a:buFont typeface="Arial"/>
              <a:buNone/>
            </a:pPr>
            <a:r>
              <a:rPr b="1" lang="en" sz="2490"/>
              <a:t>Max Pooling Layer</a:t>
            </a:r>
            <a:endParaRPr b="1" sz="2490"/>
          </a:p>
          <a:p>
            <a:pPr indent="0" lvl="0" marL="0" rtl="0" algn="ctr">
              <a:lnSpc>
                <a:spcPct val="100000"/>
              </a:lnSpc>
              <a:spcBef>
                <a:spcPts val="0"/>
              </a:spcBef>
              <a:spcAft>
                <a:spcPts val="0"/>
              </a:spcAft>
              <a:buClr>
                <a:schemeClr val="dk1"/>
              </a:buClr>
              <a:buSzPts val="605"/>
              <a:buFont typeface="Arial"/>
              <a:buNone/>
            </a:pPr>
            <a:r>
              <a:rPr b="1" lang="en" sz="2490"/>
              <a:t>↓</a:t>
            </a:r>
            <a:endParaRPr b="1" sz="2490"/>
          </a:p>
          <a:p>
            <a:pPr indent="0" lvl="0" marL="0" rtl="0" algn="ctr">
              <a:lnSpc>
                <a:spcPct val="100000"/>
              </a:lnSpc>
              <a:spcBef>
                <a:spcPts val="0"/>
              </a:spcBef>
              <a:spcAft>
                <a:spcPts val="0"/>
              </a:spcAft>
              <a:buClr>
                <a:schemeClr val="dk1"/>
              </a:buClr>
              <a:buSzPts val="605"/>
              <a:buFont typeface="Arial"/>
              <a:buNone/>
            </a:pPr>
            <a:r>
              <a:rPr b="1" lang="en" sz="2490"/>
              <a:t>Dense / Fully Connected Layer</a:t>
            </a:r>
            <a:endParaRPr b="1" sz="2490"/>
          </a:p>
          <a:p>
            <a:pPr indent="0" lvl="0" marL="0" rtl="0" algn="ctr">
              <a:lnSpc>
                <a:spcPct val="100000"/>
              </a:lnSpc>
              <a:spcBef>
                <a:spcPts val="0"/>
              </a:spcBef>
              <a:spcAft>
                <a:spcPts val="0"/>
              </a:spcAft>
              <a:buClr>
                <a:schemeClr val="dk1"/>
              </a:buClr>
              <a:buSzPts val="605"/>
              <a:buFont typeface="Arial"/>
              <a:buNone/>
            </a:pPr>
            <a:r>
              <a:rPr b="1" lang="en" sz="2490"/>
              <a:t>↓</a:t>
            </a:r>
            <a:endParaRPr b="1" sz="2490"/>
          </a:p>
          <a:p>
            <a:pPr indent="0" lvl="0" marL="0" rtl="0" algn="ctr">
              <a:lnSpc>
                <a:spcPct val="100000"/>
              </a:lnSpc>
              <a:spcBef>
                <a:spcPts val="0"/>
              </a:spcBef>
              <a:spcAft>
                <a:spcPts val="0"/>
              </a:spcAft>
              <a:buSzPts val="605"/>
              <a:buNone/>
            </a:pPr>
            <a:r>
              <a:rPr b="1" lang="en" sz="2490"/>
              <a:t>Output Classification </a:t>
            </a:r>
            <a:endParaRPr b="1" sz="249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4"/>
          <p:cNvSpPr txBox="1"/>
          <p:nvPr>
            <p:ph type="title"/>
          </p:nvPr>
        </p:nvSpPr>
        <p:spPr>
          <a:xfrm>
            <a:off x="311700" y="445025"/>
            <a:ext cx="8520600" cy="4232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n" sz="2300"/>
              <a:t>Step-by-Step Working</a:t>
            </a:r>
            <a:endParaRPr b="1" sz="2300"/>
          </a:p>
          <a:p>
            <a:pPr indent="0" lvl="0" marL="0" rtl="0" algn="l">
              <a:lnSpc>
                <a:spcPct val="100000"/>
              </a:lnSpc>
              <a:spcBef>
                <a:spcPts val="0"/>
              </a:spcBef>
              <a:spcAft>
                <a:spcPts val="0"/>
              </a:spcAft>
              <a:buClr>
                <a:schemeClr val="dk1"/>
              </a:buClr>
              <a:buSzPts val="1100"/>
              <a:buFont typeface="Arial"/>
              <a:buNone/>
            </a:pPr>
            <a:r>
              <a:rPr b="1" lang="en" sz="1900"/>
              <a:t>1. Input Layer</a:t>
            </a:r>
            <a:endParaRPr b="1" sz="1900"/>
          </a:p>
          <a:p>
            <a:pPr indent="-336550" lvl="0" marL="457200" rtl="0" algn="l">
              <a:lnSpc>
                <a:spcPct val="100000"/>
              </a:lnSpc>
              <a:spcBef>
                <a:spcPts val="0"/>
              </a:spcBef>
              <a:spcAft>
                <a:spcPts val="0"/>
              </a:spcAft>
              <a:buSzPts val="1700"/>
              <a:buChar char="●"/>
            </a:pPr>
            <a:r>
              <a:rPr lang="en" sz="1700"/>
              <a:t>Receives multi-channel LRE sensor data</a:t>
            </a:r>
            <a:endParaRPr sz="1700"/>
          </a:p>
          <a:p>
            <a:pPr indent="-336550" lvl="0" marL="457200" rtl="0" algn="l">
              <a:lnSpc>
                <a:spcPct val="100000"/>
              </a:lnSpc>
              <a:spcBef>
                <a:spcPts val="0"/>
              </a:spcBef>
              <a:spcAft>
                <a:spcPts val="0"/>
              </a:spcAft>
              <a:buSzPts val="1700"/>
              <a:buChar char="●"/>
            </a:pPr>
            <a:r>
              <a:rPr lang="en" sz="1700"/>
              <a:t>Includes vibration, pressure, temperature, and flow signals</a:t>
            </a:r>
            <a:endParaRPr sz="1700"/>
          </a:p>
          <a:p>
            <a:pPr indent="-336550" lvl="0" marL="457200" rtl="0" algn="l">
              <a:lnSpc>
                <a:spcPct val="100000"/>
              </a:lnSpc>
              <a:spcBef>
                <a:spcPts val="0"/>
              </a:spcBef>
              <a:spcAft>
                <a:spcPts val="0"/>
              </a:spcAft>
              <a:buSzPts val="1700"/>
              <a:buChar char="●"/>
            </a:pPr>
            <a:r>
              <a:rPr lang="en" sz="1700"/>
              <a:t>Input shape contains temporal sequence information</a:t>
            </a:r>
            <a:endParaRPr sz="1700"/>
          </a:p>
          <a:p>
            <a:pPr indent="0" lvl="0" marL="0" rtl="0" algn="l">
              <a:lnSpc>
                <a:spcPct val="100000"/>
              </a:lnSpc>
              <a:spcBef>
                <a:spcPts val="0"/>
              </a:spcBef>
              <a:spcAft>
                <a:spcPts val="0"/>
              </a:spcAft>
              <a:buNone/>
            </a:pPr>
            <a:r>
              <a:t/>
            </a:r>
            <a:endParaRPr b="1" sz="1900"/>
          </a:p>
          <a:p>
            <a:pPr indent="0" lvl="0" marL="0" rtl="0" algn="l">
              <a:lnSpc>
                <a:spcPct val="100000"/>
              </a:lnSpc>
              <a:spcBef>
                <a:spcPts val="0"/>
              </a:spcBef>
              <a:spcAft>
                <a:spcPts val="0"/>
              </a:spcAft>
              <a:buClr>
                <a:schemeClr val="dk1"/>
              </a:buClr>
              <a:buSzPts val="1100"/>
              <a:buFont typeface="Arial"/>
              <a:buNone/>
            </a:pPr>
            <a:r>
              <a:rPr b="1" lang="en" sz="1900"/>
              <a:t>2. LSTM Layer (Recurrent Layer)</a:t>
            </a:r>
            <a:endParaRPr b="1" sz="1900"/>
          </a:p>
          <a:p>
            <a:pPr indent="0" lvl="0" marL="0" rtl="0" algn="l">
              <a:lnSpc>
                <a:spcPct val="100000"/>
              </a:lnSpc>
              <a:spcBef>
                <a:spcPts val="0"/>
              </a:spcBef>
              <a:spcAft>
                <a:spcPts val="0"/>
              </a:spcAft>
              <a:buClr>
                <a:schemeClr val="dk1"/>
              </a:buClr>
              <a:buSzPts val="1100"/>
              <a:buFont typeface="Arial"/>
              <a:buNone/>
            </a:pPr>
            <a:r>
              <a:rPr b="1" lang="en" sz="2189"/>
              <a:t>Purpose:</a:t>
            </a:r>
            <a:r>
              <a:rPr b="1" lang="en" sz="2300"/>
              <a:t> </a:t>
            </a:r>
            <a:r>
              <a:rPr lang="en" sz="1700"/>
              <a:t>Capture temporal dependencies in engine signals.</a:t>
            </a:r>
            <a:endParaRPr sz="1700"/>
          </a:p>
          <a:p>
            <a:pPr indent="0" lvl="0" marL="0" rtl="0" algn="l">
              <a:lnSpc>
                <a:spcPct val="100000"/>
              </a:lnSpc>
              <a:spcBef>
                <a:spcPts val="0"/>
              </a:spcBef>
              <a:spcAft>
                <a:spcPts val="0"/>
              </a:spcAft>
              <a:buClr>
                <a:schemeClr val="dk1"/>
              </a:buClr>
              <a:buSzPts val="1100"/>
              <a:buFont typeface="Arial"/>
              <a:buNone/>
            </a:pPr>
            <a:r>
              <a:rPr b="1" lang="en" sz="1900"/>
              <a:t>Function</a:t>
            </a:r>
            <a:endParaRPr b="1" sz="1900"/>
          </a:p>
          <a:p>
            <a:pPr indent="-336550" lvl="0" marL="457200" rtl="0" algn="l">
              <a:lnSpc>
                <a:spcPct val="100000"/>
              </a:lnSpc>
              <a:spcBef>
                <a:spcPts val="0"/>
              </a:spcBef>
              <a:spcAft>
                <a:spcPts val="0"/>
              </a:spcAft>
              <a:buSzPts val="1700"/>
              <a:buChar char="●"/>
            </a:pPr>
            <a:r>
              <a:rPr lang="en" sz="1700"/>
              <a:t>Learns sequential behavior over time</a:t>
            </a:r>
            <a:endParaRPr sz="1700"/>
          </a:p>
          <a:p>
            <a:pPr indent="-336550" lvl="0" marL="457200" rtl="0" algn="l">
              <a:lnSpc>
                <a:spcPct val="100000"/>
              </a:lnSpc>
              <a:spcBef>
                <a:spcPts val="0"/>
              </a:spcBef>
              <a:spcAft>
                <a:spcPts val="0"/>
              </a:spcAft>
              <a:buSzPts val="1700"/>
              <a:buChar char="●"/>
            </a:pPr>
            <a:r>
              <a:rPr lang="en" sz="1700"/>
              <a:t>Stores previous time-step information</a:t>
            </a:r>
            <a:endParaRPr sz="1700"/>
          </a:p>
          <a:p>
            <a:pPr indent="-336550" lvl="0" marL="457200" rtl="0" algn="l">
              <a:lnSpc>
                <a:spcPct val="100000"/>
              </a:lnSpc>
              <a:spcBef>
                <a:spcPts val="0"/>
              </a:spcBef>
              <a:spcAft>
                <a:spcPts val="0"/>
              </a:spcAft>
              <a:buSzPts val="1700"/>
              <a:buChar char="●"/>
            </a:pPr>
            <a:r>
              <a:rPr lang="en" sz="1700"/>
              <a:t>Detects temporal abnormal patterns</a:t>
            </a:r>
            <a:endParaRPr sz="3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5"/>
          <p:cNvSpPr txBox="1"/>
          <p:nvPr>
            <p:ph type="title"/>
          </p:nvPr>
        </p:nvSpPr>
        <p:spPr>
          <a:xfrm>
            <a:off x="311700" y="445025"/>
            <a:ext cx="8520600" cy="4232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800"/>
              <a:t>Why LSTM?</a:t>
            </a:r>
            <a:endParaRPr b="1" sz="1800"/>
          </a:p>
          <a:p>
            <a:pPr indent="0" lvl="0" marL="0" rtl="0" algn="l">
              <a:lnSpc>
                <a:spcPct val="100000"/>
              </a:lnSpc>
              <a:spcBef>
                <a:spcPts val="0"/>
              </a:spcBef>
              <a:spcAft>
                <a:spcPts val="0"/>
              </a:spcAft>
              <a:buNone/>
            </a:pPr>
            <a:r>
              <a:rPr lang="en" sz="1600"/>
              <a:t>Engine faults evolve gradually over time, so temporal learning is critical.</a:t>
            </a:r>
            <a:endParaRPr sz="1600"/>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None/>
            </a:pPr>
            <a:r>
              <a:rPr b="1" lang="en" sz="1800"/>
              <a:t>3. Convolutional Layers (CNN)</a:t>
            </a:r>
            <a:endParaRPr b="1" sz="1800"/>
          </a:p>
          <a:p>
            <a:pPr indent="0" lvl="0" marL="0" rtl="0" algn="l">
              <a:lnSpc>
                <a:spcPct val="100000"/>
              </a:lnSpc>
              <a:spcBef>
                <a:spcPts val="0"/>
              </a:spcBef>
              <a:spcAft>
                <a:spcPts val="0"/>
              </a:spcAft>
              <a:buNone/>
            </a:pPr>
            <a:r>
              <a:rPr b="1" lang="en" sz="2200"/>
              <a:t>Purpose: </a:t>
            </a:r>
            <a:r>
              <a:rPr lang="en" sz="1600"/>
              <a:t>Extract important local features from sensor signals.</a:t>
            </a:r>
            <a:endParaRPr sz="1600"/>
          </a:p>
          <a:p>
            <a:pPr indent="0" lvl="0" marL="0" rtl="0" algn="l">
              <a:lnSpc>
                <a:spcPct val="100000"/>
              </a:lnSpc>
              <a:spcBef>
                <a:spcPts val="0"/>
              </a:spcBef>
              <a:spcAft>
                <a:spcPts val="0"/>
              </a:spcAft>
              <a:buNone/>
            </a:pPr>
            <a:r>
              <a:rPr b="1" lang="en" sz="1800"/>
              <a:t>Function:</a:t>
            </a:r>
            <a:endParaRPr b="1" sz="1800"/>
          </a:p>
          <a:p>
            <a:pPr indent="-330200" lvl="0" marL="457200" rtl="0" algn="l">
              <a:lnSpc>
                <a:spcPct val="100000"/>
              </a:lnSpc>
              <a:spcBef>
                <a:spcPts val="0"/>
              </a:spcBef>
              <a:spcAft>
                <a:spcPts val="0"/>
              </a:spcAft>
              <a:buSzPts val="1600"/>
              <a:buChar char="●"/>
            </a:pPr>
            <a:r>
              <a:rPr lang="en" sz="1600"/>
              <a:t>Detects local signal patterns</a:t>
            </a:r>
            <a:endParaRPr sz="1600"/>
          </a:p>
          <a:p>
            <a:pPr indent="-330200" lvl="0" marL="457200" rtl="0" algn="l">
              <a:lnSpc>
                <a:spcPct val="100000"/>
              </a:lnSpc>
              <a:spcBef>
                <a:spcPts val="0"/>
              </a:spcBef>
              <a:spcAft>
                <a:spcPts val="0"/>
              </a:spcAft>
              <a:buSzPts val="1600"/>
              <a:buChar char="●"/>
            </a:pPr>
            <a:r>
              <a:rPr lang="en" sz="1600"/>
              <a:t>Learns abnormal feature representations</a:t>
            </a:r>
            <a:endParaRPr sz="1600"/>
          </a:p>
          <a:p>
            <a:pPr indent="-330200" lvl="0" marL="457200" rtl="0" algn="l">
              <a:lnSpc>
                <a:spcPct val="100000"/>
              </a:lnSpc>
              <a:spcBef>
                <a:spcPts val="0"/>
              </a:spcBef>
              <a:spcAft>
                <a:spcPts val="0"/>
              </a:spcAft>
              <a:buSzPts val="1600"/>
              <a:buChar char="●"/>
            </a:pPr>
            <a:r>
              <a:rPr lang="en" sz="1600"/>
              <a:t>Extracts high-level features automatically</a:t>
            </a:r>
            <a:endParaRPr sz="1600"/>
          </a:p>
          <a:p>
            <a:pPr indent="0" lvl="0" marL="0" rtl="0" algn="l">
              <a:lnSpc>
                <a:spcPct val="100000"/>
              </a:lnSpc>
              <a:spcBef>
                <a:spcPts val="0"/>
              </a:spcBef>
              <a:spcAft>
                <a:spcPts val="0"/>
              </a:spcAft>
              <a:buNone/>
            </a:pPr>
            <a:r>
              <a:rPr b="1" lang="en" sz="1800"/>
              <a:t>What CNN Captures:</a:t>
            </a:r>
            <a:endParaRPr b="1" sz="1800"/>
          </a:p>
          <a:p>
            <a:pPr indent="-330200" lvl="0" marL="457200" rtl="0" algn="l">
              <a:lnSpc>
                <a:spcPct val="100000"/>
              </a:lnSpc>
              <a:spcBef>
                <a:spcPts val="0"/>
              </a:spcBef>
              <a:spcAft>
                <a:spcPts val="0"/>
              </a:spcAft>
              <a:buSzPts val="1600"/>
              <a:buChar char="●"/>
            </a:pPr>
            <a:r>
              <a:rPr lang="en" sz="1600"/>
              <a:t>waveform characteristics</a:t>
            </a:r>
            <a:endParaRPr sz="1600"/>
          </a:p>
          <a:p>
            <a:pPr indent="-330200" lvl="0" marL="457200" rtl="0" algn="l">
              <a:lnSpc>
                <a:spcPct val="100000"/>
              </a:lnSpc>
              <a:spcBef>
                <a:spcPts val="0"/>
              </a:spcBef>
              <a:spcAft>
                <a:spcPts val="0"/>
              </a:spcAft>
              <a:buSzPts val="1600"/>
              <a:buChar char="●"/>
            </a:pPr>
            <a:r>
              <a:rPr lang="en" sz="1600"/>
              <a:t>vibration patterns</a:t>
            </a:r>
            <a:endParaRPr sz="1600"/>
          </a:p>
          <a:p>
            <a:pPr indent="-330200" lvl="0" marL="457200" rtl="0" algn="l">
              <a:lnSpc>
                <a:spcPct val="100000"/>
              </a:lnSpc>
              <a:spcBef>
                <a:spcPts val="0"/>
              </a:spcBef>
              <a:spcAft>
                <a:spcPts val="0"/>
              </a:spcAft>
              <a:buSzPts val="1600"/>
              <a:buChar char="●"/>
            </a:pPr>
            <a:r>
              <a:rPr lang="en" sz="1600"/>
              <a:t>local anomalies</a:t>
            </a:r>
            <a:endParaRPr sz="1600"/>
          </a:p>
          <a:p>
            <a:pPr indent="-330200" lvl="0" marL="457200" rtl="0" algn="l">
              <a:lnSpc>
                <a:spcPct val="100000"/>
              </a:lnSpc>
              <a:spcBef>
                <a:spcPts val="0"/>
              </a:spcBef>
              <a:spcAft>
                <a:spcPts val="0"/>
              </a:spcAft>
              <a:buSzPts val="1600"/>
              <a:buChar char="●"/>
            </a:pPr>
            <a:r>
              <a:rPr lang="en" sz="1600"/>
              <a:t>spectral signatures</a:t>
            </a:r>
            <a:endParaRPr b="1" sz="22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6"/>
          <p:cNvSpPr txBox="1"/>
          <p:nvPr>
            <p:ph type="title"/>
          </p:nvPr>
        </p:nvSpPr>
        <p:spPr>
          <a:xfrm>
            <a:off x="311700" y="445025"/>
            <a:ext cx="8520600" cy="4232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400"/>
              <a:t>4. Max Pooling Layer</a:t>
            </a:r>
            <a:endParaRPr b="1" sz="2400"/>
          </a:p>
          <a:p>
            <a:pPr indent="0" lvl="0" marL="0" rtl="0" algn="l">
              <a:lnSpc>
                <a:spcPct val="100000"/>
              </a:lnSpc>
              <a:spcBef>
                <a:spcPts val="0"/>
              </a:spcBef>
              <a:spcAft>
                <a:spcPts val="0"/>
              </a:spcAft>
              <a:buNone/>
            </a:pPr>
            <a:r>
              <a:rPr b="1" lang="en" sz="2300"/>
              <a:t>Purpose: </a:t>
            </a:r>
            <a:r>
              <a:rPr lang="en" sz="1700"/>
              <a:t>Reduce feature dimensionality.</a:t>
            </a:r>
            <a:endParaRPr sz="1700"/>
          </a:p>
          <a:p>
            <a:pPr indent="0" lvl="0" marL="0" rtl="0" algn="l">
              <a:lnSpc>
                <a:spcPct val="100000"/>
              </a:lnSpc>
              <a:spcBef>
                <a:spcPts val="0"/>
              </a:spcBef>
              <a:spcAft>
                <a:spcPts val="0"/>
              </a:spcAft>
              <a:buNone/>
            </a:pPr>
            <a:r>
              <a:rPr b="1" lang="en" sz="1900"/>
              <a:t>Function</a:t>
            </a:r>
            <a:endParaRPr b="1" sz="1900"/>
          </a:p>
          <a:p>
            <a:pPr indent="-336550" lvl="0" marL="457200" rtl="0" algn="l">
              <a:lnSpc>
                <a:spcPct val="100000"/>
              </a:lnSpc>
              <a:spcBef>
                <a:spcPts val="0"/>
              </a:spcBef>
              <a:spcAft>
                <a:spcPts val="0"/>
              </a:spcAft>
              <a:buSzPts val="1700"/>
              <a:buChar char="●"/>
            </a:pPr>
            <a:r>
              <a:rPr lang="en" sz="1700"/>
              <a:t>keeps dominant features</a:t>
            </a:r>
            <a:endParaRPr sz="1700"/>
          </a:p>
          <a:p>
            <a:pPr indent="-336550" lvl="0" marL="457200" rtl="0" algn="l">
              <a:lnSpc>
                <a:spcPct val="100000"/>
              </a:lnSpc>
              <a:spcBef>
                <a:spcPts val="0"/>
              </a:spcBef>
              <a:spcAft>
                <a:spcPts val="0"/>
              </a:spcAft>
              <a:buSzPts val="1700"/>
              <a:buChar char="●"/>
            </a:pPr>
            <a:r>
              <a:rPr lang="en" sz="1700"/>
              <a:t>removes redundant information</a:t>
            </a:r>
            <a:endParaRPr sz="1700"/>
          </a:p>
          <a:p>
            <a:pPr indent="-336550" lvl="0" marL="457200" rtl="0" algn="l">
              <a:lnSpc>
                <a:spcPct val="100000"/>
              </a:lnSpc>
              <a:spcBef>
                <a:spcPts val="0"/>
              </a:spcBef>
              <a:spcAft>
                <a:spcPts val="0"/>
              </a:spcAft>
              <a:buSzPts val="1700"/>
              <a:buChar char="●"/>
            </a:pPr>
            <a:r>
              <a:rPr lang="en" sz="1700"/>
              <a:t>improves computational efficiency</a:t>
            </a:r>
            <a:endParaRPr sz="1700"/>
          </a:p>
          <a:p>
            <a:pPr indent="0" lvl="0" marL="0" rtl="0" algn="l">
              <a:lnSpc>
                <a:spcPct val="100000"/>
              </a:lnSpc>
              <a:spcBef>
                <a:spcPts val="0"/>
              </a:spcBef>
              <a:spcAft>
                <a:spcPts val="0"/>
              </a:spcAft>
              <a:buNone/>
            </a:pPr>
            <a:r>
              <a:t/>
            </a:r>
            <a:endParaRPr sz="1700"/>
          </a:p>
          <a:p>
            <a:pPr indent="0" lvl="0" marL="0" rtl="0" algn="l">
              <a:lnSpc>
                <a:spcPct val="100000"/>
              </a:lnSpc>
              <a:spcBef>
                <a:spcPts val="0"/>
              </a:spcBef>
              <a:spcAft>
                <a:spcPts val="0"/>
              </a:spcAft>
              <a:buNone/>
            </a:pPr>
            <a:r>
              <a:rPr b="1" lang="en" sz="2400"/>
              <a:t>5. Dense / Fully Connected Layer</a:t>
            </a:r>
            <a:endParaRPr b="1" sz="2400"/>
          </a:p>
          <a:p>
            <a:pPr indent="0" lvl="0" marL="0" rtl="0" algn="l">
              <a:lnSpc>
                <a:spcPct val="100000"/>
              </a:lnSpc>
              <a:spcBef>
                <a:spcPts val="0"/>
              </a:spcBef>
              <a:spcAft>
                <a:spcPts val="0"/>
              </a:spcAft>
              <a:buNone/>
            </a:pPr>
            <a:r>
              <a:rPr b="1" lang="en" sz="2300"/>
              <a:t>Purpose: </a:t>
            </a:r>
            <a:r>
              <a:rPr lang="en" sz="1700"/>
              <a:t>Perform final classification.</a:t>
            </a:r>
            <a:endParaRPr sz="1700"/>
          </a:p>
          <a:p>
            <a:pPr indent="0" lvl="0" marL="0" rtl="0" algn="l">
              <a:lnSpc>
                <a:spcPct val="100000"/>
              </a:lnSpc>
              <a:spcBef>
                <a:spcPts val="0"/>
              </a:spcBef>
              <a:spcAft>
                <a:spcPts val="0"/>
              </a:spcAft>
              <a:buNone/>
            </a:pPr>
            <a:r>
              <a:rPr b="1" lang="en" sz="1900"/>
              <a:t>Function</a:t>
            </a:r>
            <a:endParaRPr b="1" sz="1900"/>
          </a:p>
          <a:p>
            <a:pPr indent="0" lvl="0" marL="0" rtl="0" algn="l">
              <a:lnSpc>
                <a:spcPct val="100000"/>
              </a:lnSpc>
              <a:spcBef>
                <a:spcPts val="0"/>
              </a:spcBef>
              <a:spcAft>
                <a:spcPts val="0"/>
              </a:spcAft>
              <a:buNone/>
            </a:pPr>
            <a:r>
              <a:rPr lang="en" sz="1700"/>
              <a:t>Maps extracted features into:</a:t>
            </a:r>
            <a:endParaRPr sz="1700"/>
          </a:p>
          <a:p>
            <a:pPr indent="-336550" lvl="0" marL="457200" rtl="0" algn="l">
              <a:lnSpc>
                <a:spcPct val="100000"/>
              </a:lnSpc>
              <a:spcBef>
                <a:spcPts val="0"/>
              </a:spcBef>
              <a:spcAft>
                <a:spcPts val="0"/>
              </a:spcAft>
              <a:buSzPts val="1700"/>
              <a:buChar char="●"/>
            </a:pPr>
            <a:r>
              <a:rPr lang="en" sz="1700"/>
              <a:t>normal state</a:t>
            </a:r>
            <a:endParaRPr sz="1700"/>
          </a:p>
          <a:p>
            <a:pPr indent="-336550" lvl="0" marL="457200" rtl="0" algn="l">
              <a:lnSpc>
                <a:spcPct val="100000"/>
              </a:lnSpc>
              <a:spcBef>
                <a:spcPts val="0"/>
              </a:spcBef>
              <a:spcAft>
                <a:spcPts val="0"/>
              </a:spcAft>
              <a:buSzPts val="1700"/>
              <a:buChar char="●"/>
            </a:pPr>
            <a:r>
              <a:rPr lang="en" sz="1700"/>
              <a:t>abnormal state</a:t>
            </a:r>
            <a:endParaRPr sz="1700"/>
          </a:p>
          <a:p>
            <a:pPr indent="0" lvl="0" marL="0" rtl="0" algn="l">
              <a:lnSpc>
                <a:spcPct val="100000"/>
              </a:lnSpc>
              <a:spcBef>
                <a:spcPts val="0"/>
              </a:spcBef>
              <a:spcAft>
                <a:spcPts val="0"/>
              </a:spcAft>
              <a:buNone/>
            </a:pPr>
            <a:r>
              <a:t/>
            </a:r>
            <a:endParaRPr b="1" sz="23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7"/>
          <p:cNvSpPr txBox="1"/>
          <p:nvPr>
            <p:ph type="title"/>
          </p:nvPr>
        </p:nvSpPr>
        <p:spPr>
          <a:xfrm>
            <a:off x="311700" y="445025"/>
            <a:ext cx="8520600" cy="7428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600"/>
              </a:spcAft>
              <a:buClr>
                <a:schemeClr val="dk1"/>
              </a:buClr>
              <a:buSzPts val="1100"/>
              <a:buFont typeface="Arial"/>
              <a:buNone/>
            </a:pPr>
            <a:r>
              <a:rPr b="1" lang="en" sz="3500"/>
              <a:t>Why LSTM + CNN Together?</a:t>
            </a:r>
            <a:endParaRPr sz="4000"/>
          </a:p>
        </p:txBody>
      </p:sp>
      <p:graphicFrame>
        <p:nvGraphicFramePr>
          <p:cNvPr id="193" name="Google Shape;193;p37"/>
          <p:cNvGraphicFramePr/>
          <p:nvPr/>
        </p:nvGraphicFramePr>
        <p:xfrm>
          <a:off x="311700" y="1250600"/>
          <a:ext cx="3000000" cy="3000000"/>
        </p:xfrm>
        <a:graphic>
          <a:graphicData uri="http://schemas.openxmlformats.org/drawingml/2006/table">
            <a:tbl>
              <a:tblPr>
                <a:noFill/>
                <a:tableStyleId>{91F19B31-E200-4FD4-903F-706B4E4ADD70}</a:tableStyleId>
              </a:tblPr>
              <a:tblGrid>
                <a:gridCol w="1885275"/>
                <a:gridCol w="5339175"/>
              </a:tblGrid>
              <a:tr h="523500">
                <a:tc>
                  <a:txBody>
                    <a:bodyPr/>
                    <a:lstStyle/>
                    <a:p>
                      <a:pPr indent="0" lvl="0" marL="0" rtl="0" algn="ctr">
                        <a:lnSpc>
                          <a:spcPct val="115000"/>
                        </a:lnSpc>
                        <a:spcBef>
                          <a:spcPts val="0"/>
                        </a:spcBef>
                        <a:spcAft>
                          <a:spcPts val="0"/>
                        </a:spcAft>
                        <a:buNone/>
                      </a:pPr>
                      <a:r>
                        <a:rPr b="1" lang="en" sz="2400"/>
                        <a:t>Component</a:t>
                      </a:r>
                      <a:endParaRPr b="1" sz="2400"/>
                    </a:p>
                  </a:txBody>
                  <a:tcPr marT="91425" marB="91425" marR="91425" marL="91425"/>
                </a:tc>
                <a:tc>
                  <a:txBody>
                    <a:bodyPr/>
                    <a:lstStyle/>
                    <a:p>
                      <a:pPr indent="0" lvl="0" marL="0" rtl="0" algn="ctr">
                        <a:lnSpc>
                          <a:spcPct val="115000"/>
                        </a:lnSpc>
                        <a:spcBef>
                          <a:spcPts val="0"/>
                        </a:spcBef>
                        <a:spcAft>
                          <a:spcPts val="0"/>
                        </a:spcAft>
                        <a:buNone/>
                      </a:pPr>
                      <a:r>
                        <a:rPr b="1" lang="en" sz="2400"/>
                        <a:t>Role</a:t>
                      </a:r>
                      <a:endParaRPr b="1" sz="2400"/>
                    </a:p>
                  </a:txBody>
                  <a:tcPr marT="91425" marB="91425" marR="91425" marL="91425"/>
                </a:tc>
              </a:tr>
              <a:tr h="948625">
                <a:tc>
                  <a:txBody>
                    <a:bodyPr/>
                    <a:lstStyle/>
                    <a:p>
                      <a:pPr indent="0" lvl="0" marL="0" rtl="0" algn="l">
                        <a:spcBef>
                          <a:spcPts val="0"/>
                        </a:spcBef>
                        <a:spcAft>
                          <a:spcPts val="0"/>
                        </a:spcAft>
                        <a:buNone/>
                      </a:pPr>
                      <a:r>
                        <a:rPr b="1" lang="en" sz="1800"/>
                        <a:t>LSTM</a:t>
                      </a:r>
                      <a:endParaRPr b="1" sz="1800"/>
                    </a:p>
                  </a:txBody>
                  <a:tcPr marT="91425" marB="91425" marR="91425" marL="91425"/>
                </a:tc>
                <a:tc>
                  <a:txBody>
                    <a:bodyPr/>
                    <a:lstStyle/>
                    <a:p>
                      <a:pPr indent="0" lvl="0" marL="0" rtl="0" algn="l">
                        <a:spcBef>
                          <a:spcPts val="0"/>
                        </a:spcBef>
                        <a:spcAft>
                          <a:spcPts val="0"/>
                        </a:spcAft>
                        <a:buNone/>
                      </a:pPr>
                      <a:r>
                        <a:rPr lang="en" sz="1700"/>
                        <a:t>Learns temporal sequence dependencies in engine signals</a:t>
                      </a:r>
                      <a:endParaRPr sz="1700"/>
                    </a:p>
                  </a:txBody>
                  <a:tcPr marT="91425" marB="91425" marR="91425" marL="91425"/>
                </a:tc>
              </a:tr>
              <a:tr h="948625">
                <a:tc>
                  <a:txBody>
                    <a:bodyPr/>
                    <a:lstStyle/>
                    <a:p>
                      <a:pPr indent="0" lvl="0" marL="0" rtl="0" algn="l">
                        <a:spcBef>
                          <a:spcPts val="0"/>
                        </a:spcBef>
                        <a:spcAft>
                          <a:spcPts val="0"/>
                        </a:spcAft>
                        <a:buNone/>
                      </a:pPr>
                      <a:r>
                        <a:rPr b="1" lang="en" sz="1800"/>
                        <a:t>CNN</a:t>
                      </a:r>
                      <a:endParaRPr b="1" sz="1800"/>
                    </a:p>
                  </a:txBody>
                  <a:tcPr marT="91425" marB="91425" marR="91425" marL="91425"/>
                </a:tc>
                <a:tc>
                  <a:txBody>
                    <a:bodyPr/>
                    <a:lstStyle/>
                    <a:p>
                      <a:pPr indent="0" lvl="0" marL="0" rtl="0" algn="l">
                        <a:spcBef>
                          <a:spcPts val="0"/>
                        </a:spcBef>
                        <a:spcAft>
                          <a:spcPts val="0"/>
                        </a:spcAft>
                        <a:buNone/>
                      </a:pPr>
                      <a:r>
                        <a:rPr lang="en" sz="1700"/>
                        <a:t>Extracts important local features and abnormal patterns</a:t>
                      </a:r>
                      <a:endParaRPr sz="1700"/>
                    </a:p>
                  </a:txBody>
                  <a:tcPr marT="91425" marB="91425" marR="91425" marL="91425"/>
                </a:tc>
              </a:tr>
              <a:tr h="948625">
                <a:tc>
                  <a:txBody>
                    <a:bodyPr/>
                    <a:lstStyle/>
                    <a:p>
                      <a:pPr indent="0" lvl="0" marL="0" rtl="0" algn="l">
                        <a:spcBef>
                          <a:spcPts val="0"/>
                        </a:spcBef>
                        <a:spcAft>
                          <a:spcPts val="0"/>
                        </a:spcAft>
                        <a:buNone/>
                      </a:pPr>
                      <a:r>
                        <a:rPr b="1" lang="en" sz="1800"/>
                        <a:t>Fusion Mechanism</a:t>
                      </a:r>
                      <a:endParaRPr b="1" sz="1800"/>
                    </a:p>
                  </a:txBody>
                  <a:tcPr marT="91425" marB="91425" marR="91425" marL="91425"/>
                </a:tc>
                <a:tc>
                  <a:txBody>
                    <a:bodyPr/>
                    <a:lstStyle/>
                    <a:p>
                      <a:pPr indent="0" lvl="0" marL="0" rtl="0" algn="l">
                        <a:spcBef>
                          <a:spcPts val="0"/>
                        </a:spcBef>
                        <a:spcAft>
                          <a:spcPts val="0"/>
                        </a:spcAft>
                        <a:buNone/>
                      </a:pPr>
                      <a:r>
                        <a:rPr lang="en" sz="1700"/>
                        <a:t>Integrates information from multiple sensor channels</a:t>
                      </a:r>
                      <a:endParaRPr sz="1700"/>
                    </a:p>
                  </a:txBody>
                  <a:tcPr marT="91425" marB="91425" marR="91425" marL="914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descr="Beautify as image" id="198" name="Google Shape;198;p38"/>
          <p:cNvPicPr preferRelativeResize="0"/>
          <p:nvPr/>
        </p:nvPicPr>
        <p:blipFill>
          <a:blip r:embed="rId3">
            <a:alphaModFix/>
          </a:blip>
          <a:stretch>
            <a:fillRect/>
          </a:stretch>
        </p:blipFill>
        <p:spPr>
          <a:xfrm>
            <a:off x="152400" y="11"/>
            <a:ext cx="8956580" cy="49856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9"/>
          <p:cNvSpPr txBox="1"/>
          <p:nvPr/>
        </p:nvSpPr>
        <p:spPr>
          <a:xfrm>
            <a:off x="0" y="0"/>
            <a:ext cx="9052800" cy="501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800"/>
              </a:spcBef>
              <a:spcAft>
                <a:spcPts val="0"/>
              </a:spcAft>
              <a:buNone/>
            </a:pPr>
            <a:r>
              <a:rPr b="1" lang="en" sz="1700">
                <a:solidFill>
                  <a:schemeClr val="dk1"/>
                </a:solidFill>
              </a:rPr>
              <a:t>ECG DATASET</a:t>
            </a:r>
            <a:endParaRPr b="1" sz="1700">
              <a:solidFill>
                <a:schemeClr val="dk1"/>
              </a:solidFill>
            </a:endParaRPr>
          </a:p>
          <a:p>
            <a:pPr indent="0" lvl="0" marL="0" rtl="0" algn="l">
              <a:lnSpc>
                <a:spcPct val="100000"/>
              </a:lnSpc>
              <a:spcBef>
                <a:spcPts val="1200"/>
              </a:spcBef>
              <a:spcAft>
                <a:spcPts val="0"/>
              </a:spcAft>
              <a:buNone/>
            </a:pPr>
            <a:r>
              <a:t/>
            </a:r>
            <a:endParaRPr sz="1100">
              <a:solidFill>
                <a:schemeClr val="dk1"/>
              </a:solidFill>
            </a:endParaRPr>
          </a:p>
          <a:p>
            <a:pPr indent="0" lvl="0" marL="457200" rtl="0" algn="l">
              <a:lnSpc>
                <a:spcPct val="100000"/>
              </a:lnSpc>
              <a:spcBef>
                <a:spcPts val="1200"/>
              </a:spcBef>
              <a:spcAft>
                <a:spcPts val="0"/>
              </a:spcAft>
              <a:buNone/>
            </a:pPr>
            <a:r>
              <a:t/>
            </a:r>
            <a:endParaRPr sz="1100">
              <a:solidFill>
                <a:schemeClr val="dk1"/>
              </a:solidFill>
            </a:endParaRPr>
          </a:p>
          <a:p>
            <a:pPr indent="0" lvl="0" marL="0" rtl="0" algn="l">
              <a:lnSpc>
                <a:spcPct val="100000"/>
              </a:lnSpc>
              <a:spcBef>
                <a:spcPts val="1200"/>
              </a:spcBef>
              <a:spcAft>
                <a:spcPts val="0"/>
              </a:spcAft>
              <a:buNone/>
            </a:pPr>
            <a:r>
              <a:t/>
            </a:r>
            <a:endParaRPr b="1" sz="1100">
              <a:solidFill>
                <a:schemeClr val="dk1"/>
              </a:solidFill>
            </a:endParaRPr>
          </a:p>
          <a:p>
            <a:pPr indent="0" lvl="0" marL="0" rtl="0" algn="l">
              <a:lnSpc>
                <a:spcPct val="100000"/>
              </a:lnSpc>
              <a:spcBef>
                <a:spcPts val="1200"/>
              </a:spcBef>
              <a:spcAft>
                <a:spcPts val="0"/>
              </a:spcAft>
              <a:buNone/>
            </a:pPr>
            <a:r>
              <a:t/>
            </a:r>
            <a:endParaRPr b="1" sz="1100">
              <a:solidFill>
                <a:schemeClr val="dk1"/>
              </a:solidFill>
            </a:endParaRPr>
          </a:p>
          <a:p>
            <a:pPr indent="0" lvl="0" marL="0" rtl="0" algn="l">
              <a:lnSpc>
                <a:spcPct val="100000"/>
              </a:lnSpc>
              <a:spcBef>
                <a:spcPts val="1200"/>
              </a:spcBef>
              <a:spcAft>
                <a:spcPts val="0"/>
              </a:spcAft>
              <a:buNone/>
            </a:pPr>
            <a:r>
              <a:t/>
            </a:r>
            <a:endParaRPr b="1" sz="1100">
              <a:solidFill>
                <a:schemeClr val="dk1"/>
              </a:solidFill>
            </a:endParaRPr>
          </a:p>
          <a:p>
            <a:pPr indent="0" lvl="0" marL="0" rtl="0" algn="l">
              <a:lnSpc>
                <a:spcPct val="100000"/>
              </a:lnSpc>
              <a:spcBef>
                <a:spcPts val="1200"/>
              </a:spcBef>
              <a:spcAft>
                <a:spcPts val="0"/>
              </a:spcAft>
              <a:buNone/>
            </a:pPr>
            <a:r>
              <a:t/>
            </a:r>
            <a:endParaRPr b="1" sz="1100">
              <a:solidFill>
                <a:schemeClr val="dk1"/>
              </a:solidFill>
            </a:endParaRPr>
          </a:p>
          <a:p>
            <a:pPr indent="0" lvl="0" marL="0" rtl="0" algn="l">
              <a:lnSpc>
                <a:spcPct val="100000"/>
              </a:lnSpc>
              <a:spcBef>
                <a:spcPts val="1200"/>
              </a:spcBef>
              <a:spcAft>
                <a:spcPts val="0"/>
              </a:spcAft>
              <a:buNone/>
            </a:pPr>
            <a:r>
              <a:t/>
            </a:r>
            <a:endParaRPr b="1" sz="1000">
              <a:solidFill>
                <a:schemeClr val="dk1"/>
              </a:solidFill>
            </a:endParaRPr>
          </a:p>
          <a:p>
            <a:pPr indent="0" lvl="0" marL="0" rtl="0" algn="l">
              <a:lnSpc>
                <a:spcPct val="100000"/>
              </a:lnSpc>
              <a:spcBef>
                <a:spcPts val="1200"/>
              </a:spcBef>
              <a:spcAft>
                <a:spcPts val="0"/>
              </a:spcAft>
              <a:buNone/>
            </a:pPr>
            <a:r>
              <a:t/>
            </a:r>
            <a:endParaRPr b="1" sz="900">
              <a:solidFill>
                <a:schemeClr val="dk1"/>
              </a:solidFill>
            </a:endParaRPr>
          </a:p>
          <a:p>
            <a:pPr indent="0" lvl="0" marL="0" rtl="0" algn="l">
              <a:lnSpc>
                <a:spcPct val="100000"/>
              </a:lnSpc>
              <a:spcBef>
                <a:spcPts val="1200"/>
              </a:spcBef>
              <a:spcAft>
                <a:spcPts val="0"/>
              </a:spcAft>
              <a:buNone/>
            </a:pPr>
            <a:r>
              <a:rPr b="1" lang="en" sz="900">
                <a:solidFill>
                  <a:schemeClr val="dk1"/>
                </a:solidFill>
              </a:rPr>
              <a:t>Records Used </a:t>
            </a:r>
            <a:endParaRPr b="1" sz="900">
              <a:solidFill>
                <a:schemeClr val="dk1"/>
              </a:solidFill>
            </a:endParaRPr>
          </a:p>
          <a:p>
            <a:pPr indent="0" lvl="0" marL="0" rtl="0" algn="l">
              <a:lnSpc>
                <a:spcPct val="100000"/>
              </a:lnSpc>
              <a:spcBef>
                <a:spcPts val="1200"/>
              </a:spcBef>
              <a:spcAft>
                <a:spcPts val="0"/>
              </a:spcAft>
              <a:buNone/>
            </a:pPr>
            <a:r>
              <a:rPr lang="en" sz="900">
                <a:solidFill>
                  <a:srgbClr val="14181F"/>
                </a:solidFill>
              </a:rPr>
              <a:t>NORMAL_RECORDS  = </a:t>
            </a:r>
            <a:r>
              <a:rPr lang="en" sz="900">
                <a:solidFill>
                  <a:srgbClr val="2B303B"/>
                </a:solidFill>
              </a:rPr>
              <a:t>[</a:t>
            </a:r>
            <a:r>
              <a:rPr lang="en" sz="900">
                <a:solidFill>
                  <a:srgbClr val="008000"/>
                </a:solidFill>
              </a:rPr>
              <a:t>"100"</a:t>
            </a:r>
            <a:r>
              <a:rPr lang="en" sz="900">
                <a:solidFill>
                  <a:srgbClr val="2B303B"/>
                </a:solidFill>
              </a:rPr>
              <a:t>,</a:t>
            </a:r>
            <a:r>
              <a:rPr lang="en" sz="900">
                <a:solidFill>
                  <a:srgbClr val="14181F"/>
                </a:solidFill>
              </a:rPr>
              <a:t> </a:t>
            </a:r>
            <a:r>
              <a:rPr lang="en" sz="900">
                <a:solidFill>
                  <a:srgbClr val="008000"/>
                </a:solidFill>
              </a:rPr>
              <a:t>"101"</a:t>
            </a:r>
            <a:r>
              <a:rPr lang="en" sz="900">
                <a:solidFill>
                  <a:srgbClr val="2B303B"/>
                </a:solidFill>
              </a:rPr>
              <a:t>,</a:t>
            </a:r>
            <a:r>
              <a:rPr lang="en" sz="900">
                <a:solidFill>
                  <a:srgbClr val="14181F"/>
                </a:solidFill>
              </a:rPr>
              <a:t> </a:t>
            </a:r>
            <a:r>
              <a:rPr lang="en" sz="900">
                <a:solidFill>
                  <a:srgbClr val="008000"/>
                </a:solidFill>
              </a:rPr>
              <a:t>"103"</a:t>
            </a:r>
            <a:r>
              <a:rPr lang="en" sz="900">
                <a:solidFill>
                  <a:srgbClr val="2B303B"/>
                </a:solidFill>
              </a:rPr>
              <a:t>,</a:t>
            </a:r>
            <a:r>
              <a:rPr lang="en" sz="900">
                <a:solidFill>
                  <a:srgbClr val="14181F"/>
                </a:solidFill>
              </a:rPr>
              <a:t> </a:t>
            </a:r>
            <a:r>
              <a:rPr lang="en" sz="900">
                <a:solidFill>
                  <a:srgbClr val="008000"/>
                </a:solidFill>
              </a:rPr>
              <a:t>"115"</a:t>
            </a:r>
            <a:r>
              <a:rPr lang="en" sz="900">
                <a:solidFill>
                  <a:srgbClr val="2B303B"/>
                </a:solidFill>
              </a:rPr>
              <a:t>,</a:t>
            </a:r>
            <a:r>
              <a:rPr lang="en" sz="900">
                <a:solidFill>
                  <a:srgbClr val="14181F"/>
                </a:solidFill>
              </a:rPr>
              <a:t> </a:t>
            </a:r>
            <a:r>
              <a:rPr lang="en" sz="900">
                <a:solidFill>
                  <a:srgbClr val="008000"/>
                </a:solidFill>
              </a:rPr>
              <a:t>"117"</a:t>
            </a:r>
            <a:r>
              <a:rPr lang="en" sz="900">
                <a:solidFill>
                  <a:srgbClr val="2B303B"/>
                </a:solidFill>
              </a:rPr>
              <a:t>,</a:t>
            </a:r>
            <a:r>
              <a:rPr lang="en" sz="900">
                <a:solidFill>
                  <a:srgbClr val="14181F"/>
                </a:solidFill>
              </a:rPr>
              <a:t> </a:t>
            </a:r>
            <a:r>
              <a:rPr lang="en" sz="900">
                <a:solidFill>
                  <a:srgbClr val="008000"/>
                </a:solidFill>
              </a:rPr>
              <a:t>"122"</a:t>
            </a:r>
            <a:r>
              <a:rPr lang="en" sz="900">
                <a:solidFill>
                  <a:srgbClr val="2B303B"/>
                </a:solidFill>
              </a:rPr>
              <a:t>,</a:t>
            </a:r>
            <a:r>
              <a:rPr lang="en" sz="900">
                <a:solidFill>
                  <a:srgbClr val="14181F"/>
                </a:solidFill>
              </a:rPr>
              <a:t> </a:t>
            </a:r>
            <a:r>
              <a:rPr lang="en" sz="900">
                <a:solidFill>
                  <a:srgbClr val="008000"/>
                </a:solidFill>
              </a:rPr>
              <a:t>"123"</a:t>
            </a:r>
            <a:r>
              <a:rPr lang="en" sz="900">
                <a:solidFill>
                  <a:srgbClr val="2B303B"/>
                </a:solidFill>
              </a:rPr>
              <a:t>]</a:t>
            </a:r>
            <a:endParaRPr sz="900">
              <a:solidFill>
                <a:srgbClr val="14181F"/>
              </a:solidFill>
            </a:endParaRPr>
          </a:p>
          <a:p>
            <a:pPr indent="0" lvl="0" marL="0" rtl="0" algn="l">
              <a:lnSpc>
                <a:spcPct val="100000"/>
              </a:lnSpc>
              <a:spcBef>
                <a:spcPts val="1200"/>
              </a:spcBef>
              <a:spcAft>
                <a:spcPts val="0"/>
              </a:spcAft>
              <a:buNone/>
            </a:pPr>
            <a:r>
              <a:rPr lang="en" sz="900">
                <a:solidFill>
                  <a:srgbClr val="14181F"/>
                </a:solidFill>
              </a:rPr>
              <a:t>ANOMALY_RECORDS = </a:t>
            </a:r>
            <a:r>
              <a:rPr lang="en" sz="900">
                <a:solidFill>
                  <a:srgbClr val="2B303B"/>
                </a:solidFill>
              </a:rPr>
              <a:t>[</a:t>
            </a:r>
            <a:r>
              <a:rPr lang="en" sz="900">
                <a:solidFill>
                  <a:srgbClr val="008000"/>
                </a:solidFill>
              </a:rPr>
              <a:t>"108"</a:t>
            </a:r>
            <a:r>
              <a:rPr lang="en" sz="900">
                <a:solidFill>
                  <a:srgbClr val="2B303B"/>
                </a:solidFill>
              </a:rPr>
              <a:t>,</a:t>
            </a:r>
            <a:r>
              <a:rPr lang="en" sz="900">
                <a:solidFill>
                  <a:srgbClr val="14181F"/>
                </a:solidFill>
              </a:rPr>
              <a:t> </a:t>
            </a:r>
            <a:r>
              <a:rPr lang="en" sz="900">
                <a:solidFill>
                  <a:srgbClr val="008000"/>
                </a:solidFill>
              </a:rPr>
              <a:t>"200"</a:t>
            </a:r>
            <a:r>
              <a:rPr lang="en" sz="900">
                <a:solidFill>
                  <a:srgbClr val="2B303B"/>
                </a:solidFill>
              </a:rPr>
              <a:t>]</a:t>
            </a:r>
            <a:endParaRPr sz="900">
              <a:solidFill>
                <a:srgbClr val="2B303B"/>
              </a:solidFill>
            </a:endParaRPr>
          </a:p>
          <a:p>
            <a:pPr indent="-285750" lvl="0" marL="457200" rtl="0" algn="l">
              <a:lnSpc>
                <a:spcPct val="100000"/>
              </a:lnSpc>
              <a:spcBef>
                <a:spcPts val="1200"/>
              </a:spcBef>
              <a:spcAft>
                <a:spcPts val="0"/>
              </a:spcAft>
              <a:buClr>
                <a:schemeClr val="dk1"/>
              </a:buClr>
              <a:buSzPts val="900"/>
              <a:buChar char="●"/>
            </a:pPr>
            <a:r>
              <a:rPr b="1" lang="en" sz="900">
                <a:solidFill>
                  <a:schemeClr val="dk1"/>
                </a:solidFill>
              </a:rPr>
              <a:t>Records 100-series</a:t>
            </a:r>
            <a:r>
              <a:rPr lang="en" sz="900">
                <a:solidFill>
                  <a:schemeClr val="dk1"/>
                </a:solidFill>
              </a:rPr>
              <a:t>: Predominantly normal sinus rhythm — used to train the model on normal patterns only.</a:t>
            </a:r>
            <a:endParaRPr sz="900">
              <a:solidFill>
                <a:schemeClr val="dk1"/>
              </a:solidFill>
            </a:endParaRPr>
          </a:p>
          <a:p>
            <a:pPr indent="-285750" lvl="0" marL="457200" rtl="0" algn="l">
              <a:lnSpc>
                <a:spcPct val="100000"/>
              </a:lnSpc>
              <a:spcBef>
                <a:spcPts val="0"/>
              </a:spcBef>
              <a:spcAft>
                <a:spcPts val="0"/>
              </a:spcAft>
              <a:buClr>
                <a:schemeClr val="dk1"/>
              </a:buClr>
              <a:buSzPts val="900"/>
              <a:buChar char="●"/>
            </a:pPr>
            <a:r>
              <a:rPr b="1" lang="en" sz="900">
                <a:solidFill>
                  <a:schemeClr val="dk1"/>
                </a:solidFill>
              </a:rPr>
              <a:t>Record 108</a:t>
            </a:r>
            <a:r>
              <a:rPr lang="en" sz="900">
                <a:solidFill>
                  <a:schemeClr val="dk1"/>
                </a:solidFill>
              </a:rPr>
              <a:t>: 96.1% normal beats, 3.9% arrhythmia — provides realistic test windows</a:t>
            </a:r>
            <a:endParaRPr sz="900">
              <a:solidFill>
                <a:schemeClr val="dk1"/>
              </a:solidFill>
            </a:endParaRPr>
          </a:p>
          <a:p>
            <a:pPr indent="-285750" lvl="0" marL="457200" rtl="0" algn="l">
              <a:lnSpc>
                <a:spcPct val="100000"/>
              </a:lnSpc>
              <a:spcBef>
                <a:spcPts val="0"/>
              </a:spcBef>
              <a:spcAft>
                <a:spcPts val="0"/>
              </a:spcAft>
              <a:buClr>
                <a:schemeClr val="dk1"/>
              </a:buClr>
              <a:buSzPts val="900"/>
              <a:buChar char="●"/>
            </a:pPr>
            <a:r>
              <a:rPr b="1" lang="en" sz="900">
                <a:solidFill>
                  <a:schemeClr val="dk1"/>
                </a:solidFill>
              </a:rPr>
              <a:t>Record 200</a:t>
            </a:r>
            <a:r>
              <a:rPr lang="en" sz="900">
                <a:solidFill>
                  <a:schemeClr val="dk1"/>
                </a:solidFill>
              </a:rPr>
              <a:t>: 67% normal beats, 33% arrhythmia — higher anomaly density for robust evaluation</a:t>
            </a:r>
            <a:endParaRPr sz="900">
              <a:solidFill>
                <a:schemeClr val="dk1"/>
              </a:solidFill>
            </a:endParaRPr>
          </a:p>
          <a:p>
            <a:pPr indent="0" lvl="0" marL="0" rtl="0" algn="l">
              <a:lnSpc>
                <a:spcPct val="100000"/>
              </a:lnSpc>
              <a:spcBef>
                <a:spcPts val="1200"/>
              </a:spcBef>
              <a:spcAft>
                <a:spcPts val="0"/>
              </a:spcAft>
              <a:buNone/>
            </a:pPr>
            <a:r>
              <a:rPr b="1" lang="en" sz="900">
                <a:solidFill>
                  <a:schemeClr val="dk1"/>
                </a:solidFill>
              </a:rPr>
              <a:t>Sampling rate</a:t>
            </a:r>
            <a:r>
              <a:rPr lang="en" sz="900">
                <a:solidFill>
                  <a:schemeClr val="dk1"/>
                </a:solidFill>
              </a:rPr>
              <a:t>: MIT-BIH uses </a:t>
            </a:r>
            <a:r>
              <a:rPr b="1" lang="en" sz="900">
                <a:solidFill>
                  <a:schemeClr val="dk1"/>
                </a:solidFill>
              </a:rPr>
              <a:t>360 Hz</a:t>
            </a:r>
            <a:r>
              <a:rPr lang="en" sz="900">
                <a:solidFill>
                  <a:schemeClr val="dk1"/>
                </a:solidFill>
              </a:rPr>
              <a:t> (360 samples per second), hence </a:t>
            </a:r>
            <a:r>
              <a:rPr lang="en" sz="900">
                <a:solidFill>
                  <a:srgbClr val="188038"/>
                </a:solidFill>
                <a:latin typeface="Roboto Mono"/>
                <a:ea typeface="Roboto Mono"/>
                <a:cs typeface="Roboto Mono"/>
                <a:sym typeface="Roboto Mono"/>
              </a:rPr>
              <a:t>window_size=720</a:t>
            </a:r>
            <a:r>
              <a:rPr lang="en" sz="900">
                <a:solidFill>
                  <a:schemeClr val="dk1"/>
                </a:solidFill>
              </a:rPr>
              <a:t> = exactly </a:t>
            </a:r>
            <a:r>
              <a:rPr b="1" lang="en" sz="900">
                <a:solidFill>
                  <a:schemeClr val="dk1"/>
                </a:solidFill>
              </a:rPr>
              <a:t>2 seconds </a:t>
            </a:r>
            <a:r>
              <a:rPr lang="en" sz="900">
                <a:solidFill>
                  <a:schemeClr val="dk1"/>
                </a:solidFill>
              </a:rPr>
              <a:t>of signal.</a:t>
            </a:r>
            <a:endParaRPr sz="900">
              <a:solidFill>
                <a:schemeClr val="dk1"/>
              </a:solidFill>
            </a:endParaRPr>
          </a:p>
          <a:p>
            <a:pPr indent="0" lvl="0" marL="0" rtl="0" algn="l">
              <a:lnSpc>
                <a:spcPct val="100000"/>
              </a:lnSpc>
              <a:spcBef>
                <a:spcPts val="1200"/>
              </a:spcBef>
              <a:spcAft>
                <a:spcPts val="1200"/>
              </a:spcAft>
              <a:buNone/>
            </a:pPr>
            <a:r>
              <a:rPr lang="en" sz="900">
                <a:solidFill>
                  <a:schemeClr val="dk1"/>
                </a:solidFill>
              </a:rPr>
              <a:t>Conclusion : Both problems share the core challenge: </a:t>
            </a:r>
            <a:r>
              <a:rPr b="1" lang="en" sz="900">
                <a:solidFill>
                  <a:schemeClr val="dk1"/>
                </a:solidFill>
              </a:rPr>
              <a:t>time-series anomaly detection </a:t>
            </a:r>
            <a:r>
              <a:rPr lang="en" sz="900">
                <a:solidFill>
                  <a:schemeClr val="dk1"/>
                </a:solidFill>
              </a:rPr>
              <a:t>where </a:t>
            </a:r>
            <a:r>
              <a:rPr b="1" lang="en" sz="900">
                <a:solidFill>
                  <a:schemeClr val="dk1"/>
                </a:solidFill>
              </a:rPr>
              <a:t>fault samples are scarce or unavailable during training</a:t>
            </a:r>
            <a:r>
              <a:rPr lang="en" sz="900">
                <a:solidFill>
                  <a:schemeClr val="dk1"/>
                </a:solidFill>
              </a:rPr>
              <a:t>.</a:t>
            </a:r>
            <a:endParaRPr sz="900">
              <a:solidFill>
                <a:schemeClr val="dk1"/>
              </a:solidFill>
            </a:endParaRPr>
          </a:p>
        </p:txBody>
      </p:sp>
      <p:graphicFrame>
        <p:nvGraphicFramePr>
          <p:cNvPr id="204" name="Google Shape;204;p39"/>
          <p:cNvGraphicFramePr/>
          <p:nvPr/>
        </p:nvGraphicFramePr>
        <p:xfrm>
          <a:off x="1501725" y="472100"/>
          <a:ext cx="3000000" cy="3000000"/>
        </p:xfrm>
        <a:graphic>
          <a:graphicData uri="http://schemas.openxmlformats.org/drawingml/2006/table">
            <a:tbl>
              <a:tblPr>
                <a:noFill/>
                <a:tableStyleId>{F9266860-3246-408D-9DE9-BDC01F86C764}</a:tableStyleId>
              </a:tblPr>
              <a:tblGrid>
                <a:gridCol w="3151975"/>
                <a:gridCol w="2897375"/>
              </a:tblGrid>
              <a:tr h="242800">
                <a:tc>
                  <a:txBody>
                    <a:bodyPr/>
                    <a:lstStyle/>
                    <a:p>
                      <a:pPr indent="0" lvl="0" marL="0" rtl="0" algn="ctr">
                        <a:lnSpc>
                          <a:spcPct val="115000"/>
                        </a:lnSpc>
                        <a:spcBef>
                          <a:spcPts val="0"/>
                        </a:spcBef>
                        <a:spcAft>
                          <a:spcPts val="0"/>
                        </a:spcAft>
                        <a:buNone/>
                      </a:pPr>
                      <a:r>
                        <a:rPr b="1" lang="en" sz="700"/>
                        <a:t>LRE</a:t>
                      </a:r>
                      <a:endParaRPr b="1" sz="700"/>
                    </a:p>
                  </a:txBody>
                  <a:tcPr marT="91425" marB="91425" marR="91425" marL="91425"/>
                </a:tc>
                <a:tc>
                  <a:txBody>
                    <a:bodyPr/>
                    <a:lstStyle/>
                    <a:p>
                      <a:pPr indent="0" lvl="0" marL="0" rtl="0" algn="ctr">
                        <a:lnSpc>
                          <a:spcPct val="115000"/>
                        </a:lnSpc>
                        <a:spcBef>
                          <a:spcPts val="0"/>
                        </a:spcBef>
                        <a:spcAft>
                          <a:spcPts val="0"/>
                        </a:spcAft>
                        <a:buNone/>
                      </a:pPr>
                      <a:r>
                        <a:rPr b="1" lang="en" sz="700"/>
                        <a:t>ECG</a:t>
                      </a:r>
                      <a:endParaRPr b="1" sz="700"/>
                    </a:p>
                  </a:txBody>
                  <a:tcPr marT="91425" marB="91425" marR="91425" marL="91425"/>
                </a:tc>
              </a:tr>
              <a:tr h="283275">
                <a:tc>
                  <a:txBody>
                    <a:bodyPr/>
                    <a:lstStyle/>
                    <a:p>
                      <a:pPr indent="0" lvl="0" marL="0" rtl="0" algn="l">
                        <a:spcBef>
                          <a:spcPts val="0"/>
                        </a:spcBef>
                        <a:spcAft>
                          <a:spcPts val="0"/>
                        </a:spcAft>
                        <a:buNone/>
                      </a:pPr>
                      <a:r>
                        <a:rPr lang="en" sz="900"/>
                        <a:t>Multi-channel vibration/pressure signals</a:t>
                      </a:r>
                      <a:endParaRPr sz="900"/>
                    </a:p>
                  </a:txBody>
                  <a:tcPr marT="91425" marB="91425" marR="91425" marL="91425"/>
                </a:tc>
                <a:tc>
                  <a:txBody>
                    <a:bodyPr/>
                    <a:lstStyle/>
                    <a:p>
                      <a:pPr indent="0" lvl="0" marL="0" rtl="0" algn="l">
                        <a:spcBef>
                          <a:spcPts val="0"/>
                        </a:spcBef>
                        <a:spcAft>
                          <a:spcPts val="0"/>
                        </a:spcAft>
                        <a:buNone/>
                      </a:pPr>
                      <a:r>
                        <a:rPr lang="en" sz="900"/>
                        <a:t>Single-lead ECG signal</a:t>
                      </a:r>
                      <a:endParaRPr sz="900"/>
                    </a:p>
                  </a:txBody>
                  <a:tcPr marT="91425" marB="91425" marR="91425" marL="91425"/>
                </a:tc>
              </a:tr>
              <a:tr h="283275">
                <a:tc>
                  <a:txBody>
                    <a:bodyPr/>
                    <a:lstStyle/>
                    <a:p>
                      <a:pPr indent="0" lvl="0" marL="0" rtl="0" algn="l">
                        <a:spcBef>
                          <a:spcPts val="0"/>
                        </a:spcBef>
                        <a:spcAft>
                          <a:spcPts val="0"/>
                        </a:spcAft>
                        <a:buNone/>
                      </a:pPr>
                      <a:r>
                        <a:rPr lang="en" sz="900"/>
                        <a:t>Steady-state engine operation</a:t>
                      </a:r>
                      <a:endParaRPr sz="900"/>
                    </a:p>
                  </a:txBody>
                  <a:tcPr marT="91425" marB="91425" marR="91425" marL="91425"/>
                </a:tc>
                <a:tc>
                  <a:txBody>
                    <a:bodyPr/>
                    <a:lstStyle/>
                    <a:p>
                      <a:pPr indent="0" lvl="0" marL="0" rtl="0" algn="l">
                        <a:spcBef>
                          <a:spcPts val="0"/>
                        </a:spcBef>
                        <a:spcAft>
                          <a:spcPts val="0"/>
                        </a:spcAft>
                        <a:buNone/>
                      </a:pPr>
                      <a:r>
                        <a:rPr lang="en" sz="900"/>
                        <a:t>Normal sinus rhythm segments</a:t>
                      </a:r>
                      <a:endParaRPr sz="900"/>
                    </a:p>
                  </a:txBody>
                  <a:tcPr marT="91425" marB="91425" marR="91425" marL="91425"/>
                </a:tc>
              </a:tr>
              <a:tr h="283275">
                <a:tc>
                  <a:txBody>
                    <a:bodyPr/>
                    <a:lstStyle/>
                    <a:p>
                      <a:pPr indent="0" lvl="0" marL="0" rtl="0" algn="l">
                        <a:spcBef>
                          <a:spcPts val="0"/>
                        </a:spcBef>
                        <a:spcAft>
                          <a:spcPts val="0"/>
                        </a:spcAft>
                        <a:buNone/>
                      </a:pPr>
                      <a:r>
                        <a:rPr lang="en" sz="900"/>
                        <a:t>Fault = mechanical anomaly in engine</a:t>
                      </a:r>
                      <a:endParaRPr sz="900"/>
                    </a:p>
                  </a:txBody>
                  <a:tcPr marT="91425" marB="91425" marR="91425" marL="91425"/>
                </a:tc>
                <a:tc>
                  <a:txBody>
                    <a:bodyPr/>
                    <a:lstStyle/>
                    <a:p>
                      <a:pPr indent="0" lvl="0" marL="0" rtl="0" algn="l">
                        <a:spcBef>
                          <a:spcPts val="0"/>
                        </a:spcBef>
                        <a:spcAft>
                          <a:spcPts val="0"/>
                        </a:spcAft>
                        <a:buNone/>
                      </a:pPr>
                      <a:r>
                        <a:rPr lang="en" sz="900"/>
                        <a:t>Fault = arrhythmia beat (PVC, etc.)</a:t>
                      </a:r>
                      <a:endParaRPr sz="900"/>
                    </a:p>
                  </a:txBody>
                  <a:tcPr marT="91425" marB="91425" marR="91425" marL="91425"/>
                </a:tc>
              </a:tr>
              <a:tr h="283275">
                <a:tc>
                  <a:txBody>
                    <a:bodyPr/>
                    <a:lstStyle/>
                    <a:p>
                      <a:pPr indent="0" lvl="0" marL="0" rtl="0" algn="l">
                        <a:spcBef>
                          <a:spcPts val="0"/>
                        </a:spcBef>
                        <a:spcAft>
                          <a:spcPts val="0"/>
                        </a:spcAft>
                        <a:buNone/>
                      </a:pPr>
                      <a:r>
                        <a:rPr lang="en" sz="900"/>
                        <a:t>19 sensor channels</a:t>
                      </a:r>
                      <a:endParaRPr sz="900"/>
                    </a:p>
                  </a:txBody>
                  <a:tcPr marT="91425" marB="91425" marR="91425" marL="91425"/>
                </a:tc>
                <a:tc>
                  <a:txBody>
                    <a:bodyPr/>
                    <a:lstStyle/>
                    <a:p>
                      <a:pPr indent="0" lvl="0" marL="0" rtl="0" algn="l">
                        <a:spcBef>
                          <a:spcPts val="0"/>
                        </a:spcBef>
                        <a:spcAft>
                          <a:spcPts val="0"/>
                        </a:spcAft>
                        <a:buNone/>
                      </a:pPr>
                      <a:r>
                        <a:rPr lang="en" sz="900"/>
                        <a:t>1 channel (single-lead)</a:t>
                      </a:r>
                      <a:endParaRPr sz="900"/>
                    </a:p>
                  </a:txBody>
                  <a:tcPr marT="91425" marB="91425" marR="91425" marL="91425"/>
                </a:tc>
              </a:tr>
              <a:tr h="283275">
                <a:tc>
                  <a:txBody>
                    <a:bodyPr/>
                    <a:lstStyle/>
                    <a:p>
                      <a:pPr indent="0" lvl="0" marL="0" rtl="0" algn="l">
                        <a:spcBef>
                          <a:spcPts val="0"/>
                        </a:spcBef>
                        <a:spcAft>
                          <a:spcPts val="0"/>
                        </a:spcAft>
                        <a:buNone/>
                      </a:pPr>
                      <a:r>
                        <a:rPr lang="en" sz="900"/>
                        <a:t>2048-point samples at unknown fs</a:t>
                      </a:r>
                      <a:endParaRPr sz="900"/>
                    </a:p>
                  </a:txBody>
                  <a:tcPr marT="91425" marB="91425" marR="91425" marL="91425"/>
                </a:tc>
                <a:tc>
                  <a:txBody>
                    <a:bodyPr/>
                    <a:lstStyle/>
                    <a:p>
                      <a:pPr indent="0" lvl="0" marL="0" rtl="0" algn="l">
                        <a:spcBef>
                          <a:spcPts val="0"/>
                        </a:spcBef>
                        <a:spcAft>
                          <a:spcPts val="0"/>
                        </a:spcAft>
                        <a:buNone/>
                      </a:pPr>
                      <a:r>
                        <a:rPr lang="en" sz="900"/>
                        <a:t>720-point windows at 360 Hz = 2 seconds</a:t>
                      </a:r>
                      <a:endParaRPr sz="900"/>
                    </a:p>
                  </a:txBody>
                  <a:tcPr marT="91425" marB="91425" marR="91425" marL="91425"/>
                </a:tc>
              </a:tr>
              <a:tr h="283275">
                <a:tc>
                  <a:txBody>
                    <a:bodyPr/>
                    <a:lstStyle/>
                    <a:p>
                      <a:pPr indent="0" lvl="0" marL="0" rtl="0" algn="l">
                        <a:spcBef>
                          <a:spcPts val="0"/>
                        </a:spcBef>
                        <a:spcAft>
                          <a:spcPts val="0"/>
                        </a:spcAft>
                        <a:buNone/>
                      </a:pPr>
                      <a:r>
                        <a:rPr lang="en" sz="900"/>
                        <a:t>Fault data is rare</a:t>
                      </a:r>
                      <a:endParaRPr sz="900"/>
                    </a:p>
                  </a:txBody>
                  <a:tcPr marT="91425" marB="91425" marR="91425" marL="91425"/>
                </a:tc>
                <a:tc>
                  <a:txBody>
                    <a:bodyPr/>
                    <a:lstStyle/>
                    <a:p>
                      <a:pPr indent="0" lvl="0" marL="0" rtl="0" algn="l">
                        <a:spcBef>
                          <a:spcPts val="0"/>
                        </a:spcBef>
                        <a:spcAft>
                          <a:spcPts val="0"/>
                        </a:spcAft>
                        <a:buNone/>
                      </a:pPr>
                      <a:r>
                        <a:rPr lang="en" sz="900"/>
                        <a:t>Arrhythmia beats are rare in most records</a:t>
                      </a:r>
                      <a:endParaRPr sz="900"/>
                    </a:p>
                  </a:txBody>
                  <a:tcPr marT="91425" marB="91425" marR="91425" marL="91425"/>
                </a:tc>
              </a:tr>
              <a:tr h="283275">
                <a:tc>
                  <a:txBody>
                    <a:bodyPr/>
                    <a:lstStyle/>
                    <a:p>
                      <a:pPr indent="0" lvl="0" marL="0" rtl="0" algn="l">
                        <a:spcBef>
                          <a:spcPts val="0"/>
                        </a:spcBef>
                        <a:spcAft>
                          <a:spcPts val="0"/>
                        </a:spcAft>
                        <a:buNone/>
                      </a:pPr>
                      <a:r>
                        <a:rPr lang="en" sz="900"/>
                        <a:t>Static firing test data</a:t>
                      </a:r>
                      <a:endParaRPr sz="900"/>
                    </a:p>
                  </a:txBody>
                  <a:tcPr marT="91425" marB="91425" marR="91425" marL="91425"/>
                </a:tc>
                <a:tc>
                  <a:txBody>
                    <a:bodyPr/>
                    <a:lstStyle/>
                    <a:p>
                      <a:pPr indent="0" lvl="0" marL="0" rtl="0" algn="l">
                        <a:spcBef>
                          <a:spcPts val="0"/>
                        </a:spcBef>
                        <a:spcAft>
                          <a:spcPts val="0"/>
                        </a:spcAft>
                        <a:buNone/>
                      </a:pPr>
                      <a:r>
                        <a:rPr lang="en" sz="900"/>
                        <a:t>30-minute ECG recording data</a:t>
                      </a:r>
                      <a:endParaRPr sz="900"/>
                    </a:p>
                  </a:txBody>
                  <a:tcPr marT="91425" marB="91425" marR="91425" marL="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0"/>
          <p:cNvSpPr txBox="1"/>
          <p:nvPr/>
        </p:nvSpPr>
        <p:spPr>
          <a:xfrm>
            <a:off x="0" y="0"/>
            <a:ext cx="59709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 sz="1700">
                <a:solidFill>
                  <a:schemeClr val="dk1"/>
                </a:solidFill>
              </a:rPr>
              <a:t>IMPLEMENTATION</a:t>
            </a:r>
            <a:endParaRPr b="1" sz="1300">
              <a:solidFill>
                <a:schemeClr val="dk1"/>
              </a:solidFill>
            </a:endParaRPr>
          </a:p>
        </p:txBody>
      </p:sp>
      <p:pic>
        <p:nvPicPr>
          <p:cNvPr id="210" name="Google Shape;210;p40"/>
          <p:cNvPicPr preferRelativeResize="0"/>
          <p:nvPr/>
        </p:nvPicPr>
        <p:blipFill>
          <a:blip r:embed="rId3">
            <a:alphaModFix/>
          </a:blip>
          <a:stretch>
            <a:fillRect/>
          </a:stretch>
        </p:blipFill>
        <p:spPr>
          <a:xfrm>
            <a:off x="3363600" y="1404901"/>
            <a:ext cx="5734174" cy="3528200"/>
          </a:xfrm>
          <a:prstGeom prst="rect">
            <a:avLst/>
          </a:prstGeom>
          <a:noFill/>
          <a:ln>
            <a:noFill/>
          </a:ln>
        </p:spPr>
      </p:pic>
      <p:sp>
        <p:nvSpPr>
          <p:cNvPr id="211" name="Google Shape;211;p40"/>
          <p:cNvSpPr txBox="1"/>
          <p:nvPr/>
        </p:nvSpPr>
        <p:spPr>
          <a:xfrm>
            <a:off x="85300" y="475775"/>
            <a:ext cx="3092100" cy="457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900">
                <a:solidFill>
                  <a:schemeClr val="dk1"/>
                </a:solidFill>
              </a:rPr>
              <a:t>Preprocessing Pipeline</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b="1" lang="en" sz="900">
                <a:solidFill>
                  <a:schemeClr val="dk1"/>
                </a:solidFill>
              </a:rPr>
              <a:t>Paper says</a:t>
            </a:r>
            <a:r>
              <a:rPr lang="en" sz="900">
                <a:solidFill>
                  <a:schemeClr val="dk1"/>
                </a:solidFill>
              </a:rPr>
              <a:t> (Section IV-A-2): </a:t>
            </a:r>
            <a:r>
              <a:rPr i="1" lang="en" sz="900">
                <a:solidFill>
                  <a:schemeClr val="dk1"/>
                </a:solidFill>
              </a:rPr>
              <a:t>"intercept the steady-state stage data, clean dirty points, then jointly normalize by channel maximum."</a:t>
            </a:r>
            <a:endParaRPr i="1" sz="900">
              <a:solidFill>
                <a:schemeClr val="dk1"/>
              </a:solidFill>
            </a:endParaRPr>
          </a:p>
          <a:p>
            <a:pPr indent="0" lvl="0" marL="457200" rtl="0" algn="l">
              <a:lnSpc>
                <a:spcPct val="115000"/>
              </a:lnSpc>
              <a:spcBef>
                <a:spcPts val="1200"/>
              </a:spcBef>
              <a:spcAft>
                <a:spcPts val="0"/>
              </a:spcAft>
              <a:buNone/>
            </a:pPr>
            <a:r>
              <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ECG equivalent of removing dirty points — removes baseline wander (&lt;0.5 Hz) and high-frequency muscle noise (&gt;40 Hz).</a:t>
            </a:r>
            <a:endParaRPr sz="900">
              <a:solidFill>
                <a:schemeClr val="dk1"/>
              </a:solidFill>
            </a:endParaRPr>
          </a:p>
          <a:p>
            <a:pPr indent="0" lvl="0" marL="457200" rtl="0" algn="l">
              <a:lnSpc>
                <a:spcPct val="115000"/>
              </a:lnSpc>
              <a:spcBef>
                <a:spcPts val="1200"/>
              </a:spcBef>
              <a:spcAft>
                <a:spcPts val="0"/>
              </a:spcAft>
              <a:buNone/>
            </a:pPr>
            <a:r>
              <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Paper uses max normalization. </a:t>
            </a:r>
            <a:endParaRPr sz="900">
              <a:solidFill>
                <a:schemeClr val="dk1"/>
              </a:solidFill>
            </a:endParaRPr>
          </a:p>
          <a:p>
            <a:pPr indent="0" lvl="0" marL="0" rtl="0" algn="l">
              <a:lnSpc>
                <a:spcPct val="115000"/>
              </a:lnSpc>
              <a:spcBef>
                <a:spcPts val="1200"/>
              </a:spcBef>
              <a:spcAft>
                <a:spcPts val="0"/>
              </a:spcAft>
              <a:buNone/>
            </a:pPr>
            <a:r>
              <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Our code uses z-score normalization — making all channels/windows comparable in scale.</a:t>
            </a:r>
            <a:endParaRPr sz="900">
              <a:solidFill>
                <a:schemeClr val="dk1"/>
              </a:solidFill>
            </a:endParaRPr>
          </a:p>
          <a:p>
            <a:pPr indent="0" lvl="0" marL="0" rtl="0" algn="l">
              <a:lnSpc>
                <a:spcPct val="115000"/>
              </a:lnSpc>
              <a:spcBef>
                <a:spcPts val="1200"/>
              </a:spcBef>
              <a:spcAft>
                <a:spcPts val="0"/>
              </a:spcAft>
              <a:buNone/>
            </a:pPr>
            <a:r>
              <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Paper: 2048-point non-overlapping samples, 100 per group. Our code: 720-point overlapping windows with 50% overlap (step=360). Overlap increases data volume and captures transitions between normal and anomalous regions.</a:t>
            </a:r>
            <a:endParaRPr b="1" sz="900">
              <a:solidFill>
                <a:schemeClr val="dk1"/>
              </a:solidFill>
            </a:endParaRPr>
          </a:p>
        </p:txBody>
      </p:sp>
      <p:pic>
        <p:nvPicPr>
          <p:cNvPr id="212" name="Google Shape;212;p40"/>
          <p:cNvPicPr preferRelativeResize="0"/>
          <p:nvPr/>
        </p:nvPicPr>
        <p:blipFill>
          <a:blip r:embed="rId4">
            <a:alphaModFix/>
          </a:blip>
          <a:stretch>
            <a:fillRect/>
          </a:stretch>
        </p:blipFill>
        <p:spPr>
          <a:xfrm>
            <a:off x="770850" y="2972950"/>
            <a:ext cx="1155475" cy="410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1"/>
          <p:cNvSpPr txBox="1"/>
          <p:nvPr/>
        </p:nvSpPr>
        <p:spPr>
          <a:xfrm>
            <a:off x="85300" y="1068776"/>
            <a:ext cx="3724800" cy="285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100">
                <a:solidFill>
                  <a:schemeClr val="dk1"/>
                </a:solidFill>
              </a:rPr>
              <a:t>Negative Sample Generation (Paper's Core Novelty)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Paper's Vibration Sharpening</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Paper's Resampling Superposition</a:t>
            </a:r>
            <a:endParaRPr b="1"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400"/>
              </a:spcBef>
              <a:spcAft>
                <a:spcPts val="400"/>
              </a:spcAft>
              <a:buNone/>
            </a:pPr>
            <a:r>
              <a:t/>
            </a:r>
            <a:endParaRPr b="1" sz="1300">
              <a:solidFill>
                <a:schemeClr val="dk1"/>
              </a:solidFill>
            </a:endParaRPr>
          </a:p>
        </p:txBody>
      </p:sp>
      <p:pic>
        <p:nvPicPr>
          <p:cNvPr id="218" name="Google Shape;218;p41"/>
          <p:cNvPicPr preferRelativeResize="0"/>
          <p:nvPr/>
        </p:nvPicPr>
        <p:blipFill>
          <a:blip r:embed="rId3">
            <a:alphaModFix/>
          </a:blip>
          <a:stretch>
            <a:fillRect/>
          </a:stretch>
        </p:blipFill>
        <p:spPr>
          <a:xfrm>
            <a:off x="85300" y="1898151"/>
            <a:ext cx="3848100" cy="619125"/>
          </a:xfrm>
          <a:prstGeom prst="rect">
            <a:avLst/>
          </a:prstGeom>
          <a:noFill/>
          <a:ln>
            <a:noFill/>
          </a:ln>
        </p:spPr>
      </p:pic>
      <p:pic>
        <p:nvPicPr>
          <p:cNvPr id="219" name="Google Shape;219;p41"/>
          <p:cNvPicPr preferRelativeResize="0"/>
          <p:nvPr/>
        </p:nvPicPr>
        <p:blipFill>
          <a:blip r:embed="rId4">
            <a:alphaModFix/>
          </a:blip>
          <a:stretch>
            <a:fillRect/>
          </a:stretch>
        </p:blipFill>
        <p:spPr>
          <a:xfrm>
            <a:off x="85300" y="3258326"/>
            <a:ext cx="4038600" cy="390525"/>
          </a:xfrm>
          <a:prstGeom prst="rect">
            <a:avLst/>
          </a:prstGeom>
          <a:noFill/>
          <a:ln>
            <a:noFill/>
          </a:ln>
        </p:spPr>
      </p:pic>
      <p:pic>
        <p:nvPicPr>
          <p:cNvPr id="220" name="Google Shape;220;p41"/>
          <p:cNvPicPr preferRelativeResize="0"/>
          <p:nvPr/>
        </p:nvPicPr>
        <p:blipFill>
          <a:blip r:embed="rId5">
            <a:alphaModFix/>
          </a:blip>
          <a:stretch>
            <a:fillRect/>
          </a:stretch>
        </p:blipFill>
        <p:spPr>
          <a:xfrm>
            <a:off x="4033125" y="1143676"/>
            <a:ext cx="5023725" cy="2590475"/>
          </a:xfrm>
          <a:prstGeom prst="rect">
            <a:avLst/>
          </a:prstGeom>
          <a:noFill/>
          <a:ln>
            <a:noFill/>
          </a:ln>
        </p:spPr>
      </p:pic>
      <p:sp>
        <p:nvSpPr>
          <p:cNvPr id="221" name="Google Shape;221;p41"/>
          <p:cNvSpPr txBox="1"/>
          <p:nvPr/>
        </p:nvSpPr>
        <p:spPr>
          <a:xfrm>
            <a:off x="0" y="0"/>
            <a:ext cx="59709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 sz="1700">
                <a:solidFill>
                  <a:schemeClr val="dk1"/>
                </a:solidFill>
              </a:rPr>
              <a:t>IMPLEMENTATION</a:t>
            </a:r>
            <a:endParaRPr b="1" sz="13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2"/>
          <p:cNvSpPr txBox="1"/>
          <p:nvPr/>
        </p:nvSpPr>
        <p:spPr>
          <a:xfrm>
            <a:off x="85300" y="475775"/>
            <a:ext cx="8951400" cy="464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sz="1100">
              <a:solidFill>
                <a:schemeClr val="dk1"/>
              </a:solidFill>
            </a:endParaRPr>
          </a:p>
          <a:p>
            <a:pPr indent="0" lvl="0" marL="0" rtl="0" algn="l">
              <a:lnSpc>
                <a:spcPct val="115000"/>
              </a:lnSpc>
              <a:spcBef>
                <a:spcPts val="1800"/>
              </a:spcBef>
              <a:spcAft>
                <a:spcPts val="0"/>
              </a:spcAft>
              <a:buNone/>
            </a:pPr>
            <a:r>
              <a:t/>
            </a:r>
            <a:endParaRPr b="1" sz="1100">
              <a:solidFill>
                <a:schemeClr val="dk1"/>
              </a:solidFill>
            </a:endParaRPr>
          </a:p>
          <a:p>
            <a:pPr indent="-298450" lvl="0" marL="457200" rtl="0" algn="l">
              <a:lnSpc>
                <a:spcPct val="115000"/>
              </a:lnSpc>
              <a:spcBef>
                <a:spcPts val="1800"/>
              </a:spcBef>
              <a:spcAft>
                <a:spcPts val="0"/>
              </a:spcAft>
              <a:buClr>
                <a:schemeClr val="dk1"/>
              </a:buClr>
              <a:buSzPts val="1100"/>
              <a:buChar char="●"/>
            </a:pPr>
            <a:r>
              <a:rPr b="1" lang="en" sz="1100">
                <a:solidFill>
                  <a:schemeClr val="dk1"/>
                </a:solidFill>
              </a:rPr>
              <a:t>Training Pipeline		</a:t>
            </a:r>
            <a:endParaRPr b="1" sz="1100">
              <a:solidFill>
                <a:schemeClr val="dk1"/>
              </a:solidFill>
            </a:endParaRPr>
          </a:p>
          <a:p>
            <a:pPr indent="0" lvl="0" marL="0" rtl="0" algn="l">
              <a:lnSpc>
                <a:spcPct val="115000"/>
              </a:lnSpc>
              <a:spcBef>
                <a:spcPts val="1800"/>
              </a:spcBef>
              <a:spcAft>
                <a:spcPts val="0"/>
              </a:spcAft>
              <a:buNone/>
            </a:pPr>
            <a:r>
              <a:t/>
            </a:r>
            <a:endParaRPr b="1" sz="1100">
              <a:solidFill>
                <a:schemeClr val="dk1"/>
              </a:solidFill>
            </a:endParaRPr>
          </a:p>
          <a:p>
            <a:pPr indent="0" lvl="0" marL="0" rtl="0" algn="l">
              <a:lnSpc>
                <a:spcPct val="115000"/>
              </a:lnSpc>
              <a:spcBef>
                <a:spcPts val="1800"/>
              </a:spcBef>
              <a:spcAft>
                <a:spcPts val="0"/>
              </a:spcAft>
              <a:buNone/>
            </a:pPr>
            <a:r>
              <a:t/>
            </a:r>
            <a:endParaRPr b="1" sz="1100">
              <a:solidFill>
                <a:schemeClr val="dk1"/>
              </a:solidFill>
            </a:endParaRPr>
          </a:p>
          <a:p>
            <a:pPr indent="0" lvl="0" marL="0" rtl="0" algn="l">
              <a:lnSpc>
                <a:spcPct val="115000"/>
              </a:lnSpc>
              <a:spcBef>
                <a:spcPts val="1800"/>
              </a:spcBef>
              <a:spcAft>
                <a:spcPts val="0"/>
              </a:spcAft>
              <a:buNone/>
            </a:pPr>
            <a:r>
              <a:t/>
            </a:r>
            <a:endParaRPr b="1" sz="1100">
              <a:solidFill>
                <a:schemeClr val="dk1"/>
              </a:solidFill>
            </a:endParaRPr>
          </a:p>
          <a:p>
            <a:pPr indent="0" lvl="0" marL="0" rtl="0" algn="l">
              <a:lnSpc>
                <a:spcPct val="115000"/>
              </a:lnSpc>
              <a:spcBef>
                <a:spcPts val="1800"/>
              </a:spcBef>
              <a:spcAft>
                <a:spcPts val="0"/>
              </a:spcAft>
              <a:buNone/>
            </a:pPr>
            <a:r>
              <a:t/>
            </a:r>
            <a:endParaRPr b="1" sz="1100">
              <a:solidFill>
                <a:schemeClr val="dk1"/>
              </a:solidFill>
            </a:endParaRPr>
          </a:p>
          <a:p>
            <a:pPr indent="-298450" lvl="0" marL="457200" rtl="0" algn="l">
              <a:lnSpc>
                <a:spcPct val="115000"/>
              </a:lnSpc>
              <a:spcBef>
                <a:spcPts val="1800"/>
              </a:spcBef>
              <a:spcAft>
                <a:spcPts val="0"/>
              </a:spcAft>
              <a:buClr>
                <a:schemeClr val="dk1"/>
              </a:buClr>
              <a:buSzPts val="1100"/>
              <a:buChar char="●"/>
            </a:pPr>
            <a:r>
              <a:rPr b="1" lang="en" sz="1100">
                <a:solidFill>
                  <a:schemeClr val="dk1"/>
                </a:solidFill>
              </a:rPr>
              <a:t>Model Summary</a:t>
            </a:r>
            <a:endParaRPr b="1" sz="1100">
              <a:solidFill>
                <a:schemeClr val="dk1"/>
              </a:solidFill>
            </a:endParaRPr>
          </a:p>
          <a:p>
            <a:pPr indent="0" lvl="0" marL="0" rtl="0" algn="l">
              <a:lnSpc>
                <a:spcPct val="115000"/>
              </a:lnSpc>
              <a:spcBef>
                <a:spcPts val="1800"/>
              </a:spcBef>
              <a:spcAft>
                <a:spcPts val="0"/>
              </a:spcAft>
              <a:buNone/>
            </a:pPr>
            <a:r>
              <a:t/>
            </a:r>
            <a:endParaRPr b="1" sz="1100">
              <a:solidFill>
                <a:schemeClr val="dk1"/>
              </a:solidFill>
            </a:endParaRPr>
          </a:p>
          <a:p>
            <a:pPr indent="0" lvl="0" marL="0" rtl="0" algn="l">
              <a:lnSpc>
                <a:spcPct val="115000"/>
              </a:lnSpc>
              <a:spcBef>
                <a:spcPts val="1800"/>
              </a:spcBef>
              <a:spcAft>
                <a:spcPts val="0"/>
              </a:spcAft>
              <a:buNone/>
            </a:pPr>
            <a:r>
              <a:t/>
            </a:r>
            <a:endParaRPr b="1" sz="1100">
              <a:solidFill>
                <a:schemeClr val="dk1"/>
              </a:solidFill>
            </a:endParaRPr>
          </a:p>
          <a:p>
            <a:pPr indent="0" lvl="0" marL="0" rtl="0" algn="l">
              <a:lnSpc>
                <a:spcPct val="115000"/>
              </a:lnSpc>
              <a:spcBef>
                <a:spcPts val="1800"/>
              </a:spcBef>
              <a:spcAft>
                <a:spcPts val="400"/>
              </a:spcAft>
              <a:buNone/>
            </a:pPr>
            <a:r>
              <a:t/>
            </a:r>
            <a:endParaRPr b="1" sz="1300">
              <a:solidFill>
                <a:schemeClr val="dk1"/>
              </a:solidFill>
            </a:endParaRPr>
          </a:p>
        </p:txBody>
      </p:sp>
      <p:graphicFrame>
        <p:nvGraphicFramePr>
          <p:cNvPr id="227" name="Google Shape;227;p42"/>
          <p:cNvGraphicFramePr/>
          <p:nvPr/>
        </p:nvGraphicFramePr>
        <p:xfrm>
          <a:off x="3236050" y="446400"/>
          <a:ext cx="3000000" cy="3000000"/>
        </p:xfrm>
        <a:graphic>
          <a:graphicData uri="http://schemas.openxmlformats.org/drawingml/2006/table">
            <a:tbl>
              <a:tblPr>
                <a:noFill/>
                <a:tableStyleId>{F9266860-3246-408D-9DE9-BDC01F86C764}</a:tableStyleId>
              </a:tblPr>
              <a:tblGrid>
                <a:gridCol w="1871325"/>
                <a:gridCol w="3841100"/>
              </a:tblGrid>
              <a:tr h="100000">
                <a:tc>
                  <a:txBody>
                    <a:bodyPr/>
                    <a:lstStyle/>
                    <a:p>
                      <a:pPr indent="0" lvl="0" marL="0" rtl="0" algn="ctr">
                        <a:lnSpc>
                          <a:spcPct val="115000"/>
                        </a:lnSpc>
                        <a:spcBef>
                          <a:spcPts val="0"/>
                        </a:spcBef>
                        <a:spcAft>
                          <a:spcPts val="0"/>
                        </a:spcAft>
                        <a:buNone/>
                      </a:pPr>
                      <a:r>
                        <a:rPr b="1" lang="en" sz="800"/>
                        <a:t>Paper</a:t>
                      </a:r>
                      <a:endParaRPr b="1" sz="800"/>
                    </a:p>
                  </a:txBody>
                  <a:tcPr marT="91425" marB="91425" marR="91425" marL="91425"/>
                </a:tc>
                <a:tc>
                  <a:txBody>
                    <a:bodyPr/>
                    <a:lstStyle/>
                    <a:p>
                      <a:pPr indent="0" lvl="0" marL="0" rtl="0" algn="ctr">
                        <a:lnSpc>
                          <a:spcPct val="115000"/>
                        </a:lnSpc>
                        <a:spcBef>
                          <a:spcPts val="0"/>
                        </a:spcBef>
                        <a:spcAft>
                          <a:spcPts val="0"/>
                        </a:spcAft>
                        <a:buNone/>
                      </a:pPr>
                      <a:r>
                        <a:rPr b="1" lang="en" sz="800"/>
                        <a:t>Code Implementation</a:t>
                      </a:r>
                      <a:endParaRPr b="1" sz="800"/>
                    </a:p>
                  </a:txBody>
                  <a:tcPr marT="91425" marB="91425" marR="91425" marL="91425"/>
                </a:tc>
              </a:tr>
              <a:tr h="261875">
                <a:tc>
                  <a:txBody>
                    <a:bodyPr/>
                    <a:lstStyle/>
                    <a:p>
                      <a:pPr indent="0" lvl="0" marL="0" rtl="0" algn="l">
                        <a:spcBef>
                          <a:spcPts val="0"/>
                        </a:spcBef>
                        <a:spcAft>
                          <a:spcPts val="0"/>
                        </a:spcAft>
                        <a:buNone/>
                      </a:pPr>
                      <a:r>
                        <a:rPr lang="en" sz="800"/>
                        <a:t>200 epochs</a:t>
                      </a:r>
                      <a:endParaRPr sz="800"/>
                    </a:p>
                  </a:txBody>
                  <a:tcPr marT="91425" marB="91425" marR="91425" marL="91425"/>
                </a:tc>
                <a:tc>
                  <a:txBody>
                    <a:bodyPr/>
                    <a:lstStyle/>
                    <a:p>
                      <a:pPr indent="0" lvl="0" marL="0" rtl="0" algn="l">
                        <a:spcBef>
                          <a:spcPts val="0"/>
                        </a:spcBef>
                        <a:spcAft>
                          <a:spcPts val="0"/>
                        </a:spcAft>
                        <a:buNone/>
                      </a:pPr>
                      <a:r>
                        <a:rPr lang="en" sz="800"/>
                        <a:t>10 epochs</a:t>
                      </a:r>
                      <a:endParaRPr sz="800"/>
                    </a:p>
                  </a:txBody>
                  <a:tcPr marT="91425" marB="91425" marR="91425" marL="91425"/>
                </a:tc>
              </a:tr>
              <a:tr h="261875">
                <a:tc>
                  <a:txBody>
                    <a:bodyPr/>
                    <a:lstStyle/>
                    <a:p>
                      <a:pPr indent="0" lvl="0" marL="0" rtl="0" algn="l">
                        <a:spcBef>
                          <a:spcPts val="0"/>
                        </a:spcBef>
                        <a:spcAft>
                          <a:spcPts val="0"/>
                        </a:spcAft>
                        <a:buNone/>
                      </a:pPr>
                      <a:r>
                        <a:rPr lang="en" sz="800"/>
                        <a:t>Batch size 16</a:t>
                      </a:r>
                      <a:endParaRPr sz="800"/>
                    </a:p>
                  </a:txBody>
                  <a:tcPr marT="91425" marB="91425" marR="91425" marL="91425"/>
                </a:tc>
                <a:tc>
                  <a:txBody>
                    <a:bodyPr/>
                    <a:lstStyle/>
                    <a:p>
                      <a:pPr indent="0" lvl="0" marL="0" rtl="0" algn="l">
                        <a:spcBef>
                          <a:spcPts val="0"/>
                        </a:spcBef>
                        <a:spcAft>
                          <a:spcPts val="0"/>
                        </a:spcAft>
                        <a:buNone/>
                      </a:pPr>
                      <a:r>
                        <a:rPr lang="en" sz="800"/>
                        <a:t>Batch size 32</a:t>
                      </a:r>
                      <a:endParaRPr sz="800"/>
                    </a:p>
                  </a:txBody>
                  <a:tcPr marT="91425" marB="91425" marR="91425" marL="91425"/>
                </a:tc>
              </a:tr>
              <a:tr h="261875">
                <a:tc>
                  <a:txBody>
                    <a:bodyPr/>
                    <a:lstStyle/>
                    <a:p>
                      <a:pPr indent="0" lvl="0" marL="0" rtl="0" algn="l">
                        <a:spcBef>
                          <a:spcPts val="0"/>
                        </a:spcBef>
                        <a:spcAft>
                          <a:spcPts val="0"/>
                        </a:spcAft>
                        <a:buNone/>
                      </a:pPr>
                      <a:r>
                        <a:rPr lang="en" sz="800"/>
                        <a:t>Adam optimizer</a:t>
                      </a:r>
                      <a:endParaRPr sz="800"/>
                    </a:p>
                  </a:txBody>
                  <a:tcPr marT="91425" marB="91425" marR="91425" marL="91425"/>
                </a:tc>
                <a:tc>
                  <a:txBody>
                    <a:bodyPr/>
                    <a:lstStyle/>
                    <a:p>
                      <a:pPr indent="0" lvl="0" marL="0" rtl="0" algn="l">
                        <a:spcBef>
                          <a:spcPts val="0"/>
                        </a:spcBef>
                        <a:spcAft>
                          <a:spcPts val="0"/>
                        </a:spcAft>
                        <a:buNone/>
                      </a:pPr>
                      <a:r>
                        <a:rPr lang="en" sz="800"/>
                        <a:t>Adam optimizer</a:t>
                      </a:r>
                      <a:endParaRPr sz="800"/>
                    </a:p>
                  </a:txBody>
                  <a:tcPr marT="91425" marB="91425" marR="91425" marL="91425"/>
                </a:tc>
              </a:tr>
              <a:tr h="261875">
                <a:tc>
                  <a:txBody>
                    <a:bodyPr/>
                    <a:lstStyle/>
                    <a:p>
                      <a:pPr indent="0" lvl="0" marL="0" rtl="0" algn="l">
                        <a:spcBef>
                          <a:spcPts val="0"/>
                        </a:spcBef>
                        <a:spcAft>
                          <a:spcPts val="0"/>
                        </a:spcAft>
                        <a:buNone/>
                      </a:pPr>
                      <a:r>
                        <a:rPr lang="en" sz="800"/>
                        <a:t>Learning rate 5×10⁻³</a:t>
                      </a:r>
                      <a:endParaRPr sz="800"/>
                    </a:p>
                  </a:txBody>
                  <a:tcPr marT="91425" marB="91425" marR="91425" marL="91425"/>
                </a:tc>
                <a:tc>
                  <a:txBody>
                    <a:bodyPr/>
                    <a:lstStyle/>
                    <a:p>
                      <a:pPr indent="0" lvl="0" marL="0" rtl="0" algn="l">
                        <a:spcBef>
                          <a:spcPts val="0"/>
                        </a:spcBef>
                        <a:spcAft>
                          <a:spcPts val="0"/>
                        </a:spcAft>
                        <a:buNone/>
                      </a:pPr>
                      <a:r>
                        <a:rPr lang="en" sz="800"/>
                        <a:t>Learning rate 1×10⁻³</a:t>
                      </a:r>
                      <a:endParaRPr sz="800"/>
                    </a:p>
                  </a:txBody>
                  <a:tcPr marT="91425" marB="91425" marR="91425" marL="91425"/>
                </a:tc>
              </a:tr>
              <a:tr h="293925">
                <a:tc>
                  <a:txBody>
                    <a:bodyPr/>
                    <a:lstStyle/>
                    <a:p>
                      <a:pPr indent="0" lvl="0" marL="0" rtl="0" algn="l">
                        <a:spcBef>
                          <a:spcPts val="0"/>
                        </a:spcBef>
                        <a:spcAft>
                          <a:spcPts val="0"/>
                        </a:spcAft>
                        <a:buNone/>
                      </a:pPr>
                      <a:r>
                        <a:rPr lang="en" sz="800"/>
                        <a:t>No explicit grad clipping</a:t>
                      </a:r>
                      <a:endParaRPr sz="800"/>
                    </a:p>
                  </a:txBody>
                  <a:tcPr marT="91425" marB="91425" marR="91425" marL="91425"/>
                </a:tc>
                <a:tc>
                  <a:txBody>
                    <a:bodyPr/>
                    <a:lstStyle/>
                    <a:p>
                      <a:pPr indent="0" lvl="0" marL="0" rtl="0" algn="l">
                        <a:spcBef>
                          <a:spcPts val="0"/>
                        </a:spcBef>
                        <a:spcAft>
                          <a:spcPts val="0"/>
                        </a:spcAft>
                        <a:buNone/>
                      </a:pPr>
                      <a:r>
                        <a:rPr lang="en" sz="800">
                          <a:solidFill>
                            <a:srgbClr val="188038"/>
                          </a:solidFill>
                          <a:latin typeface="Roboto Mono"/>
                          <a:ea typeface="Roboto Mono"/>
                          <a:cs typeface="Roboto Mono"/>
                          <a:sym typeface="Roboto Mono"/>
                        </a:rPr>
                        <a:t>clip_grad_norm_(max_norm=1.0)</a:t>
                      </a:r>
                      <a:r>
                        <a:rPr lang="en" sz="800"/>
                        <a:t> added</a:t>
                      </a:r>
                      <a:endParaRPr sz="800"/>
                    </a:p>
                  </a:txBody>
                  <a:tcPr marT="91425" marB="91425" marR="91425" marL="91425"/>
                </a:tc>
              </a:tr>
              <a:tr h="261875">
                <a:tc>
                  <a:txBody>
                    <a:bodyPr/>
                    <a:lstStyle/>
                    <a:p>
                      <a:pPr indent="0" lvl="0" marL="0" rtl="0" algn="l">
                        <a:spcBef>
                          <a:spcPts val="0"/>
                        </a:spcBef>
                        <a:spcAft>
                          <a:spcPts val="0"/>
                        </a:spcAft>
                        <a:buNone/>
                      </a:pPr>
                      <a:r>
                        <a:rPr lang="en" sz="800"/>
                        <a:t>Checkpoint on accuracy</a:t>
                      </a:r>
                      <a:endParaRPr sz="800"/>
                    </a:p>
                  </a:txBody>
                  <a:tcPr marT="91425" marB="91425" marR="91425" marL="91425"/>
                </a:tc>
                <a:tc>
                  <a:txBody>
                    <a:bodyPr/>
                    <a:lstStyle/>
                    <a:p>
                      <a:pPr indent="0" lvl="0" marL="0" rtl="0" algn="l">
                        <a:spcBef>
                          <a:spcPts val="0"/>
                        </a:spcBef>
                        <a:spcAft>
                          <a:spcPts val="0"/>
                        </a:spcAft>
                        <a:buNone/>
                      </a:pPr>
                      <a:r>
                        <a:rPr lang="en" sz="800"/>
                        <a:t>Checkpoint on </a:t>
                      </a:r>
                      <a:r>
                        <a:rPr b="1" lang="en" sz="800"/>
                        <a:t>val F1</a:t>
                      </a:r>
                      <a:r>
                        <a:rPr lang="en" sz="800"/>
                        <a:t> (more meaningful)</a:t>
                      </a:r>
                      <a:endParaRPr sz="800"/>
                    </a:p>
                  </a:txBody>
                  <a:tcPr marT="91425" marB="91425" marR="91425" marL="91425"/>
                </a:tc>
              </a:tr>
            </a:tbl>
          </a:graphicData>
        </a:graphic>
      </p:graphicFrame>
      <p:pic>
        <p:nvPicPr>
          <p:cNvPr id="228" name="Google Shape;228;p42"/>
          <p:cNvPicPr preferRelativeResize="0"/>
          <p:nvPr/>
        </p:nvPicPr>
        <p:blipFill>
          <a:blip r:embed="rId3">
            <a:alphaModFix/>
          </a:blip>
          <a:stretch>
            <a:fillRect/>
          </a:stretch>
        </p:blipFill>
        <p:spPr>
          <a:xfrm>
            <a:off x="3215700" y="2860475"/>
            <a:ext cx="5753126" cy="2217900"/>
          </a:xfrm>
          <a:prstGeom prst="rect">
            <a:avLst/>
          </a:prstGeom>
          <a:noFill/>
          <a:ln>
            <a:noFill/>
          </a:ln>
          <a:effectLst>
            <a:outerShdw blurRad="57150" rotWithShape="0" algn="bl" dir="5400000" dist="19050">
              <a:srgbClr val="000000">
                <a:alpha val="50000"/>
              </a:srgbClr>
            </a:outerShdw>
          </a:effectLst>
        </p:spPr>
      </p:pic>
      <p:sp>
        <p:nvSpPr>
          <p:cNvPr id="229" name="Google Shape;229;p42"/>
          <p:cNvSpPr txBox="1"/>
          <p:nvPr/>
        </p:nvSpPr>
        <p:spPr>
          <a:xfrm>
            <a:off x="0" y="0"/>
            <a:ext cx="59709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 sz="1700">
                <a:solidFill>
                  <a:schemeClr val="dk1"/>
                </a:solidFill>
              </a:rPr>
              <a:t>IMPLEMENTATION</a:t>
            </a:r>
            <a:endParaRPr b="1" sz="13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43" title="Blank diagram.png"/>
          <p:cNvPicPr preferRelativeResize="0"/>
          <p:nvPr/>
        </p:nvPicPr>
        <p:blipFill rotWithShape="1">
          <a:blip r:embed="rId3">
            <a:alphaModFix/>
          </a:blip>
          <a:srcRect b="2187" l="5807" r="6072" t="1890"/>
          <a:stretch/>
        </p:blipFill>
        <p:spPr>
          <a:xfrm>
            <a:off x="6678775" y="0"/>
            <a:ext cx="1988800" cy="5068600"/>
          </a:xfrm>
          <a:prstGeom prst="rect">
            <a:avLst/>
          </a:prstGeom>
          <a:noFill/>
          <a:ln>
            <a:noFill/>
          </a:ln>
        </p:spPr>
      </p:pic>
      <p:sp>
        <p:nvSpPr>
          <p:cNvPr id="235" name="Google Shape;235;p43"/>
          <p:cNvSpPr txBox="1"/>
          <p:nvPr/>
        </p:nvSpPr>
        <p:spPr>
          <a:xfrm>
            <a:off x="0" y="0"/>
            <a:ext cx="59709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 sz="1700">
                <a:solidFill>
                  <a:schemeClr val="dk1"/>
                </a:solidFill>
              </a:rPr>
              <a:t>IMPLEMENTATION ARCHITECTURE</a:t>
            </a:r>
            <a:endParaRPr b="1" sz="1300">
              <a:solidFill>
                <a:schemeClr val="dk1"/>
              </a:solidFill>
            </a:endParaRPr>
          </a:p>
        </p:txBody>
      </p:sp>
      <p:graphicFrame>
        <p:nvGraphicFramePr>
          <p:cNvPr id="236" name="Google Shape;236;p43"/>
          <p:cNvGraphicFramePr/>
          <p:nvPr/>
        </p:nvGraphicFramePr>
        <p:xfrm>
          <a:off x="189650" y="1429150"/>
          <a:ext cx="3000000" cy="3000000"/>
        </p:xfrm>
        <a:graphic>
          <a:graphicData uri="http://schemas.openxmlformats.org/drawingml/2006/table">
            <a:tbl>
              <a:tblPr>
                <a:noFill/>
                <a:tableStyleId>{F9266860-3246-408D-9DE9-BDC01F86C764}</a:tableStyleId>
              </a:tblPr>
              <a:tblGrid>
                <a:gridCol w="848825"/>
                <a:gridCol w="3999450"/>
              </a:tblGrid>
              <a:tr h="319475">
                <a:tc>
                  <a:txBody>
                    <a:bodyPr/>
                    <a:lstStyle/>
                    <a:p>
                      <a:pPr indent="0" lvl="0" marL="0" rtl="0" algn="ctr">
                        <a:lnSpc>
                          <a:spcPct val="115000"/>
                        </a:lnSpc>
                        <a:spcBef>
                          <a:spcPts val="0"/>
                        </a:spcBef>
                        <a:spcAft>
                          <a:spcPts val="0"/>
                        </a:spcAft>
                        <a:buNone/>
                      </a:pPr>
                      <a:r>
                        <a:rPr b="1" lang="en" sz="600"/>
                        <a:t>Libraries Used</a:t>
                      </a:r>
                      <a:endParaRPr b="1" sz="600"/>
                    </a:p>
                  </a:txBody>
                  <a:tcPr marT="91425" marB="91425" marR="91425" marL="91425"/>
                </a:tc>
                <a:tc>
                  <a:txBody>
                    <a:bodyPr/>
                    <a:lstStyle/>
                    <a:p>
                      <a:pPr indent="0" lvl="0" marL="0" rtl="0" algn="ctr">
                        <a:lnSpc>
                          <a:spcPct val="115000"/>
                        </a:lnSpc>
                        <a:spcBef>
                          <a:spcPts val="0"/>
                        </a:spcBef>
                        <a:spcAft>
                          <a:spcPts val="0"/>
                        </a:spcAft>
                        <a:buNone/>
                      </a:pPr>
                      <a:r>
                        <a:rPr b="1" lang="en" sz="600"/>
                        <a:t>Purpose</a:t>
                      </a:r>
                      <a:endParaRPr b="1" sz="600"/>
                    </a:p>
                  </a:txBody>
                  <a:tcPr marT="91425" marB="91425" marR="91425" marL="91425"/>
                </a:tc>
              </a:tr>
              <a:tr h="319475">
                <a:tc>
                  <a:txBody>
                    <a:bodyPr/>
                    <a:lstStyle/>
                    <a:p>
                      <a:pPr indent="0" lvl="0" marL="0" rtl="0" algn="l">
                        <a:spcBef>
                          <a:spcPts val="0"/>
                        </a:spcBef>
                        <a:spcAft>
                          <a:spcPts val="0"/>
                        </a:spcAft>
                        <a:buNone/>
                      </a:pPr>
                      <a:r>
                        <a:rPr lang="en" sz="600">
                          <a:solidFill>
                            <a:srgbClr val="188038"/>
                          </a:solidFill>
                          <a:latin typeface="Roboto Mono"/>
                          <a:ea typeface="Roboto Mono"/>
                          <a:cs typeface="Roboto Mono"/>
                          <a:sym typeface="Roboto Mono"/>
                        </a:rPr>
                        <a:t>wfdb</a:t>
                      </a:r>
                      <a:endParaRPr sz="6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900"/>
                        <a:t>Download and read PhysioNet ECG records + annotations</a:t>
                      </a:r>
                      <a:endParaRPr sz="900"/>
                    </a:p>
                  </a:txBody>
                  <a:tcPr marT="91425" marB="91425" marR="91425" marL="91425"/>
                </a:tc>
              </a:tr>
              <a:tr h="319475">
                <a:tc>
                  <a:txBody>
                    <a:bodyPr/>
                    <a:lstStyle/>
                    <a:p>
                      <a:pPr indent="0" lvl="0" marL="0" rtl="0" algn="l">
                        <a:spcBef>
                          <a:spcPts val="0"/>
                        </a:spcBef>
                        <a:spcAft>
                          <a:spcPts val="0"/>
                        </a:spcAft>
                        <a:buNone/>
                      </a:pPr>
                      <a:r>
                        <a:rPr lang="en" sz="600">
                          <a:solidFill>
                            <a:srgbClr val="188038"/>
                          </a:solidFill>
                          <a:latin typeface="Roboto Mono"/>
                          <a:ea typeface="Roboto Mono"/>
                          <a:cs typeface="Roboto Mono"/>
                          <a:sym typeface="Roboto Mono"/>
                        </a:rPr>
                        <a:t>scipy.signal</a:t>
                      </a:r>
                      <a:endParaRPr sz="6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900"/>
                        <a:t>Butterworth filter design + zero-phase filtering + resample</a:t>
                      </a:r>
                      <a:endParaRPr sz="900"/>
                    </a:p>
                  </a:txBody>
                  <a:tcPr marT="91425" marB="91425" marR="91425" marL="91425"/>
                </a:tc>
              </a:tr>
              <a:tr h="319475">
                <a:tc>
                  <a:txBody>
                    <a:bodyPr/>
                    <a:lstStyle/>
                    <a:p>
                      <a:pPr indent="0" lvl="0" marL="0" rtl="0" algn="l">
                        <a:spcBef>
                          <a:spcPts val="0"/>
                        </a:spcBef>
                        <a:spcAft>
                          <a:spcPts val="0"/>
                        </a:spcAft>
                        <a:buNone/>
                      </a:pPr>
                      <a:r>
                        <a:rPr lang="en" sz="600">
                          <a:solidFill>
                            <a:srgbClr val="188038"/>
                          </a:solidFill>
                          <a:latin typeface="Roboto Mono"/>
                          <a:ea typeface="Roboto Mono"/>
                          <a:cs typeface="Roboto Mono"/>
                          <a:sym typeface="Roboto Mono"/>
                        </a:rPr>
                        <a:t>numpy</a:t>
                      </a:r>
                      <a:endParaRPr sz="6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900"/>
                        <a:t>Array operations, FFT, statistics</a:t>
                      </a:r>
                      <a:endParaRPr sz="900"/>
                    </a:p>
                  </a:txBody>
                  <a:tcPr marT="91425" marB="91425" marR="91425" marL="91425"/>
                </a:tc>
              </a:tr>
              <a:tr h="319475">
                <a:tc>
                  <a:txBody>
                    <a:bodyPr/>
                    <a:lstStyle/>
                    <a:p>
                      <a:pPr indent="0" lvl="0" marL="0" rtl="0" algn="l">
                        <a:spcBef>
                          <a:spcPts val="0"/>
                        </a:spcBef>
                        <a:spcAft>
                          <a:spcPts val="0"/>
                        </a:spcAft>
                        <a:buNone/>
                      </a:pPr>
                      <a:r>
                        <a:rPr lang="en" sz="600">
                          <a:solidFill>
                            <a:srgbClr val="188038"/>
                          </a:solidFill>
                          <a:latin typeface="Roboto Mono"/>
                          <a:ea typeface="Roboto Mono"/>
                          <a:cs typeface="Roboto Mono"/>
                          <a:sym typeface="Roboto Mono"/>
                        </a:rPr>
                        <a:t>torch</a:t>
                      </a:r>
                      <a:r>
                        <a:rPr lang="en" sz="600"/>
                        <a:t> / </a:t>
                      </a:r>
                      <a:r>
                        <a:rPr lang="en" sz="600">
                          <a:solidFill>
                            <a:srgbClr val="188038"/>
                          </a:solidFill>
                          <a:latin typeface="Roboto Mono"/>
                          <a:ea typeface="Roboto Mono"/>
                          <a:cs typeface="Roboto Mono"/>
                          <a:sym typeface="Roboto Mono"/>
                        </a:rPr>
                        <a:t>torch.nn</a:t>
                      </a:r>
                      <a:endParaRPr sz="6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900"/>
                        <a:t>FRCNN model, training loop, loss, optimizer</a:t>
                      </a:r>
                      <a:endParaRPr sz="900"/>
                    </a:p>
                  </a:txBody>
                  <a:tcPr marT="91425" marB="91425" marR="91425" marL="91425"/>
                </a:tc>
              </a:tr>
              <a:tr h="319475">
                <a:tc>
                  <a:txBody>
                    <a:bodyPr/>
                    <a:lstStyle/>
                    <a:p>
                      <a:pPr indent="0" lvl="0" marL="0" rtl="0" algn="l">
                        <a:spcBef>
                          <a:spcPts val="0"/>
                        </a:spcBef>
                        <a:spcAft>
                          <a:spcPts val="0"/>
                        </a:spcAft>
                        <a:buNone/>
                      </a:pPr>
                      <a:r>
                        <a:rPr lang="en" sz="600">
                          <a:solidFill>
                            <a:srgbClr val="188038"/>
                          </a:solidFill>
                          <a:latin typeface="Roboto Mono"/>
                          <a:ea typeface="Roboto Mono"/>
                          <a:cs typeface="Roboto Mono"/>
                          <a:sym typeface="Roboto Mono"/>
                        </a:rPr>
                        <a:t>sklearn</a:t>
                      </a:r>
                      <a:endParaRPr sz="6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900"/>
                        <a:t>train_test_split, F1, confusion matrix, ROC/AUC</a:t>
                      </a:r>
                      <a:endParaRPr sz="900"/>
                    </a:p>
                  </a:txBody>
                  <a:tcPr marT="91425" marB="91425" marR="91425" marL="91425"/>
                </a:tc>
              </a:tr>
              <a:tr h="319475">
                <a:tc>
                  <a:txBody>
                    <a:bodyPr/>
                    <a:lstStyle/>
                    <a:p>
                      <a:pPr indent="0" lvl="0" marL="0" rtl="0" algn="l">
                        <a:spcBef>
                          <a:spcPts val="0"/>
                        </a:spcBef>
                        <a:spcAft>
                          <a:spcPts val="0"/>
                        </a:spcAft>
                        <a:buNone/>
                      </a:pPr>
                      <a:r>
                        <a:rPr lang="en" sz="600">
                          <a:solidFill>
                            <a:srgbClr val="188038"/>
                          </a:solidFill>
                          <a:latin typeface="Roboto Mono"/>
                          <a:ea typeface="Roboto Mono"/>
                          <a:cs typeface="Roboto Mono"/>
                          <a:sym typeface="Roboto Mono"/>
                        </a:rPr>
                        <a:t>matplotlib</a:t>
                      </a:r>
                      <a:r>
                        <a:rPr lang="en" sz="600"/>
                        <a:t> / </a:t>
                      </a:r>
                      <a:r>
                        <a:rPr lang="en" sz="600">
                          <a:solidFill>
                            <a:srgbClr val="188038"/>
                          </a:solidFill>
                          <a:latin typeface="Roboto Mono"/>
                          <a:ea typeface="Roboto Mono"/>
                          <a:cs typeface="Roboto Mono"/>
                          <a:sym typeface="Roboto Mono"/>
                        </a:rPr>
                        <a:t>seaborn</a:t>
                      </a:r>
                      <a:endParaRPr sz="6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900"/>
                        <a:t>All visualizations</a:t>
                      </a:r>
                      <a:endParaRPr sz="900"/>
                    </a:p>
                  </a:txBody>
                  <a:tcPr marT="91425" marB="91425" marR="91425" marL="9142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descr="class ECGFRCNN(nn.Module):&#10;    &quot;&quot;&quot;&#10;    Fusion Recurrent–Convolutional Neural Network.&#10;&#10;    Input  : [batch, 1, window_size]  (single-lead ECG window)&#10;    Output : [batch]                  (single logit — use with BCEWithLogitsLoss)&#10;&#10;    Padding = kernel_size // 2  →  same-length convolution for any odd kernel.&#10;    Global average pooling replaces the hardcoded flatten, so fc input size&#10;    is always 128 regardless of window_size.&#10;    &quot;&quot;&quot;&#10;&#10;    def __init__(&#10;        self,&#10;        lstm_hidden: int = 64,&#10;        cnn_filters_1: int = 64,&#10;        cnn_filters_2: int = 128,&#10;        kernel_size: int = 5,&#10;        dropout: float = 0.3,&#10;    ):&#10;        super().__init__()&#10;        pad = kernel_size // 2  # same-length convolution for any odd kernel&#10;&#10;        self.lstm  = nn.LSTM(input_size=1, hidden_size=lstm_hidden, batch_first=True)&#10;&#10;        self.conv1 = nn.Conv1d(lstm_hidden, cnn_filters_1, kernel_size, padding=pad)&#10;        self.bn1   = nn.BatchNorm1d(cnn_filters_1)&#10;        self.pool1 = nn.MaxPool1d(2)&#10;&#10;        self.conv2 = nn.Conv1d(cnn_filters_1, cnn_filters_2, kernel_size, padding=pad)&#10;        self.bn2   = nn.BatchNorm1d(cnn_filters_2)&#10;        self.pool2 = nn.MaxPool1d(2)&#10;&#10;        self.relu    = nn.ReLU()&#10;        self.dropout = nn.Dropout(dropout)&#10;        self.gap     = nn.AdaptiveAvgPool1d(1)   # global average pooling → [batch, 128, 1]&#10;        self.fc      = nn.Linear(cnn_filters_2, 1)&#10;&#10;    def forward(self, x):&#10;        # x: [batch, 1, length]&#10;        x, _ = self.lstm(x.permute(0, 2, 1))     # [batch, length, lstm_hidden]&#10;        x = x.permute(0, 2, 1)                    # [batch, lstm_hidden, length]&#10;&#10;        x = self.pool1(self.relu(self.bn1(self.conv1(x))))&#10;        x = self.pool2(self.relu(self.bn2(self.conv2(x))))&#10;&#10;        x = self.gap(x).squeeze(-1)               # [batch, 128]&#10;        x = self.dropout(x)&#10;        return self.fc(x).squeeze(-1)             # [batch]" id="241" name="Google Shape;241;p44"/>
          <p:cNvPicPr preferRelativeResize="0"/>
          <p:nvPr/>
        </p:nvPicPr>
        <p:blipFill rotWithShape="1">
          <a:blip r:embed="rId3">
            <a:alphaModFix/>
          </a:blip>
          <a:srcRect b="0" l="0" r="0" t="0"/>
          <a:stretch/>
        </p:blipFill>
        <p:spPr>
          <a:xfrm>
            <a:off x="20062" y="0"/>
            <a:ext cx="9210675" cy="5143500"/>
          </a:xfrm>
          <a:prstGeom prst="rect">
            <a:avLst/>
          </a:prstGeom>
          <a:noFill/>
          <a:ln>
            <a:noFill/>
          </a:ln>
        </p:spPr>
      </p:pic>
      <p:pic>
        <p:nvPicPr>
          <p:cNvPr id="242" name="Google Shape;242;p44"/>
          <p:cNvPicPr preferRelativeResize="0"/>
          <p:nvPr/>
        </p:nvPicPr>
        <p:blipFill>
          <a:blip r:embed="rId4">
            <a:alphaModFix/>
          </a:blip>
          <a:stretch>
            <a:fillRect/>
          </a:stretch>
        </p:blipFill>
        <p:spPr>
          <a:xfrm>
            <a:off x="1061150" y="1173525"/>
            <a:ext cx="7128501" cy="3404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descr="Beautify as image" id="247" name="Google Shape;247;p4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1" name="Shape 251"/>
        <p:cNvGrpSpPr/>
        <p:nvPr/>
      </p:nvGrpSpPr>
      <p:grpSpPr>
        <a:xfrm>
          <a:off x="0" y="0"/>
          <a:ext cx="0" cy="0"/>
          <a:chOff x="0" y="0"/>
          <a:chExt cx="0" cy="0"/>
        </a:xfrm>
      </p:grpSpPr>
      <p:sp>
        <p:nvSpPr>
          <p:cNvPr id="252" name="Google Shape;252;p46"/>
          <p:cNvSpPr txBox="1"/>
          <p:nvPr/>
        </p:nvSpPr>
        <p:spPr>
          <a:xfrm>
            <a:off x="571500" y="381000"/>
            <a:ext cx="8001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330">
                <a:solidFill>
                  <a:srgbClr val="1F2937"/>
                </a:solidFill>
                <a:latin typeface="Inter ExtraBold"/>
                <a:ea typeface="Inter ExtraBold"/>
                <a:cs typeface="Inter ExtraBold"/>
                <a:sym typeface="Inter ExtraBold"/>
              </a:rPr>
              <a:t>Solving the Core Problem</a:t>
            </a:r>
            <a:endParaRPr b="0" sz="3330">
              <a:solidFill>
                <a:srgbClr val="1F2937"/>
              </a:solidFill>
              <a:latin typeface="Inter ExtraBold"/>
              <a:ea typeface="Inter ExtraBold"/>
              <a:cs typeface="Inter ExtraBold"/>
              <a:sym typeface="Inter ExtraBold"/>
            </a:endParaRPr>
          </a:p>
          <a:p>
            <a:pPr indent="0" lvl="0" marL="0" rtl="0" algn="l">
              <a:spcBef>
                <a:spcPts val="300"/>
              </a:spcBef>
              <a:spcAft>
                <a:spcPts val="0"/>
              </a:spcAft>
              <a:buNone/>
            </a:pPr>
            <a:r>
              <a:rPr b="0" lang="en" sz="1295">
                <a:solidFill>
                  <a:srgbClr val="6B7280"/>
                </a:solidFill>
                <a:latin typeface="Inter"/>
                <a:ea typeface="Inter"/>
                <a:cs typeface="Inter"/>
                <a:sym typeface="Inter"/>
              </a:rPr>
              <a:t>Overcoming the scarcity of real fault data in ECG analysis</a:t>
            </a:r>
            <a:endParaRPr b="0" sz="1295">
              <a:solidFill>
                <a:srgbClr val="6B7280"/>
              </a:solidFill>
              <a:latin typeface="Inter"/>
              <a:ea typeface="Inter"/>
              <a:cs typeface="Inter"/>
              <a:sym typeface="Inter"/>
            </a:endParaRPr>
          </a:p>
        </p:txBody>
      </p:sp>
      <p:grpSp>
        <p:nvGrpSpPr>
          <p:cNvPr id="253" name="Google Shape;253;p46"/>
          <p:cNvGrpSpPr/>
          <p:nvPr/>
        </p:nvGrpSpPr>
        <p:grpSpPr>
          <a:xfrm>
            <a:off x="571500" y="1333500"/>
            <a:ext cx="8001000" cy="952500"/>
            <a:chOff x="571500" y="1333500"/>
            <a:chExt cx="8001000" cy="952500"/>
          </a:xfrm>
        </p:grpSpPr>
        <p:sp>
          <p:nvSpPr>
            <p:cNvPr id="254" name="Google Shape;254;p46"/>
            <p:cNvSpPr/>
            <p:nvPr/>
          </p:nvSpPr>
          <p:spPr>
            <a:xfrm>
              <a:off x="571500" y="1333500"/>
              <a:ext cx="8001000" cy="952500"/>
            </a:xfrm>
            <a:prstGeom prst="roundRect">
              <a:avLst>
                <a:gd fmla="val 12000"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46"/>
            <p:cNvSpPr txBox="1"/>
            <p:nvPr/>
          </p:nvSpPr>
          <p:spPr>
            <a:xfrm>
              <a:off x="762000" y="1333500"/>
              <a:ext cx="76200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B91C1C"/>
                  </a:solidFill>
                  <a:latin typeface="Inter"/>
                  <a:ea typeface="Inter"/>
                  <a:cs typeface="Inter"/>
                  <a:sym typeface="Inter"/>
                </a:rPr>
                <a:t>"Very few real fault samples exist."</a:t>
              </a:r>
              <a:endParaRPr b="1" sz="1800">
                <a:solidFill>
                  <a:srgbClr val="B91C1C"/>
                </a:solidFill>
                <a:latin typeface="Inter"/>
                <a:ea typeface="Inter"/>
                <a:cs typeface="Inter"/>
                <a:sym typeface="Inter"/>
              </a:endParaRPr>
            </a:p>
          </p:txBody>
        </p:sp>
      </p:grpSp>
      <p:sp>
        <p:nvSpPr>
          <p:cNvPr id="256" name="Google Shape;256;p46"/>
          <p:cNvSpPr txBox="1"/>
          <p:nvPr/>
        </p:nvSpPr>
        <p:spPr>
          <a:xfrm>
            <a:off x="571500" y="2476500"/>
            <a:ext cx="800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374151"/>
                </a:solidFill>
                <a:latin typeface="Inter SemiBold"/>
                <a:ea typeface="Inter SemiBold"/>
                <a:cs typeface="Inter SemiBold"/>
                <a:sym typeface="Inter SemiBold"/>
              </a:rPr>
              <a:t>The Alternative Approach</a:t>
            </a:r>
            <a:endParaRPr b="0" sz="1400">
              <a:solidFill>
                <a:srgbClr val="374151"/>
              </a:solidFill>
              <a:latin typeface="Inter SemiBold"/>
              <a:ea typeface="Inter SemiBold"/>
              <a:cs typeface="Inter SemiBold"/>
              <a:sym typeface="Inter SemiBold"/>
            </a:endParaRPr>
          </a:p>
        </p:txBody>
      </p:sp>
      <p:grpSp>
        <p:nvGrpSpPr>
          <p:cNvPr id="257" name="Google Shape;257;p46"/>
          <p:cNvGrpSpPr/>
          <p:nvPr/>
        </p:nvGrpSpPr>
        <p:grpSpPr>
          <a:xfrm>
            <a:off x="571500" y="2952750"/>
            <a:ext cx="2476500" cy="1714500"/>
            <a:chOff x="571500" y="2952750"/>
            <a:chExt cx="2476500" cy="1714500"/>
          </a:xfrm>
        </p:grpSpPr>
        <p:sp>
          <p:nvSpPr>
            <p:cNvPr id="258" name="Google Shape;258;p46"/>
            <p:cNvSpPr/>
            <p:nvPr/>
          </p:nvSpPr>
          <p:spPr>
            <a:xfrm>
              <a:off x="571500" y="2952750"/>
              <a:ext cx="2476500" cy="1714500"/>
            </a:xfrm>
            <a:prstGeom prst="roundRect">
              <a:avLst>
                <a:gd fmla="val 6666"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 name="Google Shape;259;p46"/>
            <p:cNvSpPr txBox="1"/>
            <p:nvPr/>
          </p:nvSpPr>
          <p:spPr>
            <a:xfrm>
              <a:off x="571500" y="2952750"/>
              <a:ext cx="2476500" cy="17145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lang="en" sz="3200">
                  <a:solidFill>
                    <a:srgbClr val="3B82F6"/>
                  </a:solidFill>
                  <a:latin typeface="Material Icons"/>
                  <a:ea typeface="Material Icons"/>
                  <a:cs typeface="Material Icons"/>
                  <a:sym typeface="Material Icons"/>
                </a:rPr>
                <a:t>fitness_center</a:t>
              </a:r>
              <a:endParaRPr sz="3200">
                <a:solidFill>
                  <a:srgbClr val="3B82F6"/>
                </a:solidFill>
                <a:latin typeface="Material Icons"/>
                <a:ea typeface="Material Icons"/>
                <a:cs typeface="Material Icons"/>
                <a:sym typeface="Material Icons"/>
              </a:endParaRPr>
            </a:p>
            <a:p>
              <a:pPr indent="0" lvl="0" marL="0" rtl="0" algn="ctr">
                <a:spcBef>
                  <a:spcPts val="900"/>
                </a:spcBef>
                <a:spcAft>
                  <a:spcPts val="0"/>
                </a:spcAft>
                <a:buNone/>
              </a:pPr>
              <a:r>
                <a:rPr b="1" lang="en" sz="1600">
                  <a:solidFill>
                    <a:srgbClr val="111827"/>
                  </a:solidFill>
                  <a:latin typeface="Inter"/>
                  <a:ea typeface="Inter"/>
                  <a:cs typeface="Inter"/>
                  <a:sym typeface="Inter"/>
                </a:rPr>
                <a:t>Train</a:t>
              </a:r>
              <a:endParaRPr b="1" sz="1600">
                <a:solidFill>
                  <a:srgbClr val="111827"/>
                </a:solidFill>
                <a:latin typeface="Inter"/>
                <a:ea typeface="Inter"/>
                <a:cs typeface="Inter"/>
                <a:sym typeface="Inter"/>
              </a:endParaRPr>
            </a:p>
            <a:p>
              <a:pPr indent="0" lvl="0" marL="0" rtl="0" algn="ctr">
                <a:spcBef>
                  <a:spcPts val="600"/>
                </a:spcBef>
                <a:spcAft>
                  <a:spcPts val="0"/>
                </a:spcAft>
                <a:buNone/>
              </a:pPr>
              <a:r>
                <a:rPr lang="en" sz="1100">
                  <a:solidFill>
                    <a:srgbClr val="4B5563"/>
                  </a:solidFill>
                  <a:latin typeface="Inter"/>
                  <a:ea typeface="Inter"/>
                  <a:cs typeface="Inter"/>
                  <a:sym typeface="Inter"/>
                </a:rPr>
                <a:t>Utilize high-volume, readily available </a:t>
              </a:r>
              <a:r>
                <a:rPr b="1" lang="en" sz="1100">
                  <a:solidFill>
                    <a:srgbClr val="4B5563"/>
                  </a:solidFill>
                  <a:latin typeface="Inter"/>
                  <a:ea typeface="Inter"/>
                  <a:cs typeface="Inter"/>
                  <a:sym typeface="Inter"/>
                </a:rPr>
                <a:t>normal ECGs</a:t>
              </a:r>
              <a:r>
                <a:rPr lang="en" sz="1100">
                  <a:solidFill>
                    <a:srgbClr val="4B5563"/>
                  </a:solidFill>
                  <a:latin typeface="Inter"/>
                  <a:ea typeface="Inter"/>
                  <a:cs typeface="Inter"/>
                  <a:sym typeface="Inter"/>
                </a:rPr>
                <a:t>.</a:t>
              </a:r>
              <a:endParaRPr sz="1100">
                <a:solidFill>
                  <a:srgbClr val="4B5563"/>
                </a:solidFill>
                <a:latin typeface="Inter"/>
                <a:ea typeface="Inter"/>
                <a:cs typeface="Inter"/>
                <a:sym typeface="Inter"/>
              </a:endParaRPr>
            </a:p>
          </p:txBody>
        </p:sp>
      </p:grpSp>
      <p:grpSp>
        <p:nvGrpSpPr>
          <p:cNvPr id="260" name="Google Shape;260;p46"/>
          <p:cNvGrpSpPr/>
          <p:nvPr/>
        </p:nvGrpSpPr>
        <p:grpSpPr>
          <a:xfrm>
            <a:off x="3333750" y="2952750"/>
            <a:ext cx="2476500" cy="1714500"/>
            <a:chOff x="3333750" y="2952750"/>
            <a:chExt cx="2476500" cy="1714500"/>
          </a:xfrm>
        </p:grpSpPr>
        <p:sp>
          <p:nvSpPr>
            <p:cNvPr id="261" name="Google Shape;261;p46"/>
            <p:cNvSpPr/>
            <p:nvPr/>
          </p:nvSpPr>
          <p:spPr>
            <a:xfrm>
              <a:off x="3333750" y="2952750"/>
              <a:ext cx="2476500" cy="1714500"/>
            </a:xfrm>
            <a:prstGeom prst="roundRect">
              <a:avLst>
                <a:gd fmla="val 6666"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46"/>
            <p:cNvSpPr txBox="1"/>
            <p:nvPr/>
          </p:nvSpPr>
          <p:spPr>
            <a:xfrm>
              <a:off x="3333750" y="2952750"/>
              <a:ext cx="2476500" cy="17145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lang="en" sz="2960">
                  <a:solidFill>
                    <a:srgbClr val="10B981"/>
                  </a:solidFill>
                  <a:latin typeface="Material Icons"/>
                  <a:ea typeface="Material Icons"/>
                  <a:cs typeface="Material Icons"/>
                  <a:sym typeface="Material Icons"/>
                </a:rPr>
                <a:t>auto_awesome</a:t>
              </a:r>
              <a:endParaRPr sz="2960">
                <a:solidFill>
                  <a:srgbClr val="10B981"/>
                </a:solidFill>
                <a:latin typeface="Material Icons"/>
                <a:ea typeface="Material Icons"/>
                <a:cs typeface="Material Icons"/>
                <a:sym typeface="Material Icons"/>
              </a:endParaRPr>
            </a:p>
            <a:p>
              <a:pPr indent="0" lvl="0" marL="0" rtl="0" algn="ctr">
                <a:spcBef>
                  <a:spcPts val="900"/>
                </a:spcBef>
                <a:spcAft>
                  <a:spcPts val="0"/>
                </a:spcAft>
                <a:buNone/>
              </a:pPr>
              <a:r>
                <a:rPr b="1" lang="en" sz="1480">
                  <a:solidFill>
                    <a:srgbClr val="111827"/>
                  </a:solidFill>
                  <a:latin typeface="Inter"/>
                  <a:ea typeface="Inter"/>
                  <a:cs typeface="Inter"/>
                  <a:sym typeface="Inter"/>
                </a:rPr>
                <a:t>Generate</a:t>
              </a:r>
              <a:endParaRPr b="1" sz="1480">
                <a:solidFill>
                  <a:srgbClr val="111827"/>
                </a:solidFill>
                <a:latin typeface="Inter"/>
                <a:ea typeface="Inter"/>
                <a:cs typeface="Inter"/>
                <a:sym typeface="Inter"/>
              </a:endParaRPr>
            </a:p>
            <a:p>
              <a:pPr indent="0" lvl="0" marL="0" rtl="0" algn="ctr">
                <a:spcBef>
                  <a:spcPts val="600"/>
                </a:spcBef>
                <a:spcAft>
                  <a:spcPts val="0"/>
                </a:spcAft>
                <a:buNone/>
              </a:pPr>
              <a:r>
                <a:rPr lang="en" sz="1018">
                  <a:solidFill>
                    <a:srgbClr val="4B5563"/>
                  </a:solidFill>
                  <a:latin typeface="Inter"/>
                  <a:ea typeface="Inter"/>
                  <a:cs typeface="Inter"/>
                  <a:sym typeface="Inter"/>
                </a:rPr>
                <a:t>Synthesize </a:t>
              </a:r>
              <a:r>
                <a:rPr b="1" lang="en" sz="1018">
                  <a:solidFill>
                    <a:srgbClr val="4B5563"/>
                  </a:solidFill>
                  <a:latin typeface="Inter"/>
                  <a:ea typeface="Inter"/>
                  <a:cs typeface="Inter"/>
                  <a:sym typeface="Inter"/>
                </a:rPr>
                <a:t>fake abnormal beats</a:t>
              </a:r>
              <a:r>
                <a:rPr lang="en" sz="1018">
                  <a:solidFill>
                    <a:srgbClr val="4B5563"/>
                  </a:solidFill>
                  <a:latin typeface="Inter"/>
                  <a:ea typeface="Inter"/>
                  <a:cs typeface="Inter"/>
                  <a:sym typeface="Inter"/>
                </a:rPr>
                <a:t> through data augmentation.</a:t>
              </a:r>
              <a:endParaRPr sz="1018">
                <a:solidFill>
                  <a:srgbClr val="4B5563"/>
                </a:solidFill>
                <a:latin typeface="Inter"/>
                <a:ea typeface="Inter"/>
                <a:cs typeface="Inter"/>
                <a:sym typeface="Inter"/>
              </a:endParaRPr>
            </a:p>
          </p:txBody>
        </p:sp>
      </p:grpSp>
      <p:grpSp>
        <p:nvGrpSpPr>
          <p:cNvPr id="263" name="Google Shape;263;p46"/>
          <p:cNvGrpSpPr/>
          <p:nvPr/>
        </p:nvGrpSpPr>
        <p:grpSpPr>
          <a:xfrm>
            <a:off x="6096000" y="2952750"/>
            <a:ext cx="2476500" cy="1714500"/>
            <a:chOff x="6096000" y="2952750"/>
            <a:chExt cx="2476500" cy="1714500"/>
          </a:xfrm>
        </p:grpSpPr>
        <p:sp>
          <p:nvSpPr>
            <p:cNvPr id="264" name="Google Shape;264;p46"/>
            <p:cNvSpPr/>
            <p:nvPr/>
          </p:nvSpPr>
          <p:spPr>
            <a:xfrm>
              <a:off x="6096000" y="2952750"/>
              <a:ext cx="2476500" cy="1714500"/>
            </a:xfrm>
            <a:prstGeom prst="roundRect">
              <a:avLst>
                <a:gd fmla="val 6666"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46"/>
            <p:cNvSpPr txBox="1"/>
            <p:nvPr/>
          </p:nvSpPr>
          <p:spPr>
            <a:xfrm>
              <a:off x="6096000" y="2952750"/>
              <a:ext cx="2476500" cy="17145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lang="en" sz="3200">
                  <a:solidFill>
                    <a:srgbClr val="F59E0B"/>
                  </a:solidFill>
                  <a:latin typeface="Material Icons"/>
                  <a:ea typeface="Material Icons"/>
                  <a:cs typeface="Material Icons"/>
                  <a:sym typeface="Material Icons"/>
                </a:rPr>
                <a:t>insights</a:t>
              </a:r>
              <a:endParaRPr sz="3200">
                <a:solidFill>
                  <a:srgbClr val="F59E0B"/>
                </a:solidFill>
                <a:latin typeface="Material Icons"/>
                <a:ea typeface="Material Icons"/>
                <a:cs typeface="Material Icons"/>
                <a:sym typeface="Material Icons"/>
              </a:endParaRPr>
            </a:p>
            <a:p>
              <a:pPr indent="0" lvl="0" marL="0" rtl="0" algn="ctr">
                <a:spcBef>
                  <a:spcPts val="900"/>
                </a:spcBef>
                <a:spcAft>
                  <a:spcPts val="0"/>
                </a:spcAft>
                <a:buNone/>
              </a:pPr>
              <a:r>
                <a:rPr b="1" lang="en" sz="1600">
                  <a:solidFill>
                    <a:srgbClr val="111827"/>
                  </a:solidFill>
                  <a:latin typeface="Inter"/>
                  <a:ea typeface="Inter"/>
                  <a:cs typeface="Inter"/>
                  <a:sym typeface="Inter"/>
                </a:rPr>
                <a:t>Learn</a:t>
              </a:r>
              <a:endParaRPr b="1" sz="1600">
                <a:solidFill>
                  <a:srgbClr val="111827"/>
                </a:solidFill>
                <a:latin typeface="Inter"/>
                <a:ea typeface="Inter"/>
                <a:cs typeface="Inter"/>
                <a:sym typeface="Inter"/>
              </a:endParaRPr>
            </a:p>
            <a:p>
              <a:pPr indent="0" lvl="0" marL="0" rtl="0" algn="ctr">
                <a:spcBef>
                  <a:spcPts val="600"/>
                </a:spcBef>
                <a:spcAft>
                  <a:spcPts val="0"/>
                </a:spcAft>
                <a:buNone/>
              </a:pPr>
              <a:r>
                <a:rPr lang="en" sz="1100">
                  <a:solidFill>
                    <a:srgbClr val="4B5563"/>
                  </a:solidFill>
                  <a:latin typeface="Inter"/>
                  <a:ea typeface="Inter"/>
                  <a:cs typeface="Inter"/>
                  <a:sym typeface="Inter"/>
                </a:rPr>
                <a:t>Define the </a:t>
              </a:r>
              <a:r>
                <a:rPr b="1" lang="en" sz="1100">
                  <a:solidFill>
                    <a:srgbClr val="4B5563"/>
                  </a:solidFill>
                  <a:latin typeface="Inter"/>
                  <a:ea typeface="Inter"/>
                  <a:cs typeface="Inter"/>
                  <a:sym typeface="Inter"/>
                </a:rPr>
                <a:t>boundary</a:t>
              </a:r>
              <a:r>
                <a:rPr lang="en" sz="1100">
                  <a:solidFill>
                    <a:srgbClr val="4B5563"/>
                  </a:solidFill>
                  <a:latin typeface="Inter"/>
                  <a:ea typeface="Inter"/>
                  <a:cs typeface="Inter"/>
                  <a:sym typeface="Inter"/>
                </a:rPr>
                <a:t> between healthy and unhealthy states.</a:t>
              </a:r>
              <a:endParaRPr sz="1100">
                <a:solidFill>
                  <a:srgbClr val="4B5563"/>
                </a:solidFill>
                <a:latin typeface="Inter"/>
                <a:ea typeface="Inter"/>
                <a:cs typeface="Inter"/>
                <a:sym typeface="Inte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47"/>
          <p:cNvPicPr preferRelativeResize="0"/>
          <p:nvPr/>
        </p:nvPicPr>
        <p:blipFill>
          <a:blip r:embed="rId3">
            <a:alphaModFix/>
          </a:blip>
          <a:stretch>
            <a:fillRect/>
          </a:stretch>
        </p:blipFill>
        <p:spPr>
          <a:xfrm>
            <a:off x="152400" y="1414163"/>
            <a:ext cx="8839203" cy="2315171"/>
          </a:xfrm>
          <a:prstGeom prst="rect">
            <a:avLst/>
          </a:prstGeom>
          <a:noFill/>
          <a:ln>
            <a:noFill/>
          </a:ln>
        </p:spPr>
      </p:pic>
      <p:sp>
        <p:nvSpPr>
          <p:cNvPr id="271" name="Google Shape;271;p47"/>
          <p:cNvSpPr txBox="1"/>
          <p:nvPr/>
        </p:nvSpPr>
        <p:spPr>
          <a:xfrm>
            <a:off x="566250" y="385375"/>
            <a:ext cx="453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RAW ECG Data </a:t>
            </a:r>
            <a:endParaRPr sz="180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48"/>
          <p:cNvPicPr preferRelativeResize="0"/>
          <p:nvPr/>
        </p:nvPicPr>
        <p:blipFill>
          <a:blip r:embed="rId3">
            <a:alphaModFix/>
          </a:blip>
          <a:stretch>
            <a:fillRect/>
          </a:stretch>
        </p:blipFill>
        <p:spPr>
          <a:xfrm>
            <a:off x="62925" y="401398"/>
            <a:ext cx="9144001" cy="441540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49"/>
          <p:cNvPicPr preferRelativeResize="0"/>
          <p:nvPr/>
        </p:nvPicPr>
        <p:blipFill>
          <a:blip r:embed="rId3">
            <a:alphaModFix/>
          </a:blip>
          <a:stretch>
            <a:fillRect/>
          </a:stretch>
        </p:blipFill>
        <p:spPr>
          <a:xfrm>
            <a:off x="254625" y="695075"/>
            <a:ext cx="8839203" cy="3502438"/>
          </a:xfrm>
          <a:prstGeom prst="rect">
            <a:avLst/>
          </a:prstGeom>
          <a:noFill/>
          <a:ln>
            <a:noFill/>
          </a:ln>
        </p:spPr>
      </p:pic>
      <p:sp>
        <p:nvSpPr>
          <p:cNvPr id="282" name="Google Shape;282;p49"/>
          <p:cNvSpPr txBox="1"/>
          <p:nvPr/>
        </p:nvSpPr>
        <p:spPr>
          <a:xfrm>
            <a:off x="385375" y="180900"/>
            <a:ext cx="594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Frequency Perturbed Samples</a:t>
            </a:r>
            <a:endParaRPr sz="18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50"/>
          <p:cNvPicPr preferRelativeResize="0"/>
          <p:nvPr/>
        </p:nvPicPr>
        <p:blipFill>
          <a:blip r:embed="rId3">
            <a:alphaModFix/>
          </a:blip>
          <a:stretch>
            <a:fillRect/>
          </a:stretch>
        </p:blipFill>
        <p:spPr>
          <a:xfrm>
            <a:off x="223175" y="1222000"/>
            <a:ext cx="8839198" cy="289931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51"/>
          <p:cNvPicPr preferRelativeResize="0"/>
          <p:nvPr/>
        </p:nvPicPr>
        <p:blipFill>
          <a:blip r:embed="rId3">
            <a:alphaModFix/>
          </a:blip>
          <a:stretch>
            <a:fillRect/>
          </a:stretch>
        </p:blipFill>
        <p:spPr>
          <a:xfrm>
            <a:off x="152400" y="1025400"/>
            <a:ext cx="8839203" cy="3502438"/>
          </a:xfrm>
          <a:prstGeom prst="rect">
            <a:avLst/>
          </a:prstGeom>
          <a:noFill/>
          <a:ln>
            <a:noFill/>
          </a:ln>
        </p:spPr>
      </p:pic>
      <p:sp>
        <p:nvSpPr>
          <p:cNvPr id="293" name="Google Shape;293;p51"/>
          <p:cNvSpPr txBox="1"/>
          <p:nvPr/>
        </p:nvSpPr>
        <p:spPr>
          <a:xfrm>
            <a:off x="385375" y="180900"/>
            <a:ext cx="594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Amplitude Distorted</a:t>
            </a:r>
            <a:r>
              <a:rPr lang="en" sz="1800">
                <a:solidFill>
                  <a:schemeClr val="dk2"/>
                </a:solidFill>
              </a:rPr>
              <a:t> Samples</a:t>
            </a:r>
            <a:endParaRPr sz="1800">
              <a:solidFill>
                <a:schemeClr val="dk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52"/>
          <p:cNvPicPr preferRelativeResize="0"/>
          <p:nvPr/>
        </p:nvPicPr>
        <p:blipFill>
          <a:blip r:embed="rId3">
            <a:alphaModFix/>
          </a:blip>
          <a:stretch>
            <a:fillRect/>
          </a:stretch>
        </p:blipFill>
        <p:spPr>
          <a:xfrm>
            <a:off x="191725" y="1253450"/>
            <a:ext cx="8839198" cy="289931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53"/>
          <p:cNvPicPr preferRelativeResize="0"/>
          <p:nvPr/>
        </p:nvPicPr>
        <p:blipFill>
          <a:blip r:embed="rId3">
            <a:alphaModFix/>
          </a:blip>
          <a:stretch>
            <a:fillRect/>
          </a:stretch>
        </p:blipFill>
        <p:spPr>
          <a:xfrm>
            <a:off x="246775" y="986050"/>
            <a:ext cx="8844801" cy="35046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54"/>
          <p:cNvPicPr preferRelativeResize="0"/>
          <p:nvPr/>
        </p:nvPicPr>
        <p:blipFill>
          <a:blip r:embed="rId3">
            <a:alphaModFix/>
          </a:blip>
          <a:stretch>
            <a:fillRect/>
          </a:stretch>
        </p:blipFill>
        <p:spPr>
          <a:xfrm>
            <a:off x="73775" y="1122088"/>
            <a:ext cx="8839198" cy="289931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55"/>
          <p:cNvPicPr preferRelativeResize="0"/>
          <p:nvPr/>
        </p:nvPicPr>
        <p:blipFill>
          <a:blip r:embed="rId3">
            <a:alphaModFix/>
          </a:blip>
          <a:stretch>
            <a:fillRect/>
          </a:stretch>
        </p:blipFill>
        <p:spPr>
          <a:xfrm>
            <a:off x="152400" y="1214125"/>
            <a:ext cx="8839203" cy="3502438"/>
          </a:xfrm>
          <a:prstGeom prst="rect">
            <a:avLst/>
          </a:prstGeom>
          <a:noFill/>
          <a:ln>
            <a:noFill/>
          </a:ln>
        </p:spPr>
      </p:pic>
      <p:sp>
        <p:nvSpPr>
          <p:cNvPr id="314" name="Google Shape;314;p55"/>
          <p:cNvSpPr txBox="1"/>
          <p:nvPr/>
        </p:nvSpPr>
        <p:spPr>
          <a:xfrm>
            <a:off x="385375" y="180900"/>
            <a:ext cx="594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Training data for negative sample</a:t>
            </a:r>
            <a:endParaRPr sz="1800">
              <a:solidFill>
                <a:schemeClr val="dk2"/>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56"/>
          <p:cNvPicPr preferRelativeResize="0"/>
          <p:nvPr/>
        </p:nvPicPr>
        <p:blipFill>
          <a:blip r:embed="rId3">
            <a:alphaModFix/>
          </a:blip>
          <a:stretch>
            <a:fillRect/>
          </a:stretch>
        </p:blipFill>
        <p:spPr>
          <a:xfrm>
            <a:off x="506300" y="0"/>
            <a:ext cx="7973689" cy="514350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57"/>
          <p:cNvPicPr preferRelativeResize="0"/>
          <p:nvPr/>
        </p:nvPicPr>
        <p:blipFill>
          <a:blip r:embed="rId3">
            <a:alphaModFix/>
          </a:blip>
          <a:stretch>
            <a:fillRect/>
          </a:stretch>
        </p:blipFill>
        <p:spPr>
          <a:xfrm>
            <a:off x="152400" y="1402875"/>
            <a:ext cx="8839200" cy="3118220"/>
          </a:xfrm>
          <a:prstGeom prst="rect">
            <a:avLst/>
          </a:prstGeom>
          <a:noFill/>
          <a:ln>
            <a:noFill/>
          </a:ln>
        </p:spPr>
      </p:pic>
      <p:sp>
        <p:nvSpPr>
          <p:cNvPr id="325" name="Google Shape;325;p57"/>
          <p:cNvSpPr txBox="1"/>
          <p:nvPr/>
        </p:nvSpPr>
        <p:spPr>
          <a:xfrm>
            <a:off x="314575" y="228075"/>
            <a:ext cx="7550100" cy="9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Training curves</a:t>
            </a:r>
            <a:endParaRPr sz="1800">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58"/>
          <p:cNvPicPr preferRelativeResize="0"/>
          <p:nvPr/>
        </p:nvPicPr>
        <p:blipFill>
          <a:blip r:embed="rId3">
            <a:alphaModFix/>
          </a:blip>
          <a:stretch>
            <a:fillRect/>
          </a:stretch>
        </p:blipFill>
        <p:spPr>
          <a:xfrm>
            <a:off x="152400" y="152400"/>
            <a:ext cx="6451600" cy="48387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59"/>
          <p:cNvPicPr preferRelativeResize="0"/>
          <p:nvPr/>
        </p:nvPicPr>
        <p:blipFill>
          <a:blip r:embed="rId3">
            <a:alphaModFix/>
          </a:blip>
          <a:stretch>
            <a:fillRect/>
          </a:stretch>
        </p:blipFill>
        <p:spPr>
          <a:xfrm>
            <a:off x="1630950" y="152400"/>
            <a:ext cx="4838701" cy="483870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60"/>
          <p:cNvPicPr preferRelativeResize="0"/>
          <p:nvPr/>
        </p:nvPicPr>
        <p:blipFill>
          <a:blip r:embed="rId3">
            <a:alphaModFix/>
          </a:blip>
          <a:stretch>
            <a:fillRect/>
          </a:stretch>
        </p:blipFill>
        <p:spPr>
          <a:xfrm>
            <a:off x="1368450" y="81575"/>
            <a:ext cx="6176325" cy="2985650"/>
          </a:xfrm>
          <a:prstGeom prst="rect">
            <a:avLst/>
          </a:prstGeom>
          <a:noFill/>
          <a:ln>
            <a:noFill/>
          </a:ln>
        </p:spPr>
      </p:pic>
      <p:sp>
        <p:nvSpPr>
          <p:cNvPr id="341" name="Google Shape;341;p60"/>
          <p:cNvSpPr txBox="1"/>
          <p:nvPr/>
        </p:nvSpPr>
        <p:spPr>
          <a:xfrm>
            <a:off x="110350" y="2992150"/>
            <a:ext cx="40995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Anomalies</a:t>
            </a:r>
            <a:endParaRPr b="1" sz="1100">
              <a:solidFill>
                <a:schemeClr val="dk1"/>
              </a:solidFill>
            </a:endParaRPr>
          </a:p>
          <a:p>
            <a:pPr indent="0" lvl="0" marL="0" rtl="0" algn="l">
              <a:spcBef>
                <a:spcPts val="0"/>
              </a:spcBef>
              <a:spcAft>
                <a:spcPts val="0"/>
              </a:spcAft>
              <a:buNone/>
            </a:pPr>
            <a:r>
              <a:rPr b="1" lang="en" sz="1100">
                <a:solidFill>
                  <a:schemeClr val="dk1"/>
                </a:solidFill>
              </a:rPr>
              <a:t>Recall: 0.97 (97%)</a:t>
            </a:r>
            <a:r>
              <a:rPr lang="en" sz="1100">
                <a:solidFill>
                  <a:schemeClr val="dk1"/>
                </a:solidFill>
              </a:rPr>
              <a:t> — Out of all 1,453 real anomalies in the test set, the model successfully caught 97% of them It only missed a tiny fraction.It means if something is actually broken, the model </a:t>
            </a:r>
            <a:r>
              <a:rPr b="1" lang="en" sz="1100">
                <a:solidFill>
                  <a:schemeClr val="dk1"/>
                </a:solidFill>
              </a:rPr>
              <a:t>will</a:t>
            </a:r>
            <a:r>
              <a:rPr lang="en" sz="1100">
                <a:solidFill>
                  <a:schemeClr val="dk1"/>
                </a:solidFill>
              </a:rPr>
              <a:t> catch it.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sz="1100">
                <a:solidFill>
                  <a:schemeClr val="dk1"/>
                </a:solidFill>
              </a:rPr>
              <a:t>Precision: 0.46 (46%)</a:t>
            </a:r>
            <a:r>
              <a:rPr lang="en" sz="1100">
                <a:solidFill>
                  <a:schemeClr val="dk1"/>
                </a:solidFill>
              </a:rPr>
              <a:t> — However, because the model is trying </a:t>
            </a:r>
            <a:r>
              <a:rPr i="1" lang="en" sz="1100">
                <a:solidFill>
                  <a:schemeClr val="dk1"/>
                </a:solidFill>
              </a:rPr>
              <a:t>so hard</a:t>
            </a:r>
            <a:r>
              <a:rPr lang="en" sz="1100">
                <a:solidFill>
                  <a:schemeClr val="dk1"/>
                </a:solidFill>
              </a:rPr>
              <a:t> not to miss any anomalies, it is incredibly jumpy. When the alarm bell rings, there is only a 46% chance it’s a real anomaly. </a:t>
            </a:r>
            <a:endParaRPr sz="1100">
              <a:solidFill>
                <a:schemeClr val="dk1"/>
              </a:solidFill>
            </a:endParaRPr>
          </a:p>
          <a:p>
            <a:pPr indent="0" lvl="0" marL="0" rtl="0" algn="l">
              <a:spcBef>
                <a:spcPts val="0"/>
              </a:spcBef>
              <a:spcAft>
                <a:spcPts val="0"/>
              </a:spcAft>
              <a:buNone/>
            </a:pPr>
            <a:r>
              <a:rPr lang="en" sz="1100">
                <a:solidFill>
                  <a:schemeClr val="dk1"/>
                </a:solidFill>
              </a:rPr>
              <a:t>The other 54% of the time, it’s just a false alarm.</a:t>
            </a:r>
            <a:endParaRPr sz="1100">
              <a:solidFill>
                <a:schemeClr val="dk1"/>
              </a:solidFill>
            </a:endParaRPr>
          </a:p>
        </p:txBody>
      </p:sp>
      <p:sp>
        <p:nvSpPr>
          <p:cNvPr id="342" name="Google Shape;342;p60"/>
          <p:cNvSpPr txBox="1"/>
          <p:nvPr/>
        </p:nvSpPr>
        <p:spPr>
          <a:xfrm>
            <a:off x="4941275" y="2992150"/>
            <a:ext cx="40995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Normal</a:t>
            </a:r>
            <a:endParaRPr b="1" sz="1100">
              <a:solidFill>
                <a:schemeClr val="dk1"/>
              </a:solidFill>
            </a:endParaRPr>
          </a:p>
          <a:p>
            <a:pPr indent="0" lvl="0" marL="0" rtl="0" algn="l">
              <a:spcBef>
                <a:spcPts val="0"/>
              </a:spcBef>
              <a:spcAft>
                <a:spcPts val="0"/>
              </a:spcAft>
              <a:buNone/>
            </a:pPr>
            <a:r>
              <a:t/>
            </a:r>
            <a:endParaRPr b="1" sz="1100">
              <a:solidFill>
                <a:schemeClr val="dk1"/>
              </a:solidFill>
            </a:endParaRPr>
          </a:p>
          <a:p>
            <a:pPr indent="0" lvl="0" marL="0" rtl="0" algn="l">
              <a:spcBef>
                <a:spcPts val="0"/>
              </a:spcBef>
              <a:spcAft>
                <a:spcPts val="0"/>
              </a:spcAft>
              <a:buNone/>
            </a:pPr>
            <a:r>
              <a:rPr b="1" lang="en" sz="1100">
                <a:solidFill>
                  <a:schemeClr val="dk1"/>
                </a:solidFill>
              </a:rPr>
              <a:t>Precision: 0.98 (98%)</a:t>
            </a:r>
            <a:r>
              <a:rPr lang="en" sz="1100">
                <a:solidFill>
                  <a:schemeClr val="dk1"/>
                </a:solidFill>
              </a:rPr>
              <a:t> — When the model says a heartbeat is "Normal", we can trust it almost perfectly. It only says "Normal" when it is absolutely sure.</a:t>
            </a:r>
            <a:endParaRPr sz="1100">
              <a:solidFill>
                <a:schemeClr val="dk1"/>
              </a:solidFill>
            </a:endParaRPr>
          </a:p>
          <a:p>
            <a:pPr indent="0" lvl="0" marL="0" rtl="0" algn="l">
              <a:spcBef>
                <a:spcPts val="0"/>
              </a:spcBef>
              <a:spcAft>
                <a:spcPts val="0"/>
              </a:spcAft>
              <a:buNone/>
            </a:pPr>
            <a:r>
              <a:rPr b="1" lang="en" sz="1100">
                <a:solidFill>
                  <a:schemeClr val="dk1"/>
                </a:solidFill>
              </a:rPr>
              <a:t>Recall: 0.59 (59%)</a:t>
            </a:r>
            <a:r>
              <a:rPr lang="en" sz="1100">
                <a:solidFill>
                  <a:schemeClr val="dk1"/>
                </a:solidFill>
              </a:rPr>
              <a:t> — Out of all 4,050 perfectly normal heartbeats, the model only confidently labeled 59% of them as Normal. What happened to the other 41%? The model got scared by them and threw them into the "Anomaly" bucket (which caused the massive amount of false alarms we saw in Anomalies).</a:t>
            </a:r>
            <a:endParaRPr sz="110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id="347" name="Google Shape;347;p61"/>
          <p:cNvPicPr preferRelativeResize="0"/>
          <p:nvPr/>
        </p:nvPicPr>
        <p:blipFill>
          <a:blip r:embed="rId3">
            <a:alphaModFix/>
          </a:blip>
          <a:stretch>
            <a:fillRect/>
          </a:stretch>
        </p:blipFill>
        <p:spPr>
          <a:xfrm>
            <a:off x="427650" y="278250"/>
            <a:ext cx="5486400" cy="4667250"/>
          </a:xfrm>
          <a:prstGeom prst="rect">
            <a:avLst/>
          </a:prstGeom>
          <a:noFill/>
          <a:ln>
            <a:noFill/>
          </a:ln>
        </p:spPr>
      </p:pic>
      <p:sp>
        <p:nvSpPr>
          <p:cNvPr id="348" name="Google Shape;348;p61"/>
          <p:cNvSpPr txBox="1"/>
          <p:nvPr/>
        </p:nvSpPr>
        <p:spPr>
          <a:xfrm>
            <a:off x="6252425" y="574125"/>
            <a:ext cx="2595300" cy="399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More misclassifications of True Normal as anomaly in order to not miss true anomalies</a:t>
            </a:r>
            <a:endParaRPr sz="1800">
              <a:solidFill>
                <a:schemeClr val="dk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62"/>
          <p:cNvPicPr preferRelativeResize="0"/>
          <p:nvPr/>
        </p:nvPicPr>
        <p:blipFill>
          <a:blip r:embed="rId3">
            <a:alphaModFix/>
          </a:blip>
          <a:stretch>
            <a:fillRect/>
          </a:stretch>
        </p:blipFill>
        <p:spPr>
          <a:xfrm>
            <a:off x="372600" y="1770596"/>
            <a:ext cx="8839203" cy="2315171"/>
          </a:xfrm>
          <a:prstGeom prst="rect">
            <a:avLst/>
          </a:prstGeom>
          <a:noFill/>
          <a:ln>
            <a:noFill/>
          </a:ln>
        </p:spPr>
      </p:pic>
      <p:sp>
        <p:nvSpPr>
          <p:cNvPr id="354" name="Google Shape;354;p62"/>
          <p:cNvSpPr txBox="1"/>
          <p:nvPr/>
        </p:nvSpPr>
        <p:spPr>
          <a:xfrm>
            <a:off x="424700" y="534800"/>
            <a:ext cx="453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True Positive - Anomalous ECG</a:t>
            </a:r>
            <a:endParaRPr sz="1800">
              <a:solidFill>
                <a:schemeClr val="dk2"/>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63"/>
          <p:cNvPicPr preferRelativeResize="0"/>
          <p:nvPr/>
        </p:nvPicPr>
        <p:blipFill>
          <a:blip r:embed="rId3">
            <a:alphaModFix/>
          </a:blip>
          <a:stretch>
            <a:fillRect/>
          </a:stretch>
        </p:blipFill>
        <p:spPr>
          <a:xfrm>
            <a:off x="152400" y="1414163"/>
            <a:ext cx="8839203" cy="2315171"/>
          </a:xfrm>
          <a:prstGeom prst="rect">
            <a:avLst/>
          </a:prstGeom>
          <a:noFill/>
          <a:ln>
            <a:noFill/>
          </a:ln>
        </p:spPr>
      </p:pic>
      <p:sp>
        <p:nvSpPr>
          <p:cNvPr id="360" name="Google Shape;360;p63"/>
          <p:cNvSpPr txBox="1"/>
          <p:nvPr/>
        </p:nvSpPr>
        <p:spPr>
          <a:xfrm>
            <a:off x="424700" y="534800"/>
            <a:ext cx="453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True Negative - Normal ECG</a:t>
            </a:r>
            <a:endParaRPr sz="1800">
              <a:solidFill>
                <a:schemeClr val="dk2"/>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id="365" name="Google Shape;365;p64"/>
          <p:cNvPicPr preferRelativeResize="0"/>
          <p:nvPr/>
        </p:nvPicPr>
        <p:blipFill>
          <a:blip r:embed="rId3">
            <a:alphaModFix/>
          </a:blip>
          <a:stretch>
            <a:fillRect/>
          </a:stretch>
        </p:blipFill>
        <p:spPr>
          <a:xfrm>
            <a:off x="183875" y="2110700"/>
            <a:ext cx="8839203" cy="2315171"/>
          </a:xfrm>
          <a:prstGeom prst="rect">
            <a:avLst/>
          </a:prstGeom>
          <a:noFill/>
          <a:ln>
            <a:noFill/>
          </a:ln>
        </p:spPr>
      </p:pic>
      <p:sp>
        <p:nvSpPr>
          <p:cNvPr id="366" name="Google Shape;366;p64"/>
          <p:cNvSpPr txBox="1"/>
          <p:nvPr/>
        </p:nvSpPr>
        <p:spPr>
          <a:xfrm>
            <a:off x="424700" y="534800"/>
            <a:ext cx="453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False Positive  - Falsely predicted as Anomaly - False Alarms</a:t>
            </a:r>
            <a:endParaRPr sz="1800">
              <a:solidFill>
                <a:schemeClr val="dk2"/>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65"/>
          <p:cNvPicPr preferRelativeResize="0"/>
          <p:nvPr/>
        </p:nvPicPr>
        <p:blipFill>
          <a:blip r:embed="rId3">
            <a:alphaModFix/>
          </a:blip>
          <a:stretch>
            <a:fillRect/>
          </a:stretch>
        </p:blipFill>
        <p:spPr>
          <a:xfrm>
            <a:off x="191725" y="2053696"/>
            <a:ext cx="8839203" cy="2315171"/>
          </a:xfrm>
          <a:prstGeom prst="rect">
            <a:avLst/>
          </a:prstGeom>
          <a:noFill/>
          <a:ln>
            <a:noFill/>
          </a:ln>
        </p:spPr>
      </p:pic>
      <p:sp>
        <p:nvSpPr>
          <p:cNvPr id="372" name="Google Shape;372;p65"/>
          <p:cNvSpPr txBox="1"/>
          <p:nvPr/>
        </p:nvSpPr>
        <p:spPr>
          <a:xfrm>
            <a:off x="246450" y="186825"/>
            <a:ext cx="453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False </a:t>
            </a:r>
            <a:r>
              <a:rPr b="1" lang="en" sz="1800">
                <a:solidFill>
                  <a:schemeClr val="dk2"/>
                </a:solidFill>
              </a:rPr>
              <a:t>Negative - Falsely predicted as normal  - Misses by model</a:t>
            </a:r>
            <a:endParaRPr b="1" sz="1800">
              <a:solidFill>
                <a:schemeClr val="dk2"/>
              </a:solidFill>
            </a:endParaRPr>
          </a:p>
        </p:txBody>
      </p:sp>
      <p:sp>
        <p:nvSpPr>
          <p:cNvPr id="373" name="Google Shape;373;p65"/>
          <p:cNvSpPr txBox="1"/>
          <p:nvPr/>
        </p:nvSpPr>
        <p:spPr>
          <a:xfrm>
            <a:off x="4970475" y="487600"/>
            <a:ext cx="3735600" cy="12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We want this to be minimized.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n" sz="1100">
                <a:solidFill>
                  <a:schemeClr val="dk1"/>
                </a:solidFill>
              </a:rPr>
              <a:t>False Alarm (False Positive):</a:t>
            </a:r>
            <a:r>
              <a:rPr lang="en" sz="1100">
                <a:solidFill>
                  <a:schemeClr val="dk1"/>
                </a:solidFill>
              </a:rPr>
              <a:t> Annoying, but safe.</a:t>
            </a:r>
            <a:endParaRPr sz="1100">
              <a:solidFill>
                <a:schemeClr val="dk1"/>
              </a:solidFill>
            </a:endParaRPr>
          </a:p>
          <a:p>
            <a:pPr indent="0" lvl="0" marL="0" rtl="0" algn="l">
              <a:spcBef>
                <a:spcPts val="0"/>
              </a:spcBef>
              <a:spcAft>
                <a:spcPts val="0"/>
              </a:spcAft>
              <a:buNone/>
            </a:pPr>
            <a:r>
              <a:rPr b="1" lang="en" sz="1100">
                <a:solidFill>
                  <a:schemeClr val="dk1"/>
                </a:solidFill>
              </a:rPr>
              <a:t>Missed Anomaly (False Negative):</a:t>
            </a:r>
            <a:r>
              <a:rPr lang="en" sz="1100">
                <a:solidFill>
                  <a:schemeClr val="dk1"/>
                </a:solidFill>
              </a:rPr>
              <a:t> The rocket explodes, or the patient dies.</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id="378" name="Google Shape;378;p66"/>
          <p:cNvPicPr preferRelativeResize="0"/>
          <p:nvPr/>
        </p:nvPicPr>
        <p:blipFill>
          <a:blip r:embed="rId3">
            <a:alphaModFix/>
          </a:blip>
          <a:stretch>
            <a:fillRect/>
          </a:stretch>
        </p:blipFill>
        <p:spPr>
          <a:xfrm>
            <a:off x="191725" y="223175"/>
            <a:ext cx="8839201" cy="2480064"/>
          </a:xfrm>
          <a:prstGeom prst="rect">
            <a:avLst/>
          </a:prstGeom>
          <a:noFill/>
          <a:ln>
            <a:noFill/>
          </a:ln>
        </p:spPr>
      </p:pic>
      <p:sp>
        <p:nvSpPr>
          <p:cNvPr id="379" name="Google Shape;379;p66"/>
          <p:cNvSpPr txBox="1"/>
          <p:nvPr/>
        </p:nvSpPr>
        <p:spPr>
          <a:xfrm>
            <a:off x="191725" y="3068225"/>
            <a:ext cx="88392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800">
                <a:solidFill>
                  <a:srgbClr val="A61C00"/>
                </a:solidFill>
              </a:rPr>
              <a:t>If you look at the left graph, you can see our model perfectly separated the normal data from our fake, synthetic anomalies. However, the right graph is the real test. Even though the model was never trained on real disease data, it still successfully pushed the vast majority of real arrhythmias to the right side of the graph, proving our synthetic training method actually works for real-world anomalies!</a:t>
            </a:r>
            <a:endParaRPr b="1" i="1" sz="1800">
              <a:solidFill>
                <a:srgbClr val="A61C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grpSp>
        <p:nvGrpSpPr>
          <p:cNvPr id="384" name="Google Shape;384;p67"/>
          <p:cNvGrpSpPr/>
          <p:nvPr/>
        </p:nvGrpSpPr>
        <p:grpSpPr>
          <a:xfrm>
            <a:off x="480924" y="-57162"/>
            <a:ext cx="4020300" cy="3096600"/>
            <a:chOff x="551699" y="-418937"/>
            <a:chExt cx="4020300" cy="3096600"/>
          </a:xfrm>
        </p:grpSpPr>
        <p:sp>
          <p:nvSpPr>
            <p:cNvPr id="385" name="Google Shape;385;p67"/>
            <p:cNvSpPr/>
            <p:nvPr/>
          </p:nvSpPr>
          <p:spPr>
            <a:xfrm rot="-2700000">
              <a:off x="1178107" y="323473"/>
              <a:ext cx="2767475" cy="1611779"/>
            </a:xfrm>
            <a:prstGeom prst="corner">
              <a:avLst>
                <a:gd fmla="val 28578" name="adj1"/>
                <a:gd fmla="val 26803" name="adj2"/>
              </a:avLst>
            </a:prstGeom>
            <a:gradFill>
              <a:gsLst>
                <a:gs pos="0">
                  <a:srgbClr val="FFFFFF">
                    <a:alpha val="0"/>
                  </a:srgbClr>
                </a:gs>
                <a:gs pos="82000">
                  <a:srgbClr val="C2FF28">
                    <a:alpha val="40000"/>
                  </a:srgbClr>
                </a:gs>
                <a:gs pos="100000">
                  <a:srgbClr val="9CFF28">
                    <a:alpha val="65098"/>
                  </a:srgb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loock"/>
                <a:ea typeface="Gloock"/>
                <a:cs typeface="Gloock"/>
                <a:sym typeface="Gloock"/>
              </a:endParaRPr>
            </a:p>
          </p:txBody>
        </p:sp>
        <p:sp>
          <p:nvSpPr>
            <p:cNvPr id="386" name="Google Shape;386;p67"/>
            <p:cNvSpPr txBox="1"/>
            <p:nvPr/>
          </p:nvSpPr>
          <p:spPr>
            <a:xfrm>
              <a:off x="551699" y="857023"/>
              <a:ext cx="4020300" cy="1258800"/>
            </a:xfrm>
            <a:prstGeom prst="rect">
              <a:avLst/>
            </a:prstGeom>
            <a:noFill/>
            <a:ln>
              <a:noFill/>
            </a:ln>
          </p:spPr>
          <p:txBody>
            <a:bodyPr anchorCtr="0" anchor="b" bIns="0" lIns="0" spcFirstLastPara="1" rIns="0" wrap="square" tIns="0">
              <a:normAutofit/>
            </a:bodyPr>
            <a:lstStyle/>
            <a:p>
              <a:pPr indent="0" lvl="0" marL="0" rtl="0" algn="ctr">
                <a:spcBef>
                  <a:spcPts val="0"/>
                </a:spcBef>
                <a:spcAft>
                  <a:spcPts val="0"/>
                </a:spcAft>
                <a:buNone/>
              </a:pPr>
              <a:r>
                <a:rPr lang="en" sz="7200">
                  <a:solidFill>
                    <a:srgbClr val="1C8DFF"/>
                  </a:solidFill>
                  <a:latin typeface="Gloock"/>
                  <a:ea typeface="Gloock"/>
                  <a:cs typeface="Gloock"/>
                  <a:sym typeface="Gloock"/>
                </a:rPr>
                <a:t>That’s </a:t>
              </a:r>
              <a:r>
                <a:rPr lang="en" sz="6400">
                  <a:solidFill>
                    <a:srgbClr val="1C8DFF"/>
                  </a:solidFill>
                  <a:latin typeface="Dela Gothic One"/>
                  <a:ea typeface="Dela Gothic One"/>
                  <a:cs typeface="Dela Gothic One"/>
                  <a:sym typeface="Dela Gothic One"/>
                </a:rPr>
                <a:t>it</a:t>
              </a:r>
              <a:r>
                <a:rPr lang="en" sz="8000">
                  <a:solidFill>
                    <a:srgbClr val="1C8DFF"/>
                  </a:solidFill>
                  <a:latin typeface="Gloock"/>
                  <a:ea typeface="Gloock"/>
                  <a:cs typeface="Gloock"/>
                  <a:sym typeface="Gloock"/>
                </a:rPr>
                <a:t>!</a:t>
              </a:r>
              <a:endParaRPr sz="8000">
                <a:solidFill>
                  <a:srgbClr val="1C8DFF"/>
                </a:solidFill>
                <a:latin typeface="Gloock"/>
                <a:ea typeface="Gloock"/>
                <a:cs typeface="Gloock"/>
                <a:sym typeface="Gloock"/>
              </a:endParaRPr>
            </a:p>
          </p:txBody>
        </p:sp>
      </p:grpSp>
      <p:grpSp>
        <p:nvGrpSpPr>
          <p:cNvPr id="387" name="Google Shape;387;p67"/>
          <p:cNvGrpSpPr/>
          <p:nvPr/>
        </p:nvGrpSpPr>
        <p:grpSpPr>
          <a:xfrm>
            <a:off x="4857517" y="2402419"/>
            <a:ext cx="4286479" cy="2551455"/>
            <a:chOff x="2428842" y="1251219"/>
            <a:chExt cx="4286479" cy="2551455"/>
          </a:xfrm>
        </p:grpSpPr>
        <p:sp>
          <p:nvSpPr>
            <p:cNvPr id="388" name="Google Shape;388;p67"/>
            <p:cNvSpPr/>
            <p:nvPr/>
          </p:nvSpPr>
          <p:spPr>
            <a:xfrm>
              <a:off x="2904506" y="1704474"/>
              <a:ext cx="3051000" cy="2098200"/>
            </a:xfrm>
            <a:prstGeom prst="roundRect">
              <a:avLst>
                <a:gd fmla="val 0"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ton"/>
                <a:ea typeface="Anton"/>
                <a:cs typeface="Anton"/>
                <a:sym typeface="Anton"/>
              </a:endParaRPr>
            </a:p>
          </p:txBody>
        </p:sp>
        <p:sp>
          <p:nvSpPr>
            <p:cNvPr id="389" name="Google Shape;389;p67"/>
            <p:cNvSpPr/>
            <p:nvPr/>
          </p:nvSpPr>
          <p:spPr>
            <a:xfrm rot="5400000">
              <a:off x="2590718" y="3001600"/>
              <a:ext cx="484884" cy="808636"/>
            </a:xfrm>
            <a:custGeom>
              <a:rect b="b" l="l" r="r" t="t"/>
              <a:pathLst>
                <a:path extrusionOk="0" h="34257" w="21933">
                  <a:moveTo>
                    <a:pt x="0" y="11698"/>
                  </a:moveTo>
                  <a:lnTo>
                    <a:pt x="21933" y="34257"/>
                  </a:lnTo>
                  <a:lnTo>
                    <a:pt x="21933" y="0"/>
                  </a:lnTo>
                  <a:close/>
                </a:path>
              </a:pathLst>
            </a:custGeom>
            <a:solidFill>
              <a:srgbClr val="B6D7A8"/>
            </a:solidFill>
            <a:ln>
              <a:noFill/>
            </a:ln>
          </p:spPr>
        </p:sp>
        <p:sp>
          <p:nvSpPr>
            <p:cNvPr id="390" name="Google Shape;390;p67"/>
            <p:cNvSpPr/>
            <p:nvPr/>
          </p:nvSpPr>
          <p:spPr>
            <a:xfrm>
              <a:off x="3117364" y="1251219"/>
              <a:ext cx="3038100" cy="2098200"/>
            </a:xfrm>
            <a:prstGeom prst="roundRect">
              <a:avLst>
                <a:gd fmla="val 0" name="adj"/>
              </a:avLst>
            </a:prstGeom>
            <a:solidFill>
              <a:srgbClr val="B0F29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ton"/>
                <a:ea typeface="Anton"/>
                <a:cs typeface="Anton"/>
                <a:sym typeface="Anton"/>
              </a:endParaRPr>
            </a:p>
          </p:txBody>
        </p:sp>
        <p:sp>
          <p:nvSpPr>
            <p:cNvPr id="391" name="Google Shape;391;p67"/>
            <p:cNvSpPr/>
            <p:nvPr/>
          </p:nvSpPr>
          <p:spPr>
            <a:xfrm rot="-5400000">
              <a:off x="6115004" y="1606589"/>
              <a:ext cx="391998" cy="808636"/>
            </a:xfrm>
            <a:custGeom>
              <a:rect b="b" l="l" r="r" t="t"/>
              <a:pathLst>
                <a:path extrusionOk="0" h="34257" w="21933">
                  <a:moveTo>
                    <a:pt x="0" y="11698"/>
                  </a:moveTo>
                  <a:lnTo>
                    <a:pt x="21933" y="34257"/>
                  </a:lnTo>
                  <a:lnTo>
                    <a:pt x="21933" y="0"/>
                  </a:lnTo>
                  <a:close/>
                </a:path>
              </a:pathLst>
            </a:custGeom>
            <a:solidFill>
              <a:srgbClr val="B0F298"/>
            </a:solidFill>
            <a:ln>
              <a:noFill/>
            </a:ln>
          </p:spPr>
        </p:sp>
        <p:sp>
          <p:nvSpPr>
            <p:cNvPr id="392" name="Google Shape;392;p67"/>
            <p:cNvSpPr/>
            <p:nvPr/>
          </p:nvSpPr>
          <p:spPr>
            <a:xfrm>
              <a:off x="3164539" y="1704474"/>
              <a:ext cx="2790900" cy="1920000"/>
            </a:xfrm>
            <a:prstGeom prst="rect">
              <a:avLst/>
            </a:prstGeom>
            <a:solidFill>
              <a:srgbClr val="0046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ton"/>
                <a:ea typeface="Anton"/>
                <a:cs typeface="Anton"/>
                <a:sym typeface="Anton"/>
              </a:endParaRPr>
            </a:p>
          </p:txBody>
        </p:sp>
        <p:sp>
          <p:nvSpPr>
            <p:cNvPr id="393" name="Google Shape;393;p67"/>
            <p:cNvSpPr txBox="1"/>
            <p:nvPr/>
          </p:nvSpPr>
          <p:spPr>
            <a:xfrm>
              <a:off x="3308375" y="1757050"/>
              <a:ext cx="2547000" cy="1822500"/>
            </a:xfrm>
            <a:prstGeom prst="rect">
              <a:avLst/>
            </a:prstGeom>
            <a:noFill/>
            <a:ln>
              <a:noFill/>
            </a:ln>
          </p:spPr>
          <p:txBody>
            <a:bodyPr anchorCtr="0" anchor="t" bIns="0" lIns="0" spcFirstLastPara="1" rIns="0" wrap="square" tIns="91425">
              <a:normAutofit/>
            </a:bodyPr>
            <a:lstStyle/>
            <a:p>
              <a:pPr indent="0" lvl="0" marL="0" rtl="0" algn="l">
                <a:lnSpc>
                  <a:spcPct val="105000"/>
                </a:lnSpc>
                <a:spcBef>
                  <a:spcPts val="0"/>
                </a:spcBef>
                <a:spcAft>
                  <a:spcPts val="0"/>
                </a:spcAft>
                <a:buNone/>
              </a:pPr>
              <a:r>
                <a:rPr lang="en" sz="5500">
                  <a:solidFill>
                    <a:srgbClr val="F9DFEC"/>
                  </a:solidFill>
                  <a:latin typeface="Anton"/>
                  <a:ea typeface="Anton"/>
                  <a:cs typeface="Anton"/>
                  <a:sym typeface="Anton"/>
                </a:rPr>
                <a:t>THANK </a:t>
              </a:r>
              <a:r>
                <a:rPr lang="en" sz="5500" u="sng">
                  <a:solidFill>
                    <a:srgbClr val="F9DFEC"/>
                  </a:solidFill>
                  <a:latin typeface="Anton"/>
                  <a:ea typeface="Anton"/>
                  <a:cs typeface="Anton"/>
                  <a:sym typeface="Anton"/>
                </a:rPr>
                <a:t>YOU</a:t>
              </a:r>
              <a:endParaRPr sz="5500">
                <a:solidFill>
                  <a:srgbClr val="F9DFEC"/>
                </a:solidFill>
                <a:latin typeface="Anton"/>
                <a:ea typeface="Anton"/>
                <a:cs typeface="Anton"/>
                <a:sym typeface="Anton"/>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